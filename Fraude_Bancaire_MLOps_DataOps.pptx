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Lst>
  <p:sldSz cy="10287000" cx="18288000"/>
  <p:notesSz cx="10287000" cy="1828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slide" Target="slides/slide38.xml"/><Relationship Id="rId41" Type="http://schemas.openxmlformats.org/officeDocument/2006/relationships/slide" Target="slides/slide37.xml"/><Relationship Id="rId22" Type="http://schemas.openxmlformats.org/officeDocument/2006/relationships/slide" Target="slides/slide18.xml"/><Relationship Id="rId44" Type="http://schemas.openxmlformats.org/officeDocument/2006/relationships/slide" Target="slides/slide40.xml"/><Relationship Id="rId21" Type="http://schemas.openxmlformats.org/officeDocument/2006/relationships/slide" Target="slides/slide17.xml"/><Relationship Id="rId43" Type="http://schemas.openxmlformats.org/officeDocument/2006/relationships/slide" Target="slides/slide39.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 presenter, presenter le sujet et l'equipe.</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 name="Google Shape;3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Annoncer le plan en 8 points.</a:t>
            </a:r>
            <a:endParaRPr/>
          </a:p>
        </p:txBody>
      </p:sp>
      <p:sp>
        <p:nvSpPr>
          <p:cNvPr id="38" name="Google Shape;3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Chapitre 1. Insister sur le piege de l'accuracy.</a:t>
            </a:r>
            <a:endParaRPr/>
          </a:p>
        </p:txBody>
      </p:sp>
      <p:sp>
        <p:nvSpPr>
          <p:cNvPr id="62" name="Google Shape;6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Chapitre 1, section 2. Les 8 objectifs fixes.</a:t>
            </a:r>
            <a:endParaRPr/>
          </a:p>
        </p:txBody>
      </p:sp>
      <p:sp>
        <p:nvSpPr>
          <p:cNvPr id="90" name="Google Shape;9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Chapitre 2. Presenter le tableau des roles et la preuve visuelle.</a:t>
            </a:r>
            <a:endParaRPr/>
          </a:p>
        </p:txBody>
      </p:sp>
      <p:sp>
        <p:nvSpPr>
          <p:cNvPr id="114" name="Google Shape;11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Ma contribution — Hassan El Hadi. Ingestion dlt + qualite shift-left.</a:t>
            </a:r>
            <a:endParaRPr/>
          </a:p>
        </p:txBody>
      </p:sp>
      <p:sp>
        <p:nvSpPr>
          <p:cNvPr id="148" name="Google Shape;14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Chapitre 2 section 2. 3 sprints, 20 user stories.</a:t>
            </a:r>
            <a:endParaRPr/>
          </a:p>
        </p:txBody>
      </p:sp>
      <p:sp>
        <p:nvSpPr>
          <p:cNvPr id="164" name="Google Shape;16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Ma contribution — Anass Dabibe. Vision, cadrage Agile, lead technique.</a:t>
            </a:r>
            <a:endParaRPr/>
          </a:p>
        </p:txBody>
      </p:sp>
      <p:sp>
        <p:nvSpPr>
          <p:cNvPr id="191" name="Google Shape;19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Chapitre 3 section 1. Presenter la chaine de bout en bout.</a:t>
            </a:r>
            <a:endParaRPr/>
          </a:p>
        </p:txBody>
      </p:sp>
      <p:sp>
        <p:nvSpPr>
          <p:cNvPr id="205" name="Google Shape;20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Preuve d'execution ingestion.</a:t>
            </a:r>
            <a:endParaRPr/>
          </a:p>
        </p:txBody>
      </p:sp>
      <p:sp>
        <p:nvSpPr>
          <p:cNvPr id="221" name="Google Shape;22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Chapitre 5, tableau 4. Mapping des 10 livrables.</a:t>
            </a:r>
            <a:endParaRPr/>
          </a:p>
        </p:txBody>
      </p:sp>
      <p:sp>
        <p:nvSpPr>
          <p:cNvPr id="238" name="Google Shape;23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Ma contribution — Yassin Farih. dbt staging + role Scrum Master.</a:t>
            </a:r>
            <a:endParaRPr/>
          </a:p>
        </p:txBody>
      </p:sp>
      <p:sp>
        <p:nvSpPr>
          <p:cNvPr id="283" name="Google Shape;28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Versioning des données avec DVC : le dataset de 144 Mo n’est pas dans Git, seul le pointeur creditcard.csv.dvc l’est ; le contenu est dans le bucket MinIO dvc-store. Yassin Farih.</a:t>
            </a:r>
            <a:endParaRPr/>
          </a:p>
        </p:txBody>
      </p:sp>
      <p:sp>
        <p:nvSpPr>
          <p:cNvPr id="299" name="Google Shape;29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Preuve du versioning DVC sur MinIO : deux préfixes md5 dans le bucket dvc-store, le dataset d’origine (e90efcb8) et la version produite par le run de démonstration (9199c2c9).</a:t>
            </a:r>
            <a:endParaRPr/>
          </a:p>
        </p:txBody>
      </p:sp>
      <p:sp>
        <p:nvSpPr>
          <p:cNvPr id="322" name="Google Shape;32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Versions du dataset : chaque changement est un commit git sur le pointeur .dvc. Le rollback crée un nouveau commit (« Rollback dataset to 50bbdc9d ») : l’historique n’est jamais réécrit et rien n’est poussé vers GitHub ; il est refusé (HTTP 409) pendant qu’un job tourne. Yassin Farih pour DVC + MinIO. Écosystème : vérifications depuis le serveur de la plateforme (réseau Docker), les six services sont disponibles sur Komodo (4 à 7 ms). Limite : l’appel RestartStack de l’API Komodo n’a pas pu être testé hors Komodo. Rapport : Chapitre 6 §8, Figures 50, 51 et 53.</a:t>
            </a:r>
            <a:endParaRPr/>
          </a:p>
        </p:txBody>
      </p:sp>
      <p:sp>
        <p:nvSpPr>
          <p:cNvPr id="336" name="Google Shape;33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Run réel du 19/09/2026 sur Komodo : 3 000 lignes simulées en dérive strong, versioning DVC, job Dagster completed en environ 4 min 40 s. Le registre MLflow du conteneur étant vide, la version 1 (PR-AUC 0,7592) a été promue automatiquement : limite à corriger en initialisant le registre depuis l’instantané publié. La capture montre la nouvelle interface, consultée en lecture seule : les deux entrées du run (écrites par la version précédente de la plateforme), les six services disponibles et la dérive actuelle (PSI 0,003) après le nettoyage du serveur.</a:t>
            </a:r>
            <a:endParaRPr/>
          </a:p>
        </p:txBody>
      </p:sp>
      <p:sp>
        <p:nvSpPr>
          <p:cNvPr id="354" name="Google Shape;35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Orchestration Dagster.</a:t>
            </a:r>
            <a:endParaRPr/>
          </a:p>
        </p:txBody>
      </p:sp>
      <p:sp>
        <p:nvSpPr>
          <p:cNvPr id="371" name="Google Shape;371;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1" name="Google Shape;38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Ma contribution — Sifeddine Legnioui. Orchestration Dagster + conteneurisation + Komodo.</a:t>
            </a:r>
            <a:endParaRPr/>
          </a:p>
        </p:txBody>
      </p:sp>
      <p:sp>
        <p:nvSpPr>
          <p:cNvPr id="382" name="Google Shape;382;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7" name="Google Shape;39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Docker et GitHub Actions.</a:t>
            </a:r>
            <a:endParaRPr/>
          </a:p>
        </p:txBody>
      </p:sp>
      <p:sp>
        <p:nvSpPr>
          <p:cNvPr id="398" name="Google Shape;39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4" name="Google Shape;41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Déploiement Komodo, Prometheus, Grafana.</a:t>
            </a:r>
            <a:endParaRPr/>
          </a:p>
        </p:txBody>
      </p:sp>
      <p:sp>
        <p:nvSpPr>
          <p:cNvPr id="415" name="Google Shape;415;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 name="Google Shape;45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Dagster et platform-api partagent le volume dagster_home : les runs lancés depuis le tableau de bord apparaissent dans l’UI Dagster. Schedule nightly_pipeline_schedule à 02:00, sensor dataset_version_sensor sur le dataset. Le run continuous_training_job du 22 septembre (Success, 4 min 26 s) a enregistré une v1 fraîche en Staging — le registre est neuf, auto_promote reste désactivé. Le webhook GitHub historique déployait même quand la CI était rouge ; le job deploy attend désormais le job test, avec des retries sur les échecs réseau transitoires (quay.io) et un échec immédiat sur une vraie erreur. Rapport : Chapitre 3 §6, Chapitre 6 §9-§10, Figures 54-55-59.</a:t>
            </a:r>
            <a:endParaRPr/>
          </a:p>
        </p:txBody>
      </p:sp>
      <p:sp>
        <p:nvSpPr>
          <p:cNvPr id="453" name="Google Shape;453;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9" name="Google Shape;469;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Tests et lignage dbt.</a:t>
            </a:r>
            <a:endParaRPr/>
          </a:p>
        </p:txBody>
      </p:sp>
      <p:sp>
        <p:nvSpPr>
          <p:cNvPr id="470" name="Google Shape;470;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3" name="Google Shape;483;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Qualite shift-left.</a:t>
            </a:r>
            <a:endParaRPr/>
          </a:p>
        </p:txBody>
      </p:sp>
      <p:sp>
        <p:nvSpPr>
          <p:cNvPr id="484" name="Google Shape;484;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7" name="Google Shape;497;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Ma contribution — Aymane El Badry. Tests dbt + Data Contract + lignage.</a:t>
            </a:r>
            <a:endParaRPr/>
          </a:p>
        </p:txBody>
      </p:sp>
      <p:sp>
        <p:nvSpPr>
          <p:cNvPr id="498" name="Google Shape;498;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3" name="Google Shape;513;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Retour d’expérience : trois défauts découverts en exécutant la boucle complète sur les vraies données, un attrapé par un test, deux frictions d’infrastructure. Leçon : valider la boucle complète.</a:t>
            </a:r>
            <a:endParaRPr/>
          </a:p>
        </p:txBody>
      </p:sp>
      <p:sp>
        <p:nvSpPr>
          <p:cNvPr id="514" name="Google Shape;514;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8" name="Google Shape;528;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Chapitre 4, tableau 3. Coeur du projet.</a:t>
            </a:r>
            <a:endParaRPr/>
          </a:p>
        </p:txBody>
      </p:sp>
      <p:sp>
        <p:nvSpPr>
          <p:cNvPr id="529" name="Google Shape;529;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3" name="Google Shape;553;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Grille 2x2 courbes PR et matrices de confusion.</a:t>
            </a:r>
            <a:endParaRPr/>
          </a:p>
        </p:txBody>
      </p:sp>
      <p:sp>
        <p:nvSpPr>
          <p:cNvPr id="554" name="Google Shape;554;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Ma contribution — Youssef Sarraf. Preparation des donnees + entrainement ML.</a:t>
            </a:r>
            <a:endParaRPr/>
          </a:p>
        </p:txBody>
      </p:sp>
      <p:sp>
        <p:nvSpPr>
          <p:cNvPr id="575" name="Google Shape;575;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0" name="Google Shape;590;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Livrable 6, tracking et registry.</a:t>
            </a:r>
            <a:endParaRPr/>
          </a:p>
        </p:txBody>
      </p:sp>
      <p:sp>
        <p:nvSpPr>
          <p:cNvPr id="591" name="Google Shape;591;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5" name="Google Shape;605;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Porte de promotion : le candidat n’est promu automatiquement que s’il bat le PR-AUC du modèle en Production ; sinon Staging. Depuis la version 3, la promotion est manuelle par défaut (auto_promote = false) : le candidat reste en Staging et un utilisateur l’approuve ou le rejette dans l’interface, avec la comparaison des métriques. Vérifié sur les données réelles : un candidat plus faible a été refusé.</a:t>
            </a:r>
            <a:endParaRPr/>
          </a:p>
        </p:txBody>
      </p:sp>
      <p:sp>
        <p:nvSpPr>
          <p:cNvPr id="606" name="Google Shape;606;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8" name="Google Shape;618;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Service FastAPI.</a:t>
            </a:r>
            <a:endParaRPr/>
          </a:p>
        </p:txBody>
      </p:sp>
      <p:sp>
        <p:nvSpPr>
          <p:cNvPr id="619" name="Google Shape;619;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2" name="Google Shape;632;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Ma contribution — Assofi Nada. Evaluation + Registry + API + CI/CD + Monitoring. V4 : détection d’un serveur MLflow vivant (URI), métriques et alertes de dérive/pipeline (platform_api, monitoring/prometheus|grafana), déploiement Komodo désormais gardé par la CI avec retries (ci.yml, scripts/komodo_deploy.py).</a:t>
            </a:r>
            <a:endParaRPr/>
          </a:p>
        </p:txBody>
      </p:sp>
      <p:sp>
        <p:nvSpPr>
          <p:cNvPr id="633" name="Google Shape;633;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8" name="Google Shape;648;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Supervision sur Komodo : tableau de bord Grafana provisionné (API up, taux de requêtes, latence p95, erreurs 5xx) et cible Prometheus fraud-api UP. Captures du 19/09/2026.</a:t>
            </a:r>
            <a:endParaRPr/>
          </a:p>
        </p:txBody>
      </p:sp>
      <p:sp>
        <p:nvSpPr>
          <p:cNvPr id="649" name="Google Shape;649;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7" name="Google Shape;667;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Derive et tests automatises, nuance honnete.</a:t>
            </a:r>
            <a:endParaRPr/>
          </a:p>
        </p:txBody>
      </p:sp>
      <p:sp>
        <p:nvSpPr>
          <p:cNvPr id="668" name="Google Shape;668;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5" name="Google Shape;685;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Jusqu’à la v3, MLflow servait un instantané SQLite republié à chaque ré-entraînement. Le serveur 2.22.5 tourne désormais avec un backend PostgreSQL et des artefacts MinIO ; register_model.py décide du mode « serveur vivant » depuis le schéma de l’URI (http/https), pas depuis la présence de la variable d’environnement — un bug qui a cassé la CI une fois, corrigé au commit afad609. Le registre démarre neuf : le premier ré-entraînement laisse le candidat en Staging (Figure 56), en attente d’approbation. Sept règles Prometheus couvrent la dérive, le pipeline et la disponibilité ; pas d’Alertmanager, tout se consulte dans Prometheus et Grafana (Figure 57). Rapport : Chapitre 3 §6, Chapitre 6 §9, Chapitre 8.</a:t>
            </a:r>
            <a:endParaRPr/>
          </a:p>
        </p:txBody>
      </p:sp>
      <p:sp>
        <p:nvSpPr>
          <p:cNvPr id="686" name="Google Shape;686;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3" name="Google Shape;703;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Interface d’opérations (platform_ui/, Assofi Nada). Connexion : jeton HMAC de 8 h vérifié côté API sur chaque route. Table paginée côté serveur ; une correction est mise en attente puis enregistrée en lot : dvc add + dvc push + commit du bot avec l’utilisateur en mention. Capture sur une instance locale de démonstration (clone jetable, remote DVC local) : les pages Komodo ont été consultées en lecture seule. Rapport : Chapitre 3 §5, Figures 39 à 44.</a:t>
            </a:r>
            <a:endParaRPr/>
          </a:p>
        </p:txBody>
      </p:sp>
      <p:sp>
        <p:nvSpPr>
          <p:cNvPr id="704" name="Google Shape;704;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0" name="Google Shape;720;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Pipeline : une simulation de 3 000 lignes à dérive forte dépasse le seuil de 100, déclenche le versionnement puis le job Dagster ; la page affiche les sept étapes (ingestion, validation, transformation, tests, entraînement, contrôle de dérive, registry), job terminé en environ 3 min 30 s sur la machine de développement. Le candidat v3 est moins bon (PR-AUC 0,6771 contre 0,8444) : comme auto_promote est faux par défaut, il attend une décision humaine ; il a été rejeté. Dérive : PSI 0,489 ≥ 0,25, bandeau rouge ; sur Komodo la même page est stable (PSI 0,003). Rapport : Chapitre 6 §8, Figures 45 à 49.</a:t>
            </a:r>
            <a:endParaRPr/>
          </a:p>
        </p:txBody>
      </p:sp>
      <p:sp>
        <p:nvSpPr>
          <p:cNvPr id="721" name="Google Shape;721;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8" name="Google Shape;738;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Chapitre 3 section 2, tableau 2.</a:t>
            </a:r>
            <a:endParaRPr/>
          </a:p>
        </p:txBody>
      </p:sp>
      <p:sp>
        <p:nvSpPr>
          <p:cNvPr id="739" name="Google Shape;739;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8" name="Google Shape;798;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Ma contribution — Adnane Dahbi. dbt marts &amp; features.</a:t>
            </a:r>
            <a:endParaRPr/>
          </a:p>
        </p:txBody>
      </p:sp>
      <p:sp>
        <p:nvSpPr>
          <p:cNvPr id="799" name="Google Shape;799;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4" name="Google Shape;814;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Retour d'experience, limites, perspectives, merci.</a:t>
            </a:r>
            <a:endParaRPr/>
          </a:p>
        </p:txBody>
      </p:sp>
      <p:sp>
        <p:nvSpPr>
          <p:cNvPr id="815" name="Google Shape;815;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9.jpg"/><Relationship Id="rId4" Type="http://schemas.openxmlformats.org/officeDocument/2006/relationships/image" Target="../media/image6.jpg"/><Relationship Id="rId5"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3.png"/><Relationship Id="rId4" Type="http://schemas.openxmlformats.org/officeDocument/2006/relationships/image" Target="../media/image26.png"/><Relationship Id="rId5"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2.pn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40.png"/><Relationship Id="rId6"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0.png"/><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41.png"/><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1.png"/><Relationship Id="rId4" Type="http://schemas.openxmlformats.org/officeDocument/2006/relationships/image" Target="../media/image4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8.png"/><Relationship Id="rId4" Type="http://schemas.openxmlformats.org/officeDocument/2006/relationships/image" Target="../media/image45.png"/><Relationship Id="rId5" Type="http://schemas.openxmlformats.org/officeDocument/2006/relationships/image" Target="../media/image4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5.png"/><Relationship Id="rId4"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44.png"/><Relationship Id="rId4" Type="http://schemas.openxmlformats.org/officeDocument/2006/relationships/image" Target="../media/image37.png"/><Relationship Id="rId5" Type="http://schemas.openxmlformats.org/officeDocument/2006/relationships/image" Target="../media/image4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3"/>
          <p:cNvSpPr/>
          <p:nvPr/>
        </p:nvSpPr>
        <p:spPr>
          <a:xfrm>
            <a:off x="1047750" y="666750"/>
            <a:ext cx="2028527" cy="876300"/>
          </a:xfrm>
          <a:prstGeom prst="roundRect">
            <a:avLst>
              <a:gd fmla="val 15217"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7" name="Google Shape;17;p3"/>
          <p:cNvPicPr preferRelativeResize="0"/>
          <p:nvPr/>
        </p:nvPicPr>
        <p:blipFill rotWithShape="1">
          <a:blip r:embed="rId3">
            <a:alphaModFix/>
          </a:blip>
          <a:srcRect b="0" l="0" r="0" t="0"/>
          <a:stretch/>
        </p:blipFill>
        <p:spPr>
          <a:xfrm>
            <a:off x="1257300" y="800100"/>
            <a:ext cx="1609427" cy="609600"/>
          </a:xfrm>
          <a:prstGeom prst="rect">
            <a:avLst/>
          </a:prstGeom>
          <a:noFill/>
          <a:ln>
            <a:noFill/>
          </a:ln>
        </p:spPr>
      </p:pic>
      <p:sp>
        <p:nvSpPr>
          <p:cNvPr id="18" name="Google Shape;18;p3"/>
          <p:cNvSpPr/>
          <p:nvPr/>
        </p:nvSpPr>
        <p:spPr>
          <a:xfrm>
            <a:off x="14248877" y="583100"/>
            <a:ext cx="1515000" cy="876300"/>
          </a:xfrm>
          <a:prstGeom prst="roundRect">
            <a:avLst>
              <a:gd fmla="val 15217"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9" name="Google Shape;19;p3"/>
          <p:cNvPicPr preferRelativeResize="0"/>
          <p:nvPr/>
        </p:nvPicPr>
        <p:blipFill rotWithShape="1">
          <a:blip r:embed="rId4">
            <a:alphaModFix/>
          </a:blip>
          <a:srcRect b="0" l="0" r="0" t="0"/>
          <a:stretch/>
        </p:blipFill>
        <p:spPr>
          <a:xfrm>
            <a:off x="14458427" y="716450"/>
            <a:ext cx="1095970" cy="609600"/>
          </a:xfrm>
          <a:prstGeom prst="rect">
            <a:avLst/>
          </a:prstGeom>
          <a:noFill/>
          <a:ln>
            <a:noFill/>
          </a:ln>
        </p:spPr>
      </p:pic>
      <p:sp>
        <p:nvSpPr>
          <p:cNvPr id="20" name="Google Shape;20;p3"/>
          <p:cNvSpPr/>
          <p:nvPr/>
        </p:nvSpPr>
        <p:spPr>
          <a:xfrm>
            <a:off x="1047750" y="3085654"/>
            <a:ext cx="15716250"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1950"/>
              <a:buFont typeface="Courier New"/>
              <a:buNone/>
            </a:pPr>
            <a:r>
              <a:rPr b="1" lang="en-US" sz="1950">
                <a:solidFill>
                  <a:srgbClr val="0B7A6F"/>
                </a:solidFill>
                <a:latin typeface="Courier New"/>
                <a:ea typeface="Courier New"/>
                <a:cs typeface="Courier New"/>
                <a:sym typeface="Courier New"/>
              </a:rPr>
              <a:t>MLOPS &amp; DATAOPS — </a:t>
            </a:r>
            <a:r>
              <a:rPr b="1" lang="en-US" sz="1950">
                <a:solidFill>
                  <a:srgbClr val="0B7A6F"/>
                </a:solidFill>
                <a:latin typeface="Courier New"/>
                <a:ea typeface="Courier New"/>
                <a:cs typeface="Courier New"/>
                <a:sym typeface="Courier New"/>
              </a:rPr>
              <a:t>PROJET </a:t>
            </a:r>
            <a:r>
              <a:rPr b="1" lang="en-US" sz="1950">
                <a:solidFill>
                  <a:srgbClr val="0B7A6F"/>
                </a:solidFill>
                <a:latin typeface="Courier New"/>
                <a:ea typeface="Courier New"/>
                <a:cs typeface="Courier New"/>
                <a:sym typeface="Courier New"/>
              </a:rPr>
              <a:t>(FINANCE)</a:t>
            </a:r>
            <a:endParaRPr sz="1950">
              <a:solidFill>
                <a:schemeClr val="dk1"/>
              </a:solidFill>
              <a:latin typeface="Calibri"/>
              <a:ea typeface="Calibri"/>
              <a:cs typeface="Calibri"/>
              <a:sym typeface="Calibri"/>
            </a:endParaRPr>
          </a:p>
        </p:txBody>
      </p:sp>
      <p:sp>
        <p:nvSpPr>
          <p:cNvPr id="21" name="Google Shape;21;p3"/>
          <p:cNvSpPr/>
          <p:nvPr/>
        </p:nvSpPr>
        <p:spPr>
          <a:xfrm>
            <a:off x="1047750" y="3628579"/>
            <a:ext cx="14716125" cy="1572518"/>
          </a:xfrm>
          <a:prstGeom prst="rect">
            <a:avLst/>
          </a:prstGeom>
          <a:noFill/>
          <a:ln>
            <a:noFill/>
          </a:ln>
        </p:spPr>
        <p:txBody>
          <a:bodyPr anchorCtr="0" anchor="t" bIns="25400" lIns="25400" spcFirstLastPara="1" rIns="25400" wrap="square" tIns="25400">
            <a:noAutofit/>
          </a:bodyPr>
          <a:lstStyle/>
          <a:p>
            <a:pPr indent="0" lvl="0" marL="0" marR="0" rtl="0" algn="l">
              <a:lnSpc>
                <a:spcPct val="92598"/>
              </a:lnSpc>
              <a:spcBef>
                <a:spcPts val="0"/>
              </a:spcBef>
              <a:spcAft>
                <a:spcPts val="0"/>
              </a:spcAft>
              <a:buClr>
                <a:srgbClr val="16212B"/>
              </a:buClr>
              <a:buSzPts val="5700"/>
              <a:buFont typeface="Arial"/>
              <a:buNone/>
            </a:pPr>
            <a:r>
              <a:rPr b="1" lang="en-US" sz="5700">
                <a:solidFill>
                  <a:srgbClr val="16212B"/>
                </a:solidFill>
                <a:latin typeface="Arial"/>
                <a:ea typeface="Arial"/>
                <a:cs typeface="Arial"/>
                <a:sym typeface="Arial"/>
              </a:rPr>
              <a:t>Détection de fraude bancaire par </a:t>
            </a:r>
            <a:r>
              <a:rPr b="1" lang="en-US" sz="5700">
                <a:solidFill>
                  <a:srgbClr val="0B7A6F"/>
                </a:solidFill>
                <a:latin typeface="Arial"/>
                <a:ea typeface="Arial"/>
                <a:cs typeface="Arial"/>
                <a:sym typeface="Arial"/>
              </a:rPr>
              <a:t>Machine Learning</a:t>
            </a:r>
            <a:endParaRPr sz="5700">
              <a:solidFill>
                <a:schemeClr val="dk1"/>
              </a:solidFill>
              <a:latin typeface="Calibri"/>
              <a:ea typeface="Calibri"/>
              <a:cs typeface="Calibri"/>
              <a:sym typeface="Calibri"/>
            </a:endParaRPr>
          </a:p>
        </p:txBody>
      </p:sp>
      <p:sp>
        <p:nvSpPr>
          <p:cNvPr id="22" name="Google Shape;22;p3"/>
          <p:cNvSpPr/>
          <p:nvPr/>
        </p:nvSpPr>
        <p:spPr>
          <a:xfrm>
            <a:off x="1047750" y="5410646"/>
            <a:ext cx="15716250" cy="466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5B6B80"/>
              </a:buClr>
              <a:buSzPts val="3000"/>
              <a:buFont typeface="Arial"/>
              <a:buNone/>
            </a:pPr>
            <a:r>
              <a:rPr lang="en-US" sz="3000">
                <a:solidFill>
                  <a:srgbClr val="5B6B80"/>
                </a:solidFill>
                <a:latin typeface="Arial"/>
                <a:ea typeface="Arial"/>
                <a:cs typeface="Arial"/>
                <a:sym typeface="Arial"/>
              </a:rPr>
              <a:t>Pipeline MLOps/DataOps de bout en bout — Livrable 7, Rapport final</a:t>
            </a:r>
            <a:endParaRPr sz="3000">
              <a:solidFill>
                <a:schemeClr val="dk1"/>
              </a:solidFill>
              <a:latin typeface="Calibri"/>
              <a:ea typeface="Calibri"/>
              <a:cs typeface="Calibri"/>
              <a:sym typeface="Calibri"/>
            </a:endParaRPr>
          </a:p>
        </p:txBody>
      </p:sp>
      <p:sp>
        <p:nvSpPr>
          <p:cNvPr id="23" name="Google Shape;23;p3"/>
          <p:cNvSpPr/>
          <p:nvPr/>
        </p:nvSpPr>
        <p:spPr>
          <a:xfrm>
            <a:off x="1047750" y="6163121"/>
            <a:ext cx="5585981"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1950"/>
              <a:buFont typeface="Arial"/>
              <a:buNone/>
            </a:pPr>
            <a:r>
              <a:rPr b="1" lang="en-US" sz="1950">
                <a:solidFill>
                  <a:srgbClr val="16212B"/>
                </a:solidFill>
                <a:latin typeface="Arial"/>
                <a:ea typeface="Arial"/>
                <a:cs typeface="Arial"/>
                <a:sym typeface="Arial"/>
              </a:rPr>
              <a:t>Module — </a:t>
            </a:r>
            <a:r>
              <a:rPr lang="en-US" sz="1950">
                <a:solidFill>
                  <a:srgbClr val="5B6B80"/>
                </a:solidFill>
                <a:latin typeface="Arial"/>
                <a:ea typeface="Arial"/>
                <a:cs typeface="Arial"/>
                <a:sym typeface="Arial"/>
              </a:rPr>
              <a:t>MLOps &amp; DataOps, Master 1 SDIA</a:t>
            </a:r>
            <a:endParaRPr sz="1950">
              <a:solidFill>
                <a:schemeClr val="dk1"/>
              </a:solidFill>
              <a:latin typeface="Calibri"/>
              <a:ea typeface="Calibri"/>
              <a:cs typeface="Calibri"/>
              <a:sym typeface="Calibri"/>
            </a:endParaRPr>
          </a:p>
        </p:txBody>
      </p:sp>
      <p:sp>
        <p:nvSpPr>
          <p:cNvPr id="24" name="Google Shape;24;p3"/>
          <p:cNvSpPr/>
          <p:nvPr/>
        </p:nvSpPr>
        <p:spPr>
          <a:xfrm>
            <a:off x="6659314" y="6163121"/>
            <a:ext cx="6050265"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1950"/>
              <a:buFont typeface="Arial"/>
              <a:buNone/>
            </a:pPr>
            <a:r>
              <a:rPr b="1" lang="en-US" sz="1950">
                <a:solidFill>
                  <a:srgbClr val="16212B"/>
                </a:solidFill>
                <a:latin typeface="Arial"/>
                <a:ea typeface="Arial"/>
                <a:cs typeface="Arial"/>
                <a:sym typeface="Arial"/>
              </a:rPr>
              <a:t>Encadrant — </a:t>
            </a:r>
            <a:r>
              <a:rPr lang="en-US" sz="1950">
                <a:solidFill>
                  <a:srgbClr val="5B6B80"/>
                </a:solidFill>
                <a:latin typeface="Arial"/>
                <a:ea typeface="Arial"/>
                <a:cs typeface="Arial"/>
                <a:sym typeface="Arial"/>
              </a:rPr>
              <a:t>Pr. Mohammed AIT DAOUD, FSBM</a:t>
            </a:r>
            <a:endParaRPr sz="1950">
              <a:solidFill>
                <a:schemeClr val="dk1"/>
              </a:solidFill>
              <a:latin typeface="Calibri"/>
              <a:ea typeface="Calibri"/>
              <a:cs typeface="Calibri"/>
              <a:sym typeface="Calibri"/>
            </a:endParaRPr>
          </a:p>
        </p:txBody>
      </p:sp>
      <p:sp>
        <p:nvSpPr>
          <p:cNvPr id="25" name="Google Shape;25;p3"/>
          <p:cNvSpPr/>
          <p:nvPr/>
        </p:nvSpPr>
        <p:spPr>
          <a:xfrm>
            <a:off x="12692955" y="6163121"/>
            <a:ext cx="2771299"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1950"/>
              <a:buFont typeface="Arial"/>
              <a:buNone/>
            </a:pPr>
            <a:r>
              <a:rPr b="1" lang="en-US" sz="1950">
                <a:solidFill>
                  <a:srgbClr val="16212B"/>
                </a:solidFill>
                <a:latin typeface="Arial"/>
                <a:ea typeface="Arial"/>
                <a:cs typeface="Arial"/>
                <a:sym typeface="Arial"/>
              </a:rPr>
              <a:t>Année — </a:t>
            </a:r>
            <a:r>
              <a:rPr lang="en-US" sz="1950">
                <a:solidFill>
                  <a:srgbClr val="5B6B80"/>
                </a:solidFill>
                <a:latin typeface="Arial"/>
                <a:ea typeface="Arial"/>
                <a:cs typeface="Arial"/>
                <a:sym typeface="Arial"/>
              </a:rPr>
              <a:t>2025 – 2026</a:t>
            </a:r>
            <a:endParaRPr sz="1950">
              <a:solidFill>
                <a:schemeClr val="dk1"/>
              </a:solidFill>
              <a:latin typeface="Calibri"/>
              <a:ea typeface="Calibri"/>
              <a:cs typeface="Calibri"/>
              <a:sym typeface="Calibri"/>
            </a:endParaRPr>
          </a:p>
        </p:txBody>
      </p:sp>
      <p:sp>
        <p:nvSpPr>
          <p:cNvPr id="26" name="Google Shape;26;p3"/>
          <p:cNvSpPr/>
          <p:nvPr/>
        </p:nvSpPr>
        <p:spPr>
          <a:xfrm>
            <a:off x="1047750" y="8181975"/>
            <a:ext cx="1781175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5B6B80"/>
              </a:buClr>
              <a:buSzPts val="1800"/>
              <a:buFont typeface="Arial"/>
              <a:buNone/>
            </a:pPr>
            <a:r>
              <a:rPr lang="en-US" sz="1800">
                <a:solidFill>
                  <a:srgbClr val="5B6B80"/>
                </a:solidFill>
                <a:latin typeface="Arial"/>
                <a:ea typeface="Arial"/>
                <a:cs typeface="Arial"/>
                <a:sym typeface="Arial"/>
              </a:rPr>
              <a:t>ÉQUIPE PROJET — 8 MEMBRES</a:t>
            </a:r>
            <a:endParaRPr sz="1800">
              <a:solidFill>
                <a:schemeClr val="dk1"/>
              </a:solidFill>
              <a:latin typeface="Calibri"/>
              <a:ea typeface="Calibri"/>
              <a:cs typeface="Calibri"/>
              <a:sym typeface="Calibri"/>
            </a:endParaRPr>
          </a:p>
        </p:txBody>
      </p:sp>
      <p:sp>
        <p:nvSpPr>
          <p:cNvPr id="27" name="Google Shape;27;p3"/>
          <p:cNvSpPr/>
          <p:nvPr/>
        </p:nvSpPr>
        <p:spPr>
          <a:xfrm>
            <a:off x="1047750" y="8620125"/>
            <a:ext cx="5657850"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1875"/>
              <a:buFont typeface="Arial"/>
              <a:buNone/>
            </a:pPr>
            <a:r>
              <a:rPr lang="en-US" sz="1875">
                <a:solidFill>
                  <a:srgbClr val="16212B"/>
                </a:solidFill>
                <a:latin typeface="Arial"/>
                <a:ea typeface="Arial"/>
                <a:cs typeface="Arial"/>
                <a:sym typeface="Arial"/>
              </a:rPr>
              <a:t>Anass Dabibe </a:t>
            </a:r>
            <a:r>
              <a:rPr lang="en-US" sz="1875">
                <a:solidFill>
                  <a:srgbClr val="0B7A6F"/>
                </a:solidFill>
                <a:latin typeface="Arial"/>
                <a:ea typeface="Arial"/>
                <a:cs typeface="Arial"/>
                <a:sym typeface="Arial"/>
              </a:rPr>
              <a:t>— Data Engineer, lead</a:t>
            </a:r>
            <a:endParaRPr sz="1875">
              <a:solidFill>
                <a:schemeClr val="dk1"/>
              </a:solidFill>
              <a:latin typeface="Calibri"/>
              <a:ea typeface="Calibri"/>
              <a:cs typeface="Calibri"/>
              <a:sym typeface="Calibri"/>
            </a:endParaRPr>
          </a:p>
        </p:txBody>
      </p:sp>
      <p:sp>
        <p:nvSpPr>
          <p:cNvPr id="28" name="Google Shape;28;p3"/>
          <p:cNvSpPr/>
          <p:nvPr/>
        </p:nvSpPr>
        <p:spPr>
          <a:xfrm>
            <a:off x="6572250" y="8620125"/>
            <a:ext cx="5657850"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1875"/>
              <a:buFont typeface="Arial"/>
              <a:buNone/>
            </a:pPr>
            <a:r>
              <a:rPr lang="en-US" sz="1875">
                <a:solidFill>
                  <a:srgbClr val="16212B"/>
                </a:solidFill>
                <a:latin typeface="Arial"/>
                <a:ea typeface="Arial"/>
                <a:cs typeface="Arial"/>
                <a:sym typeface="Arial"/>
              </a:rPr>
              <a:t>Hassan El Hadi </a:t>
            </a:r>
            <a:r>
              <a:rPr lang="en-US" sz="1875">
                <a:solidFill>
                  <a:srgbClr val="0B7A6F"/>
                </a:solidFill>
                <a:latin typeface="Arial"/>
                <a:ea typeface="Arial"/>
                <a:cs typeface="Arial"/>
                <a:sym typeface="Arial"/>
              </a:rPr>
              <a:t>— Data Eng</a:t>
            </a:r>
            <a:r>
              <a:rPr lang="en-US" sz="1875">
                <a:solidFill>
                  <a:srgbClr val="0B7A6F"/>
                </a:solidFill>
              </a:rPr>
              <a:t>ineer, </a:t>
            </a:r>
            <a:r>
              <a:rPr lang="en-US" sz="1875">
                <a:solidFill>
                  <a:srgbClr val="0B7A6F"/>
                </a:solidFill>
                <a:latin typeface="Arial"/>
                <a:ea typeface="Arial"/>
                <a:cs typeface="Arial"/>
                <a:sym typeface="Arial"/>
              </a:rPr>
              <a:t>P</a:t>
            </a:r>
            <a:r>
              <a:rPr lang="en-US" sz="1875">
                <a:solidFill>
                  <a:srgbClr val="0B7A6F"/>
                </a:solidFill>
              </a:rPr>
              <a:t>O</a:t>
            </a:r>
            <a:endParaRPr sz="1875">
              <a:solidFill>
                <a:schemeClr val="dk1"/>
              </a:solidFill>
              <a:latin typeface="Calibri"/>
              <a:ea typeface="Calibri"/>
              <a:cs typeface="Calibri"/>
              <a:sym typeface="Calibri"/>
            </a:endParaRPr>
          </a:p>
        </p:txBody>
      </p:sp>
      <p:sp>
        <p:nvSpPr>
          <p:cNvPr id="29" name="Google Shape;29;p3"/>
          <p:cNvSpPr/>
          <p:nvPr/>
        </p:nvSpPr>
        <p:spPr>
          <a:xfrm>
            <a:off x="12096750" y="8620125"/>
            <a:ext cx="5657850"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1875"/>
              <a:buFont typeface="Arial"/>
              <a:buNone/>
            </a:pPr>
            <a:r>
              <a:rPr lang="en-US" sz="1875">
                <a:solidFill>
                  <a:srgbClr val="16212B"/>
                </a:solidFill>
                <a:latin typeface="Arial"/>
                <a:ea typeface="Arial"/>
                <a:cs typeface="Arial"/>
                <a:sym typeface="Arial"/>
              </a:rPr>
              <a:t>Yassin Farih </a:t>
            </a:r>
            <a:r>
              <a:rPr lang="en-US" sz="1875">
                <a:solidFill>
                  <a:srgbClr val="0B7A6F"/>
                </a:solidFill>
                <a:latin typeface="Arial"/>
                <a:ea typeface="Arial"/>
                <a:cs typeface="Arial"/>
                <a:sym typeface="Arial"/>
              </a:rPr>
              <a:t>— </a:t>
            </a:r>
            <a:r>
              <a:rPr lang="en-US" sz="1875">
                <a:solidFill>
                  <a:srgbClr val="0B7A6F"/>
                </a:solidFill>
              </a:rPr>
              <a:t>Data Engineer,</a:t>
            </a:r>
            <a:r>
              <a:rPr lang="en-US" sz="1875">
                <a:solidFill>
                  <a:srgbClr val="0B7A6F"/>
                </a:solidFill>
                <a:latin typeface="Arial"/>
                <a:ea typeface="Arial"/>
                <a:cs typeface="Arial"/>
                <a:sym typeface="Arial"/>
              </a:rPr>
              <a:t> Scrum Master</a:t>
            </a:r>
            <a:endParaRPr sz="1875">
              <a:solidFill>
                <a:schemeClr val="dk1"/>
              </a:solidFill>
              <a:latin typeface="Calibri"/>
              <a:ea typeface="Calibri"/>
              <a:cs typeface="Calibri"/>
              <a:sym typeface="Calibri"/>
            </a:endParaRPr>
          </a:p>
        </p:txBody>
      </p:sp>
      <p:sp>
        <p:nvSpPr>
          <p:cNvPr id="30" name="Google Shape;30;p3"/>
          <p:cNvSpPr/>
          <p:nvPr/>
        </p:nvSpPr>
        <p:spPr>
          <a:xfrm>
            <a:off x="1047750" y="9029700"/>
            <a:ext cx="5657850"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1875"/>
              <a:buFont typeface="Arial"/>
              <a:buNone/>
            </a:pPr>
            <a:r>
              <a:rPr lang="en-US" sz="1875">
                <a:solidFill>
                  <a:srgbClr val="16212B"/>
                </a:solidFill>
                <a:latin typeface="Arial"/>
                <a:ea typeface="Arial"/>
                <a:cs typeface="Arial"/>
                <a:sym typeface="Arial"/>
              </a:rPr>
              <a:t>Adnane Dahbi </a:t>
            </a:r>
            <a:r>
              <a:rPr lang="en-US" sz="1875">
                <a:solidFill>
                  <a:srgbClr val="0B7A6F"/>
                </a:solidFill>
                <a:latin typeface="Arial"/>
                <a:ea typeface="Arial"/>
                <a:cs typeface="Arial"/>
                <a:sym typeface="Arial"/>
              </a:rPr>
              <a:t>— Data Engineer</a:t>
            </a:r>
            <a:endParaRPr sz="1875">
              <a:solidFill>
                <a:schemeClr val="dk1"/>
              </a:solidFill>
              <a:latin typeface="Calibri"/>
              <a:ea typeface="Calibri"/>
              <a:cs typeface="Calibri"/>
              <a:sym typeface="Calibri"/>
            </a:endParaRPr>
          </a:p>
        </p:txBody>
      </p:sp>
      <p:sp>
        <p:nvSpPr>
          <p:cNvPr id="31" name="Google Shape;31;p3"/>
          <p:cNvSpPr/>
          <p:nvPr/>
        </p:nvSpPr>
        <p:spPr>
          <a:xfrm>
            <a:off x="6572250" y="9029700"/>
            <a:ext cx="5657850"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1875"/>
              <a:buFont typeface="Arial"/>
              <a:buNone/>
            </a:pPr>
            <a:r>
              <a:rPr lang="en-US" sz="1875">
                <a:solidFill>
                  <a:srgbClr val="16212B"/>
                </a:solidFill>
                <a:latin typeface="Arial"/>
                <a:ea typeface="Arial"/>
                <a:cs typeface="Arial"/>
                <a:sym typeface="Arial"/>
              </a:rPr>
              <a:t>Sifeddine Legnioui </a:t>
            </a:r>
            <a:r>
              <a:rPr lang="en-US" sz="1875">
                <a:solidFill>
                  <a:srgbClr val="0B7A6F"/>
                </a:solidFill>
                <a:latin typeface="Arial"/>
                <a:ea typeface="Arial"/>
                <a:cs typeface="Arial"/>
                <a:sym typeface="Arial"/>
              </a:rPr>
              <a:t>— Data Engineer</a:t>
            </a:r>
            <a:endParaRPr sz="1875">
              <a:solidFill>
                <a:schemeClr val="dk1"/>
              </a:solidFill>
              <a:latin typeface="Calibri"/>
              <a:ea typeface="Calibri"/>
              <a:cs typeface="Calibri"/>
              <a:sym typeface="Calibri"/>
            </a:endParaRPr>
          </a:p>
        </p:txBody>
      </p:sp>
      <p:sp>
        <p:nvSpPr>
          <p:cNvPr id="32" name="Google Shape;32;p3"/>
          <p:cNvSpPr/>
          <p:nvPr/>
        </p:nvSpPr>
        <p:spPr>
          <a:xfrm>
            <a:off x="12096750" y="9029700"/>
            <a:ext cx="5657850"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1875"/>
              <a:buFont typeface="Arial"/>
              <a:buNone/>
            </a:pPr>
            <a:r>
              <a:rPr lang="en-US" sz="1875">
                <a:solidFill>
                  <a:srgbClr val="16212B"/>
                </a:solidFill>
                <a:latin typeface="Arial"/>
                <a:ea typeface="Arial"/>
                <a:cs typeface="Arial"/>
                <a:sym typeface="Arial"/>
              </a:rPr>
              <a:t>Aymane El Badry </a:t>
            </a:r>
            <a:r>
              <a:rPr lang="en-US" sz="1875">
                <a:solidFill>
                  <a:srgbClr val="0B7A6F"/>
                </a:solidFill>
                <a:latin typeface="Arial"/>
                <a:ea typeface="Arial"/>
                <a:cs typeface="Arial"/>
                <a:sym typeface="Arial"/>
              </a:rPr>
              <a:t>— ML Engineer</a:t>
            </a:r>
            <a:endParaRPr sz="1875">
              <a:solidFill>
                <a:schemeClr val="dk1"/>
              </a:solidFill>
              <a:latin typeface="Calibri"/>
              <a:ea typeface="Calibri"/>
              <a:cs typeface="Calibri"/>
              <a:sym typeface="Calibri"/>
            </a:endParaRPr>
          </a:p>
        </p:txBody>
      </p:sp>
      <p:sp>
        <p:nvSpPr>
          <p:cNvPr id="33" name="Google Shape;33;p3"/>
          <p:cNvSpPr/>
          <p:nvPr/>
        </p:nvSpPr>
        <p:spPr>
          <a:xfrm>
            <a:off x="1047750" y="9439275"/>
            <a:ext cx="5657850"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1875"/>
              <a:buFont typeface="Arial"/>
              <a:buNone/>
            </a:pPr>
            <a:r>
              <a:rPr lang="en-US" sz="1875">
                <a:solidFill>
                  <a:srgbClr val="16212B"/>
                </a:solidFill>
                <a:latin typeface="Arial"/>
                <a:ea typeface="Arial"/>
                <a:cs typeface="Arial"/>
                <a:sym typeface="Arial"/>
              </a:rPr>
              <a:t>Youssef Sarraf </a:t>
            </a:r>
            <a:r>
              <a:rPr lang="en-US" sz="1875">
                <a:solidFill>
                  <a:srgbClr val="0B7A6F"/>
                </a:solidFill>
                <a:latin typeface="Arial"/>
                <a:ea typeface="Arial"/>
                <a:cs typeface="Arial"/>
                <a:sym typeface="Arial"/>
              </a:rPr>
              <a:t>— ML Engineer</a:t>
            </a:r>
            <a:endParaRPr sz="1875">
              <a:solidFill>
                <a:schemeClr val="dk1"/>
              </a:solidFill>
              <a:latin typeface="Calibri"/>
              <a:ea typeface="Calibri"/>
              <a:cs typeface="Calibri"/>
              <a:sym typeface="Calibri"/>
            </a:endParaRPr>
          </a:p>
        </p:txBody>
      </p:sp>
      <p:sp>
        <p:nvSpPr>
          <p:cNvPr id="34" name="Google Shape;34;p3"/>
          <p:cNvSpPr/>
          <p:nvPr/>
        </p:nvSpPr>
        <p:spPr>
          <a:xfrm>
            <a:off x="6572250" y="9439275"/>
            <a:ext cx="5657850"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1875"/>
              <a:buFont typeface="Arial"/>
              <a:buNone/>
            </a:pPr>
            <a:r>
              <a:rPr lang="en-US" sz="1875">
                <a:solidFill>
                  <a:srgbClr val="16212B"/>
                </a:solidFill>
                <a:latin typeface="Arial"/>
                <a:ea typeface="Arial"/>
                <a:cs typeface="Arial"/>
                <a:sym typeface="Arial"/>
              </a:rPr>
              <a:t>Assofi Nada </a:t>
            </a:r>
            <a:r>
              <a:rPr lang="en-US" sz="1875">
                <a:solidFill>
                  <a:srgbClr val="0B7A6F"/>
                </a:solidFill>
                <a:latin typeface="Arial"/>
                <a:ea typeface="Arial"/>
                <a:cs typeface="Arial"/>
                <a:sym typeface="Arial"/>
              </a:rPr>
              <a:t>— Data Analyst</a:t>
            </a:r>
            <a:endParaRPr sz="1875">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 name="Shape 39"/>
        <p:cNvGrpSpPr/>
        <p:nvPr/>
      </p:nvGrpSpPr>
      <p:grpSpPr>
        <a:xfrm>
          <a:off x="0" y="0"/>
          <a:ext cx="0" cy="0"/>
          <a:chOff x="0" y="0"/>
          <a:chExt cx="0" cy="0"/>
        </a:xfrm>
      </p:grpSpPr>
      <p:sp>
        <p:nvSpPr>
          <p:cNvPr id="40" name="Google Shape;40;p4"/>
          <p:cNvSpPr/>
          <p:nvPr/>
        </p:nvSpPr>
        <p:spPr>
          <a:xfrm>
            <a:off x="1047750" y="914400"/>
            <a:ext cx="17811750"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1950"/>
              <a:buFont typeface="Courier New"/>
              <a:buNone/>
            </a:pPr>
            <a:r>
              <a:rPr b="1" lang="en-US" sz="1950">
                <a:solidFill>
                  <a:srgbClr val="0B7A6F"/>
                </a:solidFill>
                <a:latin typeface="Courier New"/>
                <a:ea typeface="Courier New"/>
                <a:cs typeface="Courier New"/>
                <a:sym typeface="Courier New"/>
              </a:rPr>
              <a:t>PLAN</a:t>
            </a:r>
            <a:endParaRPr sz="1950">
              <a:solidFill>
                <a:schemeClr val="dk1"/>
              </a:solidFill>
              <a:latin typeface="Calibri"/>
              <a:ea typeface="Calibri"/>
              <a:cs typeface="Calibri"/>
              <a:sym typeface="Calibri"/>
            </a:endParaRPr>
          </a:p>
        </p:txBody>
      </p:sp>
      <p:sp>
        <p:nvSpPr>
          <p:cNvPr id="41" name="Google Shape;41;p4"/>
          <p:cNvSpPr/>
          <p:nvPr/>
        </p:nvSpPr>
        <p:spPr>
          <a:xfrm>
            <a:off x="1047750" y="1419225"/>
            <a:ext cx="17811750" cy="742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4800"/>
              <a:buFont typeface="Arial"/>
              <a:buNone/>
            </a:pPr>
            <a:r>
              <a:rPr b="1" lang="en-US" sz="4800">
                <a:solidFill>
                  <a:srgbClr val="16212B"/>
                </a:solidFill>
                <a:latin typeface="Arial"/>
                <a:ea typeface="Arial"/>
                <a:cs typeface="Arial"/>
                <a:sym typeface="Arial"/>
              </a:rPr>
              <a:t>Sommaire</a:t>
            </a:r>
            <a:endParaRPr sz="4800">
              <a:solidFill>
                <a:schemeClr val="dk1"/>
              </a:solidFill>
              <a:latin typeface="Calibri"/>
              <a:ea typeface="Calibri"/>
              <a:cs typeface="Calibri"/>
              <a:sym typeface="Calibri"/>
            </a:endParaRPr>
          </a:p>
        </p:txBody>
      </p:sp>
      <p:sp>
        <p:nvSpPr>
          <p:cNvPr id="42" name="Google Shape;42;p4"/>
          <p:cNvSpPr/>
          <p:nvPr/>
        </p:nvSpPr>
        <p:spPr>
          <a:xfrm>
            <a:off x="1047750" y="4672013"/>
            <a:ext cx="533400" cy="5429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3000"/>
              <a:buFont typeface="Courier New"/>
              <a:buNone/>
            </a:pPr>
            <a:r>
              <a:rPr b="1" lang="en-US" sz="3000">
                <a:solidFill>
                  <a:srgbClr val="0B7A6F"/>
                </a:solidFill>
                <a:latin typeface="Courier New"/>
                <a:ea typeface="Courier New"/>
                <a:cs typeface="Courier New"/>
                <a:sym typeface="Courier New"/>
              </a:rPr>
              <a:t>01</a:t>
            </a:r>
            <a:endParaRPr sz="3000">
              <a:solidFill>
                <a:schemeClr val="dk1"/>
              </a:solidFill>
              <a:latin typeface="Calibri"/>
              <a:ea typeface="Calibri"/>
              <a:cs typeface="Calibri"/>
              <a:sym typeface="Calibri"/>
            </a:endParaRPr>
          </a:p>
        </p:txBody>
      </p:sp>
      <p:sp>
        <p:nvSpPr>
          <p:cNvPr id="43" name="Google Shape;43;p4"/>
          <p:cNvSpPr/>
          <p:nvPr/>
        </p:nvSpPr>
        <p:spPr>
          <a:xfrm>
            <a:off x="1752600" y="4805363"/>
            <a:ext cx="2848079"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2250"/>
              <a:buFont typeface="Arial"/>
              <a:buNone/>
            </a:pPr>
            <a:r>
              <a:rPr lang="en-US" sz="2250">
                <a:solidFill>
                  <a:srgbClr val="16212B"/>
                </a:solidFill>
                <a:latin typeface="Arial"/>
                <a:ea typeface="Arial"/>
                <a:cs typeface="Arial"/>
                <a:sym typeface="Arial"/>
              </a:rPr>
              <a:t>Contexte et objectifs</a:t>
            </a:r>
            <a:endParaRPr sz="2250">
              <a:solidFill>
                <a:schemeClr val="dk1"/>
              </a:solidFill>
              <a:latin typeface="Calibri"/>
              <a:ea typeface="Calibri"/>
              <a:cs typeface="Calibri"/>
              <a:sym typeface="Calibri"/>
            </a:endParaRPr>
          </a:p>
        </p:txBody>
      </p:sp>
      <p:sp>
        <p:nvSpPr>
          <p:cNvPr id="44" name="Google Shape;44;p4"/>
          <p:cNvSpPr/>
          <p:nvPr/>
        </p:nvSpPr>
        <p:spPr>
          <a:xfrm>
            <a:off x="9477375" y="4672013"/>
            <a:ext cx="533400" cy="5429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3000"/>
              <a:buFont typeface="Courier New"/>
              <a:buNone/>
            </a:pPr>
            <a:r>
              <a:rPr b="1" lang="en-US" sz="3000">
                <a:solidFill>
                  <a:srgbClr val="0B7A6F"/>
                </a:solidFill>
                <a:latin typeface="Courier New"/>
                <a:ea typeface="Courier New"/>
                <a:cs typeface="Courier New"/>
                <a:sym typeface="Courier New"/>
              </a:rPr>
              <a:t>05</a:t>
            </a:r>
            <a:endParaRPr sz="3000">
              <a:solidFill>
                <a:schemeClr val="dk1"/>
              </a:solidFill>
              <a:latin typeface="Calibri"/>
              <a:ea typeface="Calibri"/>
              <a:cs typeface="Calibri"/>
              <a:sym typeface="Calibri"/>
            </a:endParaRPr>
          </a:p>
        </p:txBody>
      </p:sp>
      <p:sp>
        <p:nvSpPr>
          <p:cNvPr id="45" name="Google Shape;45;p4"/>
          <p:cNvSpPr/>
          <p:nvPr/>
        </p:nvSpPr>
        <p:spPr>
          <a:xfrm>
            <a:off x="10182225" y="4805363"/>
            <a:ext cx="3477220"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2250"/>
              <a:buFont typeface="Arial"/>
              <a:buNone/>
            </a:pPr>
            <a:r>
              <a:rPr lang="en-US" sz="2250">
                <a:solidFill>
                  <a:srgbClr val="16212B"/>
                </a:solidFill>
                <a:latin typeface="Arial"/>
                <a:ea typeface="Arial"/>
                <a:cs typeface="Arial"/>
                <a:sym typeface="Arial"/>
              </a:rPr>
              <a:t>Mapping des 10 livrables</a:t>
            </a:r>
            <a:endParaRPr sz="2250">
              <a:solidFill>
                <a:schemeClr val="dk1"/>
              </a:solidFill>
              <a:latin typeface="Calibri"/>
              <a:ea typeface="Calibri"/>
              <a:cs typeface="Calibri"/>
              <a:sym typeface="Calibri"/>
            </a:endParaRPr>
          </a:p>
        </p:txBody>
      </p:sp>
      <p:sp>
        <p:nvSpPr>
          <p:cNvPr id="46" name="Google Shape;46;p4"/>
          <p:cNvSpPr/>
          <p:nvPr/>
        </p:nvSpPr>
        <p:spPr>
          <a:xfrm>
            <a:off x="1047750" y="5462588"/>
            <a:ext cx="533400" cy="5429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3000"/>
              <a:buFont typeface="Courier New"/>
              <a:buNone/>
            </a:pPr>
            <a:r>
              <a:rPr b="1" lang="en-US" sz="3000">
                <a:solidFill>
                  <a:srgbClr val="0B7A6F"/>
                </a:solidFill>
                <a:latin typeface="Courier New"/>
                <a:ea typeface="Courier New"/>
                <a:cs typeface="Courier New"/>
                <a:sym typeface="Courier New"/>
              </a:rPr>
              <a:t>02</a:t>
            </a:r>
            <a:endParaRPr sz="3000">
              <a:solidFill>
                <a:schemeClr val="dk1"/>
              </a:solidFill>
              <a:latin typeface="Calibri"/>
              <a:ea typeface="Calibri"/>
              <a:cs typeface="Calibri"/>
              <a:sym typeface="Calibri"/>
            </a:endParaRPr>
          </a:p>
        </p:txBody>
      </p:sp>
      <p:sp>
        <p:nvSpPr>
          <p:cNvPr id="47" name="Google Shape;47;p4"/>
          <p:cNvSpPr/>
          <p:nvPr/>
        </p:nvSpPr>
        <p:spPr>
          <a:xfrm>
            <a:off x="1752600" y="5595938"/>
            <a:ext cx="2551271"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2250"/>
              <a:buFont typeface="Arial"/>
              <a:buNone/>
            </a:pPr>
            <a:r>
              <a:rPr lang="en-US" sz="2250">
                <a:solidFill>
                  <a:srgbClr val="16212B"/>
                </a:solidFill>
                <a:latin typeface="Arial"/>
                <a:ea typeface="Arial"/>
                <a:cs typeface="Arial"/>
                <a:sym typeface="Arial"/>
              </a:rPr>
              <a:t>Organisation Agile</a:t>
            </a:r>
            <a:endParaRPr sz="2250">
              <a:solidFill>
                <a:schemeClr val="dk1"/>
              </a:solidFill>
              <a:latin typeface="Calibri"/>
              <a:ea typeface="Calibri"/>
              <a:cs typeface="Calibri"/>
              <a:sym typeface="Calibri"/>
            </a:endParaRPr>
          </a:p>
        </p:txBody>
      </p:sp>
      <p:sp>
        <p:nvSpPr>
          <p:cNvPr id="48" name="Google Shape;48;p4"/>
          <p:cNvSpPr/>
          <p:nvPr/>
        </p:nvSpPr>
        <p:spPr>
          <a:xfrm>
            <a:off x="9477375" y="5462588"/>
            <a:ext cx="533400" cy="5429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3000"/>
              <a:buFont typeface="Courier New"/>
              <a:buNone/>
            </a:pPr>
            <a:r>
              <a:rPr b="1" lang="en-US" sz="3000">
                <a:solidFill>
                  <a:srgbClr val="0B7A6F"/>
                </a:solidFill>
                <a:latin typeface="Courier New"/>
                <a:ea typeface="Courier New"/>
                <a:cs typeface="Courier New"/>
                <a:sym typeface="Courier New"/>
              </a:rPr>
              <a:t>06</a:t>
            </a:r>
            <a:endParaRPr sz="3000">
              <a:solidFill>
                <a:schemeClr val="dk1"/>
              </a:solidFill>
              <a:latin typeface="Calibri"/>
              <a:ea typeface="Calibri"/>
              <a:cs typeface="Calibri"/>
              <a:sym typeface="Calibri"/>
            </a:endParaRPr>
          </a:p>
        </p:txBody>
      </p:sp>
      <p:sp>
        <p:nvSpPr>
          <p:cNvPr id="49" name="Google Shape;49;p4"/>
          <p:cNvSpPr/>
          <p:nvPr/>
        </p:nvSpPr>
        <p:spPr>
          <a:xfrm>
            <a:off x="10182225" y="5595938"/>
            <a:ext cx="6949440"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2250"/>
              <a:buFont typeface="Arial"/>
              <a:buNone/>
            </a:pPr>
            <a:r>
              <a:rPr lang="en-US" sz="2250">
                <a:solidFill>
                  <a:srgbClr val="16212B"/>
                </a:solidFill>
                <a:latin typeface="Arial"/>
                <a:ea typeface="Arial"/>
                <a:cs typeface="Arial"/>
                <a:sym typeface="Arial"/>
              </a:rPr>
              <a:t>Démonstration &amp; déploiement Komodo</a:t>
            </a:r>
            <a:endParaRPr/>
          </a:p>
        </p:txBody>
      </p:sp>
      <p:sp>
        <p:nvSpPr>
          <p:cNvPr id="50" name="Google Shape;50;p4"/>
          <p:cNvSpPr/>
          <p:nvPr/>
        </p:nvSpPr>
        <p:spPr>
          <a:xfrm>
            <a:off x="1047750" y="6253163"/>
            <a:ext cx="533400" cy="5429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3000"/>
              <a:buFont typeface="Courier New"/>
              <a:buNone/>
            </a:pPr>
            <a:r>
              <a:rPr b="1" lang="en-US" sz="3000">
                <a:solidFill>
                  <a:srgbClr val="0B7A6F"/>
                </a:solidFill>
                <a:latin typeface="Courier New"/>
                <a:ea typeface="Courier New"/>
                <a:cs typeface="Courier New"/>
                <a:sym typeface="Courier New"/>
              </a:rPr>
              <a:t>03</a:t>
            </a:r>
            <a:endParaRPr sz="3000">
              <a:solidFill>
                <a:schemeClr val="dk1"/>
              </a:solidFill>
              <a:latin typeface="Calibri"/>
              <a:ea typeface="Calibri"/>
              <a:cs typeface="Calibri"/>
              <a:sym typeface="Calibri"/>
            </a:endParaRPr>
          </a:p>
        </p:txBody>
      </p:sp>
      <p:sp>
        <p:nvSpPr>
          <p:cNvPr id="51" name="Google Shape;51;p4"/>
          <p:cNvSpPr/>
          <p:nvPr/>
        </p:nvSpPr>
        <p:spPr>
          <a:xfrm>
            <a:off x="1752600" y="6386513"/>
            <a:ext cx="6766560"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2250"/>
              <a:buFont typeface="Arial"/>
              <a:buNone/>
            </a:pPr>
            <a:r>
              <a:rPr lang="en-US" sz="2250">
                <a:solidFill>
                  <a:srgbClr val="16212B"/>
                </a:solidFill>
                <a:latin typeface="Arial"/>
                <a:ea typeface="Arial"/>
                <a:cs typeface="Arial"/>
                <a:sym typeface="Arial"/>
              </a:rPr>
              <a:t>Architecture livrée · DVC · entraînement continu</a:t>
            </a:r>
            <a:endParaRPr/>
          </a:p>
        </p:txBody>
      </p:sp>
      <p:sp>
        <p:nvSpPr>
          <p:cNvPr id="52" name="Google Shape;52;p4"/>
          <p:cNvSpPr/>
          <p:nvPr/>
        </p:nvSpPr>
        <p:spPr>
          <a:xfrm>
            <a:off x="9477375" y="6253163"/>
            <a:ext cx="533400" cy="5429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3000"/>
              <a:buFont typeface="Courier New"/>
              <a:buNone/>
            </a:pPr>
            <a:r>
              <a:rPr b="1" lang="en-US" sz="3000">
                <a:solidFill>
                  <a:srgbClr val="0B7A6F"/>
                </a:solidFill>
                <a:latin typeface="Courier New"/>
                <a:ea typeface="Courier New"/>
                <a:cs typeface="Courier New"/>
                <a:sym typeface="Courier New"/>
              </a:rPr>
              <a:t>07</a:t>
            </a:r>
            <a:endParaRPr sz="3000">
              <a:solidFill>
                <a:schemeClr val="dk1"/>
              </a:solidFill>
              <a:latin typeface="Calibri"/>
              <a:ea typeface="Calibri"/>
              <a:cs typeface="Calibri"/>
              <a:sym typeface="Calibri"/>
            </a:endParaRPr>
          </a:p>
        </p:txBody>
      </p:sp>
      <p:sp>
        <p:nvSpPr>
          <p:cNvPr id="53" name="Google Shape;53;p4"/>
          <p:cNvSpPr/>
          <p:nvPr/>
        </p:nvSpPr>
        <p:spPr>
          <a:xfrm>
            <a:off x="10182225" y="6386513"/>
            <a:ext cx="4488626"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2250"/>
              <a:buFont typeface="Arial"/>
              <a:buNone/>
            </a:pPr>
            <a:r>
              <a:rPr lang="en-US" sz="2250">
                <a:solidFill>
                  <a:srgbClr val="16212B"/>
                </a:solidFill>
                <a:latin typeface="Arial"/>
                <a:ea typeface="Arial"/>
                <a:cs typeface="Arial"/>
                <a:sym typeface="Arial"/>
              </a:rPr>
              <a:t>Retour d'expérience d'ingénierie</a:t>
            </a:r>
            <a:endParaRPr sz="2250">
              <a:solidFill>
                <a:schemeClr val="dk1"/>
              </a:solidFill>
              <a:latin typeface="Calibri"/>
              <a:ea typeface="Calibri"/>
              <a:cs typeface="Calibri"/>
              <a:sym typeface="Calibri"/>
            </a:endParaRPr>
          </a:p>
        </p:txBody>
      </p:sp>
      <p:sp>
        <p:nvSpPr>
          <p:cNvPr id="54" name="Google Shape;54;p4"/>
          <p:cNvSpPr/>
          <p:nvPr/>
        </p:nvSpPr>
        <p:spPr>
          <a:xfrm>
            <a:off x="1047750" y="7043738"/>
            <a:ext cx="533400" cy="5429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3000"/>
              <a:buFont typeface="Courier New"/>
              <a:buNone/>
            </a:pPr>
            <a:r>
              <a:rPr b="1" lang="en-US" sz="3000">
                <a:solidFill>
                  <a:srgbClr val="0B7A6F"/>
                </a:solidFill>
                <a:latin typeface="Courier New"/>
                <a:ea typeface="Courier New"/>
                <a:cs typeface="Courier New"/>
                <a:sym typeface="Courier New"/>
              </a:rPr>
              <a:t>04</a:t>
            </a:r>
            <a:endParaRPr sz="3000">
              <a:solidFill>
                <a:schemeClr val="dk1"/>
              </a:solidFill>
              <a:latin typeface="Calibri"/>
              <a:ea typeface="Calibri"/>
              <a:cs typeface="Calibri"/>
              <a:sym typeface="Calibri"/>
            </a:endParaRPr>
          </a:p>
        </p:txBody>
      </p:sp>
      <p:sp>
        <p:nvSpPr>
          <p:cNvPr id="55" name="Google Shape;55;p4"/>
          <p:cNvSpPr/>
          <p:nvPr/>
        </p:nvSpPr>
        <p:spPr>
          <a:xfrm>
            <a:off x="1752600" y="7177088"/>
            <a:ext cx="4752037"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2250"/>
              <a:buFont typeface="Arial"/>
              <a:buNone/>
            </a:pPr>
            <a:r>
              <a:rPr lang="en-US" sz="2250">
                <a:solidFill>
                  <a:srgbClr val="16212B"/>
                </a:solidFill>
                <a:latin typeface="Arial"/>
                <a:ea typeface="Arial"/>
                <a:cs typeface="Arial"/>
                <a:sym typeface="Arial"/>
              </a:rPr>
              <a:t>Résultats clés (Machine Learning)</a:t>
            </a:r>
            <a:endParaRPr sz="2250">
              <a:solidFill>
                <a:schemeClr val="dk1"/>
              </a:solidFill>
              <a:latin typeface="Calibri"/>
              <a:ea typeface="Calibri"/>
              <a:cs typeface="Calibri"/>
              <a:sym typeface="Calibri"/>
            </a:endParaRPr>
          </a:p>
        </p:txBody>
      </p:sp>
      <p:sp>
        <p:nvSpPr>
          <p:cNvPr id="56" name="Google Shape;56;p4"/>
          <p:cNvSpPr/>
          <p:nvPr/>
        </p:nvSpPr>
        <p:spPr>
          <a:xfrm>
            <a:off x="9477375" y="7043738"/>
            <a:ext cx="533400" cy="5429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3000"/>
              <a:buFont typeface="Courier New"/>
              <a:buNone/>
            </a:pPr>
            <a:r>
              <a:rPr b="1" lang="en-US" sz="3000">
                <a:solidFill>
                  <a:srgbClr val="0B7A6F"/>
                </a:solidFill>
                <a:latin typeface="Courier New"/>
                <a:ea typeface="Courier New"/>
                <a:cs typeface="Courier New"/>
                <a:sym typeface="Courier New"/>
              </a:rPr>
              <a:t>08</a:t>
            </a:r>
            <a:endParaRPr sz="3000">
              <a:solidFill>
                <a:schemeClr val="dk1"/>
              </a:solidFill>
              <a:latin typeface="Calibri"/>
              <a:ea typeface="Calibri"/>
              <a:cs typeface="Calibri"/>
              <a:sym typeface="Calibri"/>
            </a:endParaRPr>
          </a:p>
        </p:txBody>
      </p:sp>
      <p:sp>
        <p:nvSpPr>
          <p:cNvPr id="57" name="Google Shape;57;p4"/>
          <p:cNvSpPr/>
          <p:nvPr/>
        </p:nvSpPr>
        <p:spPr>
          <a:xfrm>
            <a:off x="10182225" y="7177088"/>
            <a:ext cx="3197111" cy="3619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2250"/>
              <a:buFont typeface="Arial"/>
              <a:buNone/>
            </a:pPr>
            <a:r>
              <a:rPr lang="en-US" sz="2250">
                <a:solidFill>
                  <a:srgbClr val="16212B"/>
                </a:solidFill>
                <a:latin typeface="Arial"/>
                <a:ea typeface="Arial"/>
                <a:cs typeface="Arial"/>
                <a:sym typeface="Arial"/>
              </a:rPr>
              <a:t>Limites et perspectives</a:t>
            </a:r>
            <a:endParaRPr sz="2250">
              <a:solidFill>
                <a:schemeClr val="dk1"/>
              </a:solidFill>
              <a:latin typeface="Calibri"/>
              <a:ea typeface="Calibri"/>
              <a:cs typeface="Calibri"/>
              <a:sym typeface="Calibri"/>
            </a:endParaRPr>
          </a:p>
        </p:txBody>
      </p:sp>
      <p:sp>
        <p:nvSpPr>
          <p:cNvPr id="58" name="Google Shape;58;p4"/>
          <p:cNvSpPr/>
          <p:nvPr/>
        </p:nvSpPr>
        <p:spPr>
          <a:xfrm>
            <a:off x="16504920" y="9648825"/>
            <a:ext cx="809244"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5B6B80"/>
              </a:buClr>
              <a:buSzPts val="1800"/>
              <a:buFont typeface="Courier New"/>
              <a:buNone/>
            </a:pPr>
            <a:r>
              <a:rPr lang="en-US" sz="1800">
                <a:solidFill>
                  <a:srgbClr val="5B6B80"/>
                </a:solidFill>
                <a:latin typeface="Courier New"/>
                <a:ea typeface="Courier New"/>
                <a:cs typeface="Courier New"/>
                <a:sym typeface="Courier New"/>
              </a:rPr>
              <a:t>2/41</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 name="Shape 63"/>
        <p:cNvGrpSpPr/>
        <p:nvPr/>
      </p:nvGrpSpPr>
      <p:grpSpPr>
        <a:xfrm>
          <a:off x="0" y="0"/>
          <a:ext cx="0" cy="0"/>
          <a:chOff x="0" y="0"/>
          <a:chExt cx="0" cy="0"/>
        </a:xfrm>
      </p:grpSpPr>
      <p:sp>
        <p:nvSpPr>
          <p:cNvPr id="64" name="Google Shape;64;p5"/>
          <p:cNvSpPr/>
          <p:nvPr/>
        </p:nvSpPr>
        <p:spPr>
          <a:xfrm>
            <a:off x="1047750" y="914400"/>
            <a:ext cx="17811750"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1950"/>
              <a:buFont typeface="Courier New"/>
              <a:buNone/>
            </a:pPr>
            <a:r>
              <a:rPr b="1" lang="en-US" sz="1950">
                <a:solidFill>
                  <a:srgbClr val="0B7A6F"/>
                </a:solidFill>
                <a:latin typeface="Courier New"/>
                <a:ea typeface="Courier New"/>
                <a:cs typeface="Courier New"/>
                <a:sym typeface="Courier New"/>
              </a:rPr>
              <a:t>CHAPITRE 1</a:t>
            </a:r>
            <a:endParaRPr sz="1950">
              <a:solidFill>
                <a:schemeClr val="dk1"/>
              </a:solidFill>
              <a:latin typeface="Calibri"/>
              <a:ea typeface="Calibri"/>
              <a:cs typeface="Calibri"/>
              <a:sym typeface="Calibri"/>
            </a:endParaRPr>
          </a:p>
        </p:txBody>
      </p:sp>
      <p:sp>
        <p:nvSpPr>
          <p:cNvPr id="65" name="Google Shape;65;p5"/>
          <p:cNvSpPr/>
          <p:nvPr/>
        </p:nvSpPr>
        <p:spPr>
          <a:xfrm>
            <a:off x="1047750" y="1419225"/>
            <a:ext cx="17811750" cy="5524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3450"/>
              <a:buFont typeface="Arial"/>
              <a:buNone/>
            </a:pPr>
            <a:r>
              <a:rPr b="1" lang="en-US" sz="3450">
                <a:solidFill>
                  <a:srgbClr val="16212B"/>
                </a:solidFill>
                <a:latin typeface="Arial"/>
                <a:ea typeface="Arial"/>
                <a:cs typeface="Arial"/>
                <a:sym typeface="Arial"/>
              </a:rPr>
              <a:t>Contexte et problématique</a:t>
            </a:r>
            <a:endParaRPr sz="3450">
              <a:solidFill>
                <a:schemeClr val="dk1"/>
              </a:solidFill>
              <a:latin typeface="Calibri"/>
              <a:ea typeface="Calibri"/>
              <a:cs typeface="Calibri"/>
              <a:sym typeface="Calibri"/>
            </a:endParaRPr>
          </a:p>
        </p:txBody>
      </p:sp>
      <p:sp>
        <p:nvSpPr>
          <p:cNvPr id="66" name="Google Shape;66;p5"/>
          <p:cNvSpPr/>
          <p:nvPr/>
        </p:nvSpPr>
        <p:spPr>
          <a:xfrm>
            <a:off x="1047750" y="3148013"/>
            <a:ext cx="3961061" cy="1485900"/>
          </a:xfrm>
          <a:prstGeom prst="roundRect">
            <a:avLst>
              <a:gd fmla="val 10256" name="adj"/>
            </a:avLst>
          </a:prstGeom>
          <a:solidFill>
            <a:srgbClr val="F5F7FA"/>
          </a:solidFill>
          <a:ln cap="flat" cmpd="sng" w="9525">
            <a:solidFill>
              <a:srgbClr val="E2E6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 name="Google Shape;67;p5"/>
          <p:cNvSpPr/>
          <p:nvPr/>
        </p:nvSpPr>
        <p:spPr>
          <a:xfrm>
            <a:off x="1343025" y="3405188"/>
            <a:ext cx="3707562" cy="6572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4200"/>
              <a:buFont typeface="Arial"/>
              <a:buNone/>
            </a:pPr>
            <a:r>
              <a:rPr b="1" lang="en-US" sz="4200">
                <a:solidFill>
                  <a:srgbClr val="0B7A6F"/>
                </a:solidFill>
                <a:latin typeface="Arial"/>
                <a:ea typeface="Arial"/>
                <a:cs typeface="Arial"/>
                <a:sym typeface="Arial"/>
              </a:rPr>
              <a:t>284 807</a:t>
            </a:r>
            <a:endParaRPr sz="4200">
              <a:solidFill>
                <a:schemeClr val="dk1"/>
              </a:solidFill>
              <a:latin typeface="Calibri"/>
              <a:ea typeface="Calibri"/>
              <a:cs typeface="Calibri"/>
              <a:sym typeface="Calibri"/>
            </a:endParaRPr>
          </a:p>
        </p:txBody>
      </p:sp>
      <p:sp>
        <p:nvSpPr>
          <p:cNvPr id="68" name="Google Shape;68;p5"/>
          <p:cNvSpPr/>
          <p:nvPr/>
        </p:nvSpPr>
        <p:spPr>
          <a:xfrm>
            <a:off x="1343025" y="4100513"/>
            <a:ext cx="3707562"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5B6B80"/>
              </a:buClr>
              <a:buSzPts val="1875"/>
              <a:buFont typeface="Arial"/>
              <a:buNone/>
            </a:pPr>
            <a:r>
              <a:rPr lang="en-US" sz="1875">
                <a:solidFill>
                  <a:srgbClr val="5B6B80"/>
                </a:solidFill>
                <a:latin typeface="Arial"/>
                <a:ea typeface="Arial"/>
                <a:cs typeface="Arial"/>
                <a:sym typeface="Arial"/>
              </a:rPr>
              <a:t>transactions au total</a:t>
            </a:r>
            <a:endParaRPr sz="1875">
              <a:solidFill>
                <a:schemeClr val="dk1"/>
              </a:solidFill>
              <a:latin typeface="Calibri"/>
              <a:ea typeface="Calibri"/>
              <a:cs typeface="Calibri"/>
              <a:sym typeface="Calibri"/>
            </a:endParaRPr>
          </a:p>
        </p:txBody>
      </p:sp>
      <p:sp>
        <p:nvSpPr>
          <p:cNvPr id="69" name="Google Shape;69;p5"/>
          <p:cNvSpPr/>
          <p:nvPr/>
        </p:nvSpPr>
        <p:spPr>
          <a:xfrm>
            <a:off x="5237411" y="3148013"/>
            <a:ext cx="3961209" cy="1485900"/>
          </a:xfrm>
          <a:prstGeom prst="roundRect">
            <a:avLst>
              <a:gd fmla="val 10256" name="adj"/>
            </a:avLst>
          </a:prstGeom>
          <a:solidFill>
            <a:srgbClr val="F5F7FA"/>
          </a:solidFill>
          <a:ln cap="flat" cmpd="sng" w="9525">
            <a:solidFill>
              <a:srgbClr val="E2E6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 name="Google Shape;70;p5"/>
          <p:cNvSpPr/>
          <p:nvPr/>
        </p:nvSpPr>
        <p:spPr>
          <a:xfrm>
            <a:off x="5532686" y="3405188"/>
            <a:ext cx="3707725" cy="6572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C2570A"/>
              </a:buClr>
              <a:buSzPts val="4200"/>
              <a:buFont typeface="Arial"/>
              <a:buNone/>
            </a:pPr>
            <a:r>
              <a:rPr b="1" lang="en-US" sz="4200">
                <a:solidFill>
                  <a:srgbClr val="C2570A"/>
                </a:solidFill>
                <a:latin typeface="Arial"/>
                <a:ea typeface="Arial"/>
                <a:cs typeface="Arial"/>
                <a:sym typeface="Arial"/>
              </a:rPr>
              <a:t>492</a:t>
            </a:r>
            <a:endParaRPr sz="4200">
              <a:solidFill>
                <a:schemeClr val="dk1"/>
              </a:solidFill>
              <a:latin typeface="Calibri"/>
              <a:ea typeface="Calibri"/>
              <a:cs typeface="Calibri"/>
              <a:sym typeface="Calibri"/>
            </a:endParaRPr>
          </a:p>
        </p:txBody>
      </p:sp>
      <p:sp>
        <p:nvSpPr>
          <p:cNvPr id="71" name="Google Shape;71;p5"/>
          <p:cNvSpPr/>
          <p:nvPr/>
        </p:nvSpPr>
        <p:spPr>
          <a:xfrm>
            <a:off x="5532686" y="4100513"/>
            <a:ext cx="3707725" cy="3143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5B6B80"/>
              </a:buClr>
              <a:buSzPts val="1875"/>
              <a:buFont typeface="Arial"/>
              <a:buNone/>
            </a:pPr>
            <a:r>
              <a:rPr lang="en-US" sz="1875">
                <a:solidFill>
                  <a:srgbClr val="5B6B80"/>
                </a:solidFill>
                <a:latin typeface="Arial"/>
                <a:ea typeface="Arial"/>
                <a:cs typeface="Arial"/>
                <a:sym typeface="Arial"/>
              </a:rPr>
              <a:t>frauduleuses — 0,17 %</a:t>
            </a:r>
            <a:endParaRPr sz="1875">
              <a:solidFill>
                <a:schemeClr val="dk1"/>
              </a:solidFill>
              <a:latin typeface="Calibri"/>
              <a:ea typeface="Calibri"/>
              <a:cs typeface="Calibri"/>
              <a:sym typeface="Calibri"/>
            </a:endParaRPr>
          </a:p>
        </p:txBody>
      </p:sp>
      <p:sp>
        <p:nvSpPr>
          <p:cNvPr id="72" name="Google Shape;72;p5"/>
          <p:cNvSpPr/>
          <p:nvPr/>
        </p:nvSpPr>
        <p:spPr>
          <a:xfrm>
            <a:off x="1047750" y="4938713"/>
            <a:ext cx="8395396" cy="1323975"/>
          </a:xfrm>
          <a:prstGeom prst="rect">
            <a:avLst/>
          </a:prstGeom>
          <a:noFill/>
          <a:ln>
            <a:noFill/>
          </a:ln>
        </p:spPr>
        <p:txBody>
          <a:bodyPr anchorCtr="0" anchor="t" bIns="25400" lIns="25400" spcFirstLastPara="1" rIns="25400" wrap="square" tIns="25400">
            <a:noAutofit/>
          </a:bodyPr>
          <a:lstStyle/>
          <a:p>
            <a:pPr indent="0" lvl="0" marL="0" marR="0" rtl="0" algn="l">
              <a:lnSpc>
                <a:spcPct val="132353"/>
              </a:lnSpc>
              <a:spcBef>
                <a:spcPts val="0"/>
              </a:spcBef>
              <a:spcAft>
                <a:spcPts val="0"/>
              </a:spcAft>
              <a:buClr>
                <a:srgbClr val="16212B"/>
              </a:buClr>
              <a:buSzPts val="2250"/>
              <a:buFont typeface="Arial"/>
              <a:buNone/>
            </a:pPr>
            <a:r>
              <a:rPr lang="en-US" sz="2250">
                <a:solidFill>
                  <a:srgbClr val="16212B"/>
                </a:solidFill>
                <a:latin typeface="Arial"/>
                <a:ea typeface="Arial"/>
                <a:cs typeface="Arial"/>
                <a:sym typeface="Arial"/>
              </a:rPr>
              <a:t>Un modèle naïf « toujours légitime » atteint déjà </a:t>
            </a:r>
            <a:r>
              <a:rPr b="1" lang="en-US" sz="2250">
                <a:solidFill>
                  <a:srgbClr val="C2570A"/>
                </a:solidFill>
                <a:latin typeface="Arial"/>
                <a:ea typeface="Arial"/>
                <a:cs typeface="Arial"/>
                <a:sym typeface="Arial"/>
              </a:rPr>
              <a:t>99,83 % d'exactitude </a:t>
            </a:r>
            <a:r>
              <a:rPr lang="en-US" sz="2250">
                <a:solidFill>
                  <a:srgbClr val="16212B"/>
                </a:solidFill>
                <a:latin typeface="Arial"/>
                <a:ea typeface="Arial"/>
                <a:cs typeface="Arial"/>
                <a:sym typeface="Arial"/>
              </a:rPr>
              <a:t>sans détecter une seule fraude : l'accuracy est inutilisable comme métrique de décision.</a:t>
            </a:r>
            <a:endParaRPr sz="2250">
              <a:solidFill>
                <a:schemeClr val="dk1"/>
              </a:solidFill>
              <a:latin typeface="Calibri"/>
              <a:ea typeface="Calibri"/>
              <a:cs typeface="Calibri"/>
              <a:sym typeface="Calibri"/>
            </a:endParaRPr>
          </a:p>
        </p:txBody>
      </p:sp>
      <p:sp>
        <p:nvSpPr>
          <p:cNvPr id="73" name="Google Shape;73;p5"/>
          <p:cNvSpPr/>
          <p:nvPr/>
        </p:nvSpPr>
        <p:spPr>
          <a:xfrm>
            <a:off x="1047750" y="6434138"/>
            <a:ext cx="8395396" cy="895350"/>
          </a:xfrm>
          <a:prstGeom prst="rect">
            <a:avLst/>
          </a:prstGeom>
          <a:noFill/>
          <a:ln>
            <a:noFill/>
          </a:ln>
        </p:spPr>
        <p:txBody>
          <a:bodyPr anchorCtr="0" anchor="t" bIns="25400" lIns="25400" spcFirstLastPara="1" rIns="25400" wrap="square" tIns="25400">
            <a:noAutofit/>
          </a:bodyPr>
          <a:lstStyle/>
          <a:p>
            <a:pPr indent="0" lvl="0" marL="0" marR="0" rtl="0" algn="l">
              <a:lnSpc>
                <a:spcPct val="132353"/>
              </a:lnSpc>
              <a:spcBef>
                <a:spcPts val="0"/>
              </a:spcBef>
              <a:spcAft>
                <a:spcPts val="0"/>
              </a:spcAft>
              <a:buClr>
                <a:srgbClr val="16212B"/>
              </a:buClr>
              <a:buSzPts val="2250"/>
              <a:buFont typeface="Arial"/>
              <a:buNone/>
            </a:pPr>
            <a:r>
              <a:rPr lang="en-US" sz="2250">
                <a:solidFill>
                  <a:srgbClr val="16212B"/>
                </a:solidFill>
                <a:latin typeface="Arial"/>
                <a:ea typeface="Arial"/>
                <a:cs typeface="Arial"/>
                <a:sym typeface="Arial"/>
              </a:rPr>
              <a:t>Le coût d'un faux négatif (fraude non détectée) ≠ coût d'un faux positif (client légitime bloqué).</a:t>
            </a:r>
            <a:endParaRPr sz="2250">
              <a:solidFill>
                <a:schemeClr val="dk1"/>
              </a:solidFill>
              <a:latin typeface="Calibri"/>
              <a:ea typeface="Calibri"/>
              <a:cs typeface="Calibri"/>
              <a:sym typeface="Calibri"/>
            </a:endParaRPr>
          </a:p>
        </p:txBody>
      </p:sp>
      <p:sp>
        <p:nvSpPr>
          <p:cNvPr id="74" name="Google Shape;74;p5"/>
          <p:cNvSpPr/>
          <p:nvPr/>
        </p:nvSpPr>
        <p:spPr>
          <a:xfrm>
            <a:off x="1047750" y="7500938"/>
            <a:ext cx="8395396" cy="1323975"/>
          </a:xfrm>
          <a:prstGeom prst="rect">
            <a:avLst/>
          </a:prstGeom>
          <a:noFill/>
          <a:ln>
            <a:noFill/>
          </a:ln>
        </p:spPr>
        <p:txBody>
          <a:bodyPr anchorCtr="0" anchor="t" bIns="25400" lIns="25400" spcFirstLastPara="1" rIns="25400" wrap="square" tIns="25400">
            <a:noAutofit/>
          </a:bodyPr>
          <a:lstStyle/>
          <a:p>
            <a:pPr indent="0" lvl="0" marL="0" marR="0" rtl="0" algn="l">
              <a:lnSpc>
                <a:spcPct val="132353"/>
              </a:lnSpc>
              <a:spcBef>
                <a:spcPts val="0"/>
              </a:spcBef>
              <a:spcAft>
                <a:spcPts val="0"/>
              </a:spcAft>
              <a:buClr>
                <a:srgbClr val="16212B"/>
              </a:buClr>
              <a:buSzPts val="2250"/>
              <a:buFont typeface="Arial"/>
              <a:buNone/>
            </a:pPr>
            <a:r>
              <a:rPr lang="en-US" sz="2250">
                <a:solidFill>
                  <a:srgbClr val="16212B"/>
                </a:solidFill>
                <a:latin typeface="Arial"/>
                <a:ea typeface="Arial"/>
                <a:cs typeface="Arial"/>
                <a:sym typeface="Arial"/>
              </a:rPr>
              <a:t>Objectif du module : ne pas se limiter à un modèle, mais construire un </a:t>
            </a:r>
            <a:r>
              <a:rPr b="1" lang="en-US" sz="2250">
                <a:solidFill>
                  <a:srgbClr val="0B7A6F"/>
                </a:solidFill>
                <a:latin typeface="Arial"/>
                <a:ea typeface="Arial"/>
                <a:cs typeface="Arial"/>
                <a:sym typeface="Arial"/>
              </a:rPr>
              <a:t>système </a:t>
            </a:r>
            <a:r>
              <a:rPr lang="en-US" sz="2250">
                <a:solidFill>
                  <a:srgbClr val="16212B"/>
                </a:solidFill>
                <a:latin typeface="Arial"/>
                <a:ea typeface="Arial"/>
                <a:cs typeface="Arial"/>
                <a:sym typeface="Arial"/>
              </a:rPr>
              <a:t>complet — reproductible, traçable, testé à chaque étape.</a:t>
            </a:r>
            <a:endParaRPr sz="2250">
              <a:solidFill>
                <a:schemeClr val="dk1"/>
              </a:solidFill>
              <a:latin typeface="Calibri"/>
              <a:ea typeface="Calibri"/>
              <a:cs typeface="Calibri"/>
              <a:sym typeface="Calibri"/>
            </a:endParaRPr>
          </a:p>
        </p:txBody>
      </p:sp>
      <p:sp>
        <p:nvSpPr>
          <p:cNvPr id="75" name="Google Shape;75;p5"/>
          <p:cNvSpPr/>
          <p:nvPr/>
        </p:nvSpPr>
        <p:spPr>
          <a:xfrm>
            <a:off x="9865370" y="4214813"/>
            <a:ext cx="7374731" cy="3505200"/>
          </a:xfrm>
          <a:prstGeom prst="roundRect">
            <a:avLst>
              <a:gd fmla="val 5435" name="adj"/>
            </a:avLst>
          </a:prstGeom>
          <a:solidFill>
            <a:srgbClr val="F5F7FA"/>
          </a:solidFill>
          <a:ln cap="flat" cmpd="sng" w="9525">
            <a:solidFill>
              <a:srgbClr val="E2E6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 name="Google Shape;76;p5"/>
          <p:cNvSpPr/>
          <p:nvPr/>
        </p:nvSpPr>
        <p:spPr>
          <a:xfrm>
            <a:off x="10255895" y="4643438"/>
            <a:ext cx="7253049"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5B6B80"/>
              </a:buClr>
              <a:buSzPts val="1800"/>
              <a:buFont typeface="Arial"/>
              <a:buNone/>
            </a:pPr>
            <a:r>
              <a:rPr lang="en-US" sz="1800">
                <a:solidFill>
                  <a:srgbClr val="5B6B80"/>
                </a:solidFill>
                <a:latin typeface="Arial"/>
                <a:ea typeface="Arial"/>
                <a:cs typeface="Arial"/>
                <a:sym typeface="Arial"/>
              </a:rPr>
              <a:t>Répartition des transactions</a:t>
            </a:r>
            <a:endParaRPr sz="1800">
              <a:solidFill>
                <a:schemeClr val="dk1"/>
              </a:solidFill>
              <a:latin typeface="Calibri"/>
              <a:ea typeface="Calibri"/>
              <a:cs typeface="Calibri"/>
              <a:sym typeface="Calibri"/>
            </a:endParaRPr>
          </a:p>
        </p:txBody>
      </p:sp>
      <p:sp>
        <p:nvSpPr>
          <p:cNvPr id="77" name="Google Shape;77;p5"/>
          <p:cNvSpPr/>
          <p:nvPr/>
        </p:nvSpPr>
        <p:spPr>
          <a:xfrm>
            <a:off x="10255895" y="5119688"/>
            <a:ext cx="1054596"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1800"/>
              <a:buFont typeface="Arial"/>
              <a:buNone/>
            </a:pPr>
            <a:r>
              <a:rPr lang="en-US" sz="1800">
                <a:solidFill>
                  <a:srgbClr val="16212B"/>
                </a:solidFill>
                <a:latin typeface="Arial"/>
                <a:ea typeface="Arial"/>
                <a:cs typeface="Arial"/>
                <a:sym typeface="Arial"/>
              </a:rPr>
              <a:t>Légitimes</a:t>
            </a:r>
            <a:endParaRPr sz="1800">
              <a:solidFill>
                <a:schemeClr val="dk1"/>
              </a:solidFill>
              <a:latin typeface="Calibri"/>
              <a:ea typeface="Calibri"/>
              <a:cs typeface="Calibri"/>
              <a:sym typeface="Calibri"/>
            </a:endParaRPr>
          </a:p>
        </p:txBody>
      </p:sp>
      <p:sp>
        <p:nvSpPr>
          <p:cNvPr id="78" name="Google Shape;78;p5"/>
          <p:cNvSpPr/>
          <p:nvPr/>
        </p:nvSpPr>
        <p:spPr>
          <a:xfrm>
            <a:off x="15889337" y="5119688"/>
            <a:ext cx="1036439"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1800"/>
              <a:buFont typeface="Courier New"/>
              <a:buNone/>
            </a:pPr>
            <a:r>
              <a:rPr lang="en-US" sz="1800">
                <a:solidFill>
                  <a:srgbClr val="16212B"/>
                </a:solidFill>
                <a:latin typeface="Courier New"/>
                <a:ea typeface="Courier New"/>
                <a:cs typeface="Courier New"/>
                <a:sym typeface="Courier New"/>
              </a:rPr>
              <a:t>284 315</a:t>
            </a:r>
            <a:endParaRPr sz="1800">
              <a:solidFill>
                <a:schemeClr val="dk1"/>
              </a:solidFill>
              <a:latin typeface="Calibri"/>
              <a:ea typeface="Calibri"/>
              <a:cs typeface="Calibri"/>
              <a:sym typeface="Calibri"/>
            </a:endParaRPr>
          </a:p>
        </p:txBody>
      </p:sp>
      <p:sp>
        <p:nvSpPr>
          <p:cNvPr id="79" name="Google Shape;79;p5"/>
          <p:cNvSpPr/>
          <p:nvPr/>
        </p:nvSpPr>
        <p:spPr>
          <a:xfrm>
            <a:off x="10255895" y="5491163"/>
            <a:ext cx="6593681" cy="342900"/>
          </a:xfrm>
          <a:prstGeom prst="roundRect">
            <a:avLst>
              <a:gd fmla="val 22222" name="adj"/>
            </a:avLst>
          </a:prstGeom>
          <a:solidFill>
            <a:srgbClr val="E2E6E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 name="Google Shape;80;p5"/>
          <p:cNvSpPr/>
          <p:nvPr/>
        </p:nvSpPr>
        <p:spPr>
          <a:xfrm>
            <a:off x="10255895" y="5491163"/>
            <a:ext cx="6593681" cy="342900"/>
          </a:xfrm>
          <a:prstGeom prst="rect">
            <a:avLst/>
          </a:prstGeom>
          <a:solidFill>
            <a:srgbClr val="0B7A6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 name="Google Shape;81;p5"/>
          <p:cNvSpPr/>
          <p:nvPr/>
        </p:nvSpPr>
        <p:spPr>
          <a:xfrm>
            <a:off x="10255895" y="6081713"/>
            <a:ext cx="914846"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1800"/>
              <a:buFont typeface="Arial"/>
              <a:buNone/>
            </a:pPr>
            <a:r>
              <a:rPr lang="en-US" sz="1800">
                <a:solidFill>
                  <a:srgbClr val="16212B"/>
                </a:solidFill>
                <a:latin typeface="Arial"/>
                <a:ea typeface="Arial"/>
                <a:cs typeface="Arial"/>
                <a:sym typeface="Arial"/>
              </a:rPr>
              <a:t>Fraudes</a:t>
            </a:r>
            <a:endParaRPr sz="1800">
              <a:solidFill>
                <a:schemeClr val="dk1"/>
              </a:solidFill>
              <a:latin typeface="Calibri"/>
              <a:ea typeface="Calibri"/>
              <a:cs typeface="Calibri"/>
              <a:sym typeface="Calibri"/>
            </a:endParaRPr>
          </a:p>
        </p:txBody>
      </p:sp>
      <p:sp>
        <p:nvSpPr>
          <p:cNvPr id="82" name="Google Shape;82;p5"/>
          <p:cNvSpPr/>
          <p:nvPr/>
        </p:nvSpPr>
        <p:spPr>
          <a:xfrm>
            <a:off x="16438066" y="6081713"/>
            <a:ext cx="487710"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1800"/>
              <a:buFont typeface="Courier New"/>
              <a:buNone/>
            </a:pPr>
            <a:r>
              <a:rPr lang="en-US" sz="1800">
                <a:solidFill>
                  <a:srgbClr val="16212B"/>
                </a:solidFill>
                <a:latin typeface="Courier New"/>
                <a:ea typeface="Courier New"/>
                <a:cs typeface="Courier New"/>
                <a:sym typeface="Courier New"/>
              </a:rPr>
              <a:t>492</a:t>
            </a:r>
            <a:endParaRPr sz="1800">
              <a:solidFill>
                <a:schemeClr val="dk1"/>
              </a:solidFill>
              <a:latin typeface="Calibri"/>
              <a:ea typeface="Calibri"/>
              <a:cs typeface="Calibri"/>
              <a:sym typeface="Calibri"/>
            </a:endParaRPr>
          </a:p>
        </p:txBody>
      </p:sp>
      <p:sp>
        <p:nvSpPr>
          <p:cNvPr id="83" name="Google Shape;83;p5"/>
          <p:cNvSpPr/>
          <p:nvPr/>
        </p:nvSpPr>
        <p:spPr>
          <a:xfrm>
            <a:off x="10255895" y="6453188"/>
            <a:ext cx="6593681" cy="342900"/>
          </a:xfrm>
          <a:prstGeom prst="roundRect">
            <a:avLst>
              <a:gd fmla="val 22222" name="adj"/>
            </a:avLst>
          </a:prstGeom>
          <a:solidFill>
            <a:srgbClr val="E2E6E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 name="Google Shape;84;p5"/>
          <p:cNvSpPr/>
          <p:nvPr/>
        </p:nvSpPr>
        <p:spPr>
          <a:xfrm>
            <a:off x="10255895" y="6453188"/>
            <a:ext cx="57150" cy="342900"/>
          </a:xfrm>
          <a:prstGeom prst="rect">
            <a:avLst/>
          </a:prstGeom>
          <a:solidFill>
            <a:srgbClr val="C2570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 name="Google Shape;85;p5"/>
          <p:cNvSpPr/>
          <p:nvPr/>
        </p:nvSpPr>
        <p:spPr>
          <a:xfrm>
            <a:off x="10255895" y="7024688"/>
            <a:ext cx="7253049"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5B6B80"/>
              </a:buClr>
              <a:buSzPts val="1800"/>
              <a:buFont typeface="Arial"/>
              <a:buNone/>
            </a:pPr>
            <a:r>
              <a:rPr lang="en-US" sz="1800">
                <a:solidFill>
                  <a:srgbClr val="5B6B80"/>
                </a:solidFill>
                <a:latin typeface="Arial"/>
                <a:ea typeface="Arial"/>
                <a:cs typeface="Arial"/>
                <a:sym typeface="Arial"/>
              </a:rPr>
              <a:t>Déséquilibre extrême — 1 fraude pour ~579 transactions.</a:t>
            </a:r>
            <a:endParaRPr sz="1800">
              <a:solidFill>
                <a:schemeClr val="dk1"/>
              </a:solidFill>
              <a:latin typeface="Calibri"/>
              <a:ea typeface="Calibri"/>
              <a:cs typeface="Calibri"/>
              <a:sym typeface="Calibri"/>
            </a:endParaRPr>
          </a:p>
        </p:txBody>
      </p:sp>
      <p:sp>
        <p:nvSpPr>
          <p:cNvPr id="86" name="Google Shape;86;p5"/>
          <p:cNvSpPr/>
          <p:nvPr/>
        </p:nvSpPr>
        <p:spPr>
          <a:xfrm>
            <a:off x="16504920" y="9648825"/>
            <a:ext cx="809244"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5B6B80"/>
              </a:buClr>
              <a:buSzPts val="1800"/>
              <a:buFont typeface="Courier New"/>
              <a:buNone/>
            </a:pPr>
            <a:r>
              <a:rPr lang="en-US" sz="1800">
                <a:solidFill>
                  <a:srgbClr val="5B6B80"/>
                </a:solidFill>
                <a:latin typeface="Courier New"/>
                <a:ea typeface="Courier New"/>
                <a:cs typeface="Courier New"/>
                <a:sym typeface="Courier New"/>
              </a:rPr>
              <a:t>3/41</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 name="Shape 91"/>
        <p:cNvGrpSpPr/>
        <p:nvPr/>
      </p:nvGrpSpPr>
      <p:grpSpPr>
        <a:xfrm>
          <a:off x="0" y="0"/>
          <a:ext cx="0" cy="0"/>
          <a:chOff x="0" y="0"/>
          <a:chExt cx="0" cy="0"/>
        </a:xfrm>
      </p:grpSpPr>
      <p:sp>
        <p:nvSpPr>
          <p:cNvPr id="92" name="Google Shape;92;p6"/>
          <p:cNvSpPr/>
          <p:nvPr/>
        </p:nvSpPr>
        <p:spPr>
          <a:xfrm>
            <a:off x="1047750" y="914400"/>
            <a:ext cx="17811750"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1950"/>
              <a:buFont typeface="Courier New"/>
              <a:buNone/>
            </a:pPr>
            <a:r>
              <a:rPr b="1" lang="en-US" sz="1950">
                <a:solidFill>
                  <a:srgbClr val="0B7A6F"/>
                </a:solidFill>
                <a:latin typeface="Courier New"/>
                <a:ea typeface="Courier New"/>
                <a:cs typeface="Courier New"/>
                <a:sym typeface="Courier New"/>
              </a:rPr>
              <a:t>CHAPITRE 1 — §2</a:t>
            </a:r>
            <a:endParaRPr sz="1950">
              <a:solidFill>
                <a:schemeClr val="dk1"/>
              </a:solidFill>
              <a:latin typeface="Calibri"/>
              <a:ea typeface="Calibri"/>
              <a:cs typeface="Calibri"/>
              <a:sym typeface="Calibri"/>
            </a:endParaRPr>
          </a:p>
        </p:txBody>
      </p:sp>
      <p:sp>
        <p:nvSpPr>
          <p:cNvPr id="93" name="Google Shape;93;p6"/>
          <p:cNvSpPr/>
          <p:nvPr/>
        </p:nvSpPr>
        <p:spPr>
          <a:xfrm>
            <a:off x="1047750" y="1419225"/>
            <a:ext cx="17811750" cy="5524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3450"/>
              <a:buFont typeface="Arial"/>
              <a:buNone/>
            </a:pPr>
            <a:r>
              <a:rPr b="1" lang="en-US" sz="3450">
                <a:solidFill>
                  <a:srgbClr val="16212B"/>
                </a:solidFill>
                <a:latin typeface="Arial"/>
                <a:ea typeface="Arial"/>
                <a:cs typeface="Arial"/>
                <a:sym typeface="Arial"/>
              </a:rPr>
              <a:t>Objectifs du projet</a:t>
            </a:r>
            <a:endParaRPr sz="3450">
              <a:solidFill>
                <a:schemeClr val="dk1"/>
              </a:solidFill>
              <a:latin typeface="Calibri"/>
              <a:ea typeface="Calibri"/>
              <a:cs typeface="Calibri"/>
              <a:sym typeface="Calibri"/>
            </a:endParaRPr>
          </a:p>
        </p:txBody>
      </p:sp>
      <p:sp>
        <p:nvSpPr>
          <p:cNvPr id="94" name="Google Shape;94;p6"/>
          <p:cNvSpPr/>
          <p:nvPr/>
        </p:nvSpPr>
        <p:spPr>
          <a:xfrm>
            <a:off x="1047750" y="4327624"/>
            <a:ext cx="381000" cy="78462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2400"/>
              <a:buFont typeface="Arial"/>
              <a:buNone/>
            </a:pPr>
            <a:r>
              <a:rPr lang="en-US" sz="2400">
                <a:solidFill>
                  <a:srgbClr val="0B7A6F"/>
                </a:solidFill>
                <a:latin typeface="Arial"/>
                <a:ea typeface="Arial"/>
                <a:cs typeface="Arial"/>
                <a:sym typeface="Arial"/>
              </a:rPr>
              <a:t>—</a:t>
            </a:r>
            <a:endParaRPr sz="2400">
              <a:solidFill>
                <a:schemeClr val="dk1"/>
              </a:solidFill>
              <a:latin typeface="Calibri"/>
              <a:ea typeface="Calibri"/>
              <a:cs typeface="Calibri"/>
              <a:sym typeface="Calibri"/>
            </a:endParaRPr>
          </a:p>
        </p:txBody>
      </p:sp>
      <p:sp>
        <p:nvSpPr>
          <p:cNvPr id="95" name="Google Shape;95;p6"/>
          <p:cNvSpPr/>
          <p:nvPr/>
        </p:nvSpPr>
        <p:spPr>
          <a:xfrm>
            <a:off x="1543050" y="4327624"/>
            <a:ext cx="7534656" cy="784622"/>
          </a:xfrm>
          <a:prstGeom prst="rect">
            <a:avLst/>
          </a:prstGeom>
          <a:noFill/>
          <a:ln>
            <a:noFill/>
          </a:ln>
        </p:spPr>
        <p:txBody>
          <a:bodyPr anchorCtr="0" anchor="t" bIns="25400" lIns="25400" spcFirstLastPara="1" rIns="25400" wrap="square" tIns="25400">
            <a:noAutofit/>
          </a:bodyPr>
          <a:lstStyle/>
          <a:p>
            <a:pPr indent="0" lvl="0" marL="0" marR="0" rtl="0" algn="l">
              <a:lnSpc>
                <a:spcPct val="122500"/>
              </a:lnSpc>
              <a:spcBef>
                <a:spcPts val="0"/>
              </a:spcBef>
              <a:spcAft>
                <a:spcPts val="0"/>
              </a:spcAft>
              <a:buClr>
                <a:srgbClr val="16212B"/>
              </a:buClr>
              <a:buSzPts val="2100"/>
              <a:buFont typeface="Arial"/>
              <a:buNone/>
            </a:pPr>
            <a:r>
              <a:rPr lang="en-US" sz="2100">
                <a:solidFill>
                  <a:srgbClr val="16212B"/>
                </a:solidFill>
                <a:latin typeface="Arial"/>
                <a:ea typeface="Arial"/>
                <a:cs typeface="Arial"/>
                <a:sym typeface="Arial"/>
              </a:rPr>
              <a:t>Pipeline d’ingestion et de transformation automatisé et versionné (dlt, DuckDB, dbt) ; données versionnées avec DVC sur MinIO.</a:t>
            </a:r>
            <a:endParaRPr/>
          </a:p>
        </p:txBody>
      </p:sp>
      <p:sp>
        <p:nvSpPr>
          <p:cNvPr id="96" name="Google Shape;96;p6"/>
          <p:cNvSpPr/>
          <p:nvPr/>
        </p:nvSpPr>
        <p:spPr>
          <a:xfrm>
            <a:off x="9429750" y="4327624"/>
            <a:ext cx="381000" cy="78462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2400"/>
              <a:buFont typeface="Arial"/>
              <a:buNone/>
            </a:pPr>
            <a:r>
              <a:rPr lang="en-US" sz="2400">
                <a:solidFill>
                  <a:srgbClr val="0B7A6F"/>
                </a:solidFill>
                <a:latin typeface="Arial"/>
                <a:ea typeface="Arial"/>
                <a:cs typeface="Arial"/>
                <a:sym typeface="Arial"/>
              </a:rPr>
              <a:t>—</a:t>
            </a:r>
            <a:endParaRPr sz="2400">
              <a:solidFill>
                <a:schemeClr val="dk1"/>
              </a:solidFill>
              <a:latin typeface="Calibri"/>
              <a:ea typeface="Calibri"/>
              <a:cs typeface="Calibri"/>
              <a:sym typeface="Calibri"/>
            </a:endParaRPr>
          </a:p>
        </p:txBody>
      </p:sp>
      <p:sp>
        <p:nvSpPr>
          <p:cNvPr id="97" name="Google Shape;97;p6"/>
          <p:cNvSpPr/>
          <p:nvPr/>
        </p:nvSpPr>
        <p:spPr>
          <a:xfrm>
            <a:off x="9925050" y="4327624"/>
            <a:ext cx="7534656" cy="784622"/>
          </a:xfrm>
          <a:prstGeom prst="rect">
            <a:avLst/>
          </a:prstGeom>
          <a:noFill/>
          <a:ln>
            <a:noFill/>
          </a:ln>
        </p:spPr>
        <p:txBody>
          <a:bodyPr anchorCtr="0" anchor="t" bIns="25400" lIns="25400" spcFirstLastPara="1" rIns="25400" wrap="square" tIns="25400">
            <a:noAutofit/>
          </a:bodyPr>
          <a:lstStyle/>
          <a:p>
            <a:pPr indent="0" lvl="0" marL="0" marR="0" rtl="0" algn="l">
              <a:lnSpc>
                <a:spcPct val="122500"/>
              </a:lnSpc>
              <a:spcBef>
                <a:spcPts val="0"/>
              </a:spcBef>
              <a:spcAft>
                <a:spcPts val="0"/>
              </a:spcAft>
              <a:buClr>
                <a:srgbClr val="16212B"/>
              </a:buClr>
              <a:buSzPts val="2100"/>
              <a:buFont typeface="Arial"/>
              <a:buNone/>
            </a:pPr>
            <a:r>
              <a:rPr lang="en-US" sz="2100">
                <a:solidFill>
                  <a:srgbClr val="16212B"/>
                </a:solidFill>
                <a:latin typeface="Arial"/>
                <a:ea typeface="Arial"/>
                <a:cs typeface="Arial"/>
                <a:sym typeface="Arial"/>
              </a:rPr>
              <a:t>Traçabilité des expériences et cycle de vie du modèle géré avec MLflow.</a:t>
            </a:r>
            <a:endParaRPr sz="2100">
              <a:solidFill>
                <a:schemeClr val="dk1"/>
              </a:solidFill>
              <a:latin typeface="Calibri"/>
              <a:ea typeface="Calibri"/>
              <a:cs typeface="Calibri"/>
              <a:sym typeface="Calibri"/>
            </a:endParaRPr>
          </a:p>
        </p:txBody>
      </p:sp>
      <p:sp>
        <p:nvSpPr>
          <p:cNvPr id="98" name="Google Shape;98;p6"/>
          <p:cNvSpPr/>
          <p:nvPr/>
        </p:nvSpPr>
        <p:spPr>
          <a:xfrm>
            <a:off x="1047750" y="5302746"/>
            <a:ext cx="381000" cy="78462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2400"/>
              <a:buFont typeface="Arial"/>
              <a:buNone/>
            </a:pPr>
            <a:r>
              <a:rPr lang="en-US" sz="2400">
                <a:solidFill>
                  <a:srgbClr val="0B7A6F"/>
                </a:solidFill>
                <a:latin typeface="Arial"/>
                <a:ea typeface="Arial"/>
                <a:cs typeface="Arial"/>
                <a:sym typeface="Arial"/>
              </a:rPr>
              <a:t>—</a:t>
            </a:r>
            <a:endParaRPr sz="2400">
              <a:solidFill>
                <a:schemeClr val="dk1"/>
              </a:solidFill>
              <a:latin typeface="Calibri"/>
              <a:ea typeface="Calibri"/>
              <a:cs typeface="Calibri"/>
              <a:sym typeface="Calibri"/>
            </a:endParaRPr>
          </a:p>
        </p:txBody>
      </p:sp>
      <p:sp>
        <p:nvSpPr>
          <p:cNvPr id="99" name="Google Shape;99;p6"/>
          <p:cNvSpPr/>
          <p:nvPr/>
        </p:nvSpPr>
        <p:spPr>
          <a:xfrm>
            <a:off x="1543050" y="5302746"/>
            <a:ext cx="7534656" cy="784622"/>
          </a:xfrm>
          <a:prstGeom prst="rect">
            <a:avLst/>
          </a:prstGeom>
          <a:noFill/>
          <a:ln>
            <a:noFill/>
          </a:ln>
        </p:spPr>
        <p:txBody>
          <a:bodyPr anchorCtr="0" anchor="t" bIns="25400" lIns="25400" spcFirstLastPara="1" rIns="25400" wrap="square" tIns="25400">
            <a:noAutofit/>
          </a:bodyPr>
          <a:lstStyle/>
          <a:p>
            <a:pPr indent="0" lvl="0" marL="0" marR="0" rtl="0" algn="l">
              <a:lnSpc>
                <a:spcPct val="122500"/>
              </a:lnSpc>
              <a:spcBef>
                <a:spcPts val="0"/>
              </a:spcBef>
              <a:spcAft>
                <a:spcPts val="0"/>
              </a:spcAft>
              <a:buClr>
                <a:srgbClr val="16212B"/>
              </a:buClr>
              <a:buSzPts val="2100"/>
              <a:buFont typeface="Arial"/>
              <a:buNone/>
            </a:pPr>
            <a:r>
              <a:rPr lang="en-US" sz="2100">
                <a:solidFill>
                  <a:srgbClr val="16212B"/>
                </a:solidFill>
                <a:latin typeface="Arial"/>
                <a:ea typeface="Arial"/>
                <a:cs typeface="Arial"/>
                <a:sym typeface="Arial"/>
              </a:rPr>
              <a:t>Qualité des données garantie par des tests systématiques adossés à un Data Contract.</a:t>
            </a:r>
            <a:endParaRPr sz="2100">
              <a:solidFill>
                <a:schemeClr val="dk1"/>
              </a:solidFill>
              <a:latin typeface="Calibri"/>
              <a:ea typeface="Calibri"/>
              <a:cs typeface="Calibri"/>
              <a:sym typeface="Calibri"/>
            </a:endParaRPr>
          </a:p>
        </p:txBody>
      </p:sp>
      <p:sp>
        <p:nvSpPr>
          <p:cNvPr id="100" name="Google Shape;100;p6"/>
          <p:cNvSpPr/>
          <p:nvPr/>
        </p:nvSpPr>
        <p:spPr>
          <a:xfrm>
            <a:off x="9429750" y="5302746"/>
            <a:ext cx="381000" cy="78462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2400"/>
              <a:buFont typeface="Arial"/>
              <a:buNone/>
            </a:pPr>
            <a:r>
              <a:rPr lang="en-US" sz="2400">
                <a:solidFill>
                  <a:srgbClr val="0B7A6F"/>
                </a:solidFill>
                <a:latin typeface="Arial"/>
                <a:ea typeface="Arial"/>
                <a:cs typeface="Arial"/>
                <a:sym typeface="Arial"/>
              </a:rPr>
              <a:t>—</a:t>
            </a:r>
            <a:endParaRPr sz="2400">
              <a:solidFill>
                <a:schemeClr val="dk1"/>
              </a:solidFill>
              <a:latin typeface="Calibri"/>
              <a:ea typeface="Calibri"/>
              <a:cs typeface="Calibri"/>
              <a:sym typeface="Calibri"/>
            </a:endParaRPr>
          </a:p>
        </p:txBody>
      </p:sp>
      <p:sp>
        <p:nvSpPr>
          <p:cNvPr id="101" name="Google Shape;101;p6"/>
          <p:cNvSpPr/>
          <p:nvPr/>
        </p:nvSpPr>
        <p:spPr>
          <a:xfrm>
            <a:off x="9925050" y="5302746"/>
            <a:ext cx="7534656" cy="784622"/>
          </a:xfrm>
          <a:prstGeom prst="rect">
            <a:avLst/>
          </a:prstGeom>
          <a:noFill/>
          <a:ln>
            <a:noFill/>
          </a:ln>
        </p:spPr>
        <p:txBody>
          <a:bodyPr anchorCtr="0" anchor="t" bIns="25400" lIns="25400" spcFirstLastPara="1" rIns="25400" wrap="square" tIns="25400">
            <a:noAutofit/>
          </a:bodyPr>
          <a:lstStyle/>
          <a:p>
            <a:pPr indent="0" lvl="0" marL="0" marR="0" rtl="0" algn="l">
              <a:lnSpc>
                <a:spcPct val="122500"/>
              </a:lnSpc>
              <a:spcBef>
                <a:spcPts val="0"/>
              </a:spcBef>
              <a:spcAft>
                <a:spcPts val="0"/>
              </a:spcAft>
              <a:buClr>
                <a:srgbClr val="16212B"/>
              </a:buClr>
              <a:buSzPts val="2100"/>
              <a:buFont typeface="Arial"/>
              <a:buNone/>
            </a:pPr>
            <a:r>
              <a:rPr lang="en-US" sz="2100">
                <a:solidFill>
                  <a:srgbClr val="16212B"/>
                </a:solidFill>
                <a:latin typeface="Arial"/>
                <a:ea typeface="Arial"/>
                <a:cs typeface="Arial"/>
                <a:sym typeface="Arial"/>
              </a:rPr>
              <a:t>Déploiement du modèle retenu comme service API, conteneurisé avec Docker.</a:t>
            </a:r>
            <a:endParaRPr sz="2100">
              <a:solidFill>
                <a:schemeClr val="dk1"/>
              </a:solidFill>
              <a:latin typeface="Calibri"/>
              <a:ea typeface="Calibri"/>
              <a:cs typeface="Calibri"/>
              <a:sym typeface="Calibri"/>
            </a:endParaRPr>
          </a:p>
        </p:txBody>
      </p:sp>
      <p:sp>
        <p:nvSpPr>
          <p:cNvPr id="102" name="Google Shape;102;p6"/>
          <p:cNvSpPr/>
          <p:nvPr/>
        </p:nvSpPr>
        <p:spPr>
          <a:xfrm>
            <a:off x="1047750" y="6277868"/>
            <a:ext cx="381000" cy="411361"/>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2400"/>
              <a:buFont typeface="Arial"/>
              <a:buNone/>
            </a:pPr>
            <a:r>
              <a:rPr lang="en-US" sz="2400">
                <a:solidFill>
                  <a:srgbClr val="0B7A6F"/>
                </a:solidFill>
                <a:latin typeface="Arial"/>
                <a:ea typeface="Arial"/>
                <a:cs typeface="Arial"/>
                <a:sym typeface="Arial"/>
              </a:rPr>
              <a:t>—</a:t>
            </a:r>
            <a:endParaRPr sz="2400">
              <a:solidFill>
                <a:schemeClr val="dk1"/>
              </a:solidFill>
              <a:latin typeface="Calibri"/>
              <a:ea typeface="Calibri"/>
              <a:cs typeface="Calibri"/>
              <a:sym typeface="Calibri"/>
            </a:endParaRPr>
          </a:p>
        </p:txBody>
      </p:sp>
      <p:sp>
        <p:nvSpPr>
          <p:cNvPr id="103" name="Google Shape;103;p6"/>
          <p:cNvSpPr/>
          <p:nvPr/>
        </p:nvSpPr>
        <p:spPr>
          <a:xfrm>
            <a:off x="1543050" y="6277868"/>
            <a:ext cx="7019434" cy="411361"/>
          </a:xfrm>
          <a:prstGeom prst="rect">
            <a:avLst/>
          </a:prstGeom>
          <a:noFill/>
          <a:ln>
            <a:noFill/>
          </a:ln>
        </p:spPr>
        <p:txBody>
          <a:bodyPr anchorCtr="0" anchor="t" bIns="25400" lIns="25400" spcFirstLastPara="1" rIns="25400" wrap="square" tIns="25400">
            <a:noAutofit/>
          </a:bodyPr>
          <a:lstStyle/>
          <a:p>
            <a:pPr indent="0" lvl="0" marL="0" marR="0" rtl="0" algn="l">
              <a:lnSpc>
                <a:spcPct val="122500"/>
              </a:lnSpc>
              <a:spcBef>
                <a:spcPts val="0"/>
              </a:spcBef>
              <a:spcAft>
                <a:spcPts val="0"/>
              </a:spcAft>
              <a:buClr>
                <a:srgbClr val="16212B"/>
              </a:buClr>
              <a:buSzPts val="2100"/>
              <a:buFont typeface="Arial"/>
              <a:buNone/>
            </a:pPr>
            <a:r>
              <a:rPr lang="en-US" sz="2100">
                <a:solidFill>
                  <a:srgbClr val="16212B"/>
                </a:solidFill>
                <a:latin typeface="Arial"/>
                <a:ea typeface="Arial"/>
                <a:cs typeface="Arial"/>
                <a:sym typeface="Arial"/>
              </a:rPr>
              <a:t>Orchestration de l'ensemble du pipeline avec Dagster.</a:t>
            </a:r>
            <a:endParaRPr sz="2100">
              <a:solidFill>
                <a:schemeClr val="dk1"/>
              </a:solidFill>
              <a:latin typeface="Calibri"/>
              <a:ea typeface="Calibri"/>
              <a:cs typeface="Calibri"/>
              <a:sym typeface="Calibri"/>
            </a:endParaRPr>
          </a:p>
        </p:txBody>
      </p:sp>
      <p:sp>
        <p:nvSpPr>
          <p:cNvPr id="104" name="Google Shape;104;p6"/>
          <p:cNvSpPr/>
          <p:nvPr/>
        </p:nvSpPr>
        <p:spPr>
          <a:xfrm>
            <a:off x="9429750" y="6277868"/>
            <a:ext cx="381000" cy="411361"/>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2400"/>
              <a:buFont typeface="Arial"/>
              <a:buNone/>
            </a:pPr>
            <a:r>
              <a:rPr lang="en-US" sz="2400">
                <a:solidFill>
                  <a:srgbClr val="0B7A6F"/>
                </a:solidFill>
                <a:latin typeface="Arial"/>
                <a:ea typeface="Arial"/>
                <a:cs typeface="Arial"/>
                <a:sym typeface="Arial"/>
              </a:rPr>
              <a:t>—</a:t>
            </a:r>
            <a:endParaRPr sz="2400">
              <a:solidFill>
                <a:schemeClr val="dk1"/>
              </a:solidFill>
              <a:latin typeface="Calibri"/>
              <a:ea typeface="Calibri"/>
              <a:cs typeface="Calibri"/>
              <a:sym typeface="Calibri"/>
            </a:endParaRPr>
          </a:p>
        </p:txBody>
      </p:sp>
      <p:sp>
        <p:nvSpPr>
          <p:cNvPr id="105" name="Google Shape;105;p6"/>
          <p:cNvSpPr/>
          <p:nvPr/>
        </p:nvSpPr>
        <p:spPr>
          <a:xfrm>
            <a:off x="9925050" y="6277868"/>
            <a:ext cx="7386965" cy="411361"/>
          </a:xfrm>
          <a:prstGeom prst="rect">
            <a:avLst/>
          </a:prstGeom>
          <a:noFill/>
          <a:ln>
            <a:noFill/>
          </a:ln>
        </p:spPr>
        <p:txBody>
          <a:bodyPr anchorCtr="0" anchor="t" bIns="25400" lIns="25400" spcFirstLastPara="1" rIns="25400" wrap="square" tIns="25400">
            <a:noAutofit/>
          </a:bodyPr>
          <a:lstStyle/>
          <a:p>
            <a:pPr indent="0" lvl="0" marL="0" marR="0" rtl="0" algn="l">
              <a:lnSpc>
                <a:spcPct val="122500"/>
              </a:lnSpc>
              <a:spcBef>
                <a:spcPts val="0"/>
              </a:spcBef>
              <a:spcAft>
                <a:spcPts val="0"/>
              </a:spcAft>
              <a:buClr>
                <a:srgbClr val="16212B"/>
              </a:buClr>
              <a:buSzPts val="2100"/>
              <a:buFont typeface="Arial"/>
              <a:buNone/>
            </a:pPr>
            <a:r>
              <a:rPr lang="en-US" sz="2100">
                <a:solidFill>
                  <a:srgbClr val="16212B"/>
                </a:solidFill>
                <a:latin typeface="Arial"/>
                <a:ea typeface="Arial"/>
                <a:cs typeface="Arial"/>
                <a:sym typeface="Arial"/>
              </a:rPr>
              <a:t>CI/CD et entraînement continu automatisés.</a:t>
            </a:r>
            <a:endParaRPr/>
          </a:p>
        </p:txBody>
      </p:sp>
      <p:sp>
        <p:nvSpPr>
          <p:cNvPr id="106" name="Google Shape;106;p6"/>
          <p:cNvSpPr/>
          <p:nvPr/>
        </p:nvSpPr>
        <p:spPr>
          <a:xfrm>
            <a:off x="1047750" y="6879729"/>
            <a:ext cx="381000" cy="78462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2400"/>
              <a:buFont typeface="Arial"/>
              <a:buNone/>
            </a:pPr>
            <a:r>
              <a:rPr lang="en-US" sz="2400">
                <a:solidFill>
                  <a:srgbClr val="0B7A6F"/>
                </a:solidFill>
                <a:latin typeface="Arial"/>
                <a:ea typeface="Arial"/>
                <a:cs typeface="Arial"/>
                <a:sym typeface="Arial"/>
              </a:rPr>
              <a:t>—</a:t>
            </a:r>
            <a:endParaRPr sz="2400">
              <a:solidFill>
                <a:schemeClr val="dk1"/>
              </a:solidFill>
              <a:latin typeface="Calibri"/>
              <a:ea typeface="Calibri"/>
              <a:cs typeface="Calibri"/>
              <a:sym typeface="Calibri"/>
            </a:endParaRPr>
          </a:p>
        </p:txBody>
      </p:sp>
      <p:sp>
        <p:nvSpPr>
          <p:cNvPr id="107" name="Google Shape;107;p6"/>
          <p:cNvSpPr/>
          <p:nvPr/>
        </p:nvSpPr>
        <p:spPr>
          <a:xfrm>
            <a:off x="1543050" y="6879729"/>
            <a:ext cx="7534656" cy="784622"/>
          </a:xfrm>
          <a:prstGeom prst="rect">
            <a:avLst/>
          </a:prstGeom>
          <a:noFill/>
          <a:ln>
            <a:noFill/>
          </a:ln>
        </p:spPr>
        <p:txBody>
          <a:bodyPr anchorCtr="0" anchor="t" bIns="25400" lIns="25400" spcFirstLastPara="1" rIns="25400" wrap="square" tIns="25400">
            <a:noAutofit/>
          </a:bodyPr>
          <a:lstStyle/>
          <a:p>
            <a:pPr indent="0" lvl="0" marL="0" marR="0" rtl="0" algn="l">
              <a:lnSpc>
                <a:spcPct val="122500"/>
              </a:lnSpc>
              <a:spcBef>
                <a:spcPts val="0"/>
              </a:spcBef>
              <a:spcAft>
                <a:spcPts val="0"/>
              </a:spcAft>
              <a:buClr>
                <a:srgbClr val="16212B"/>
              </a:buClr>
              <a:buSzPts val="2100"/>
              <a:buFont typeface="Arial"/>
              <a:buNone/>
            </a:pPr>
            <a:r>
              <a:rPr lang="en-US" sz="2100">
                <a:solidFill>
                  <a:srgbClr val="16212B"/>
                </a:solidFill>
                <a:latin typeface="Arial"/>
                <a:ea typeface="Arial"/>
                <a:cs typeface="Arial"/>
                <a:sym typeface="Arial"/>
              </a:rPr>
              <a:t>Entraînement, évaluation et comparaison de plusieurs modèles adaptés au déséquilibre de classes.</a:t>
            </a:r>
            <a:endParaRPr sz="2100">
              <a:solidFill>
                <a:schemeClr val="dk1"/>
              </a:solidFill>
              <a:latin typeface="Calibri"/>
              <a:ea typeface="Calibri"/>
              <a:cs typeface="Calibri"/>
              <a:sym typeface="Calibri"/>
            </a:endParaRPr>
          </a:p>
        </p:txBody>
      </p:sp>
      <p:sp>
        <p:nvSpPr>
          <p:cNvPr id="108" name="Google Shape;108;p6"/>
          <p:cNvSpPr/>
          <p:nvPr/>
        </p:nvSpPr>
        <p:spPr>
          <a:xfrm>
            <a:off x="9429750" y="6879729"/>
            <a:ext cx="381000" cy="78462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2400"/>
              <a:buFont typeface="Arial"/>
              <a:buNone/>
            </a:pPr>
            <a:r>
              <a:rPr lang="en-US" sz="2400">
                <a:solidFill>
                  <a:srgbClr val="0B7A6F"/>
                </a:solidFill>
                <a:latin typeface="Arial"/>
                <a:ea typeface="Arial"/>
                <a:cs typeface="Arial"/>
                <a:sym typeface="Arial"/>
              </a:rPr>
              <a:t>—</a:t>
            </a:r>
            <a:endParaRPr sz="2400">
              <a:solidFill>
                <a:schemeClr val="dk1"/>
              </a:solidFill>
              <a:latin typeface="Calibri"/>
              <a:ea typeface="Calibri"/>
              <a:cs typeface="Calibri"/>
              <a:sym typeface="Calibri"/>
            </a:endParaRPr>
          </a:p>
        </p:txBody>
      </p:sp>
      <p:sp>
        <p:nvSpPr>
          <p:cNvPr id="109" name="Google Shape;109;p6"/>
          <p:cNvSpPr/>
          <p:nvPr/>
        </p:nvSpPr>
        <p:spPr>
          <a:xfrm>
            <a:off x="9925050" y="6879729"/>
            <a:ext cx="7534656" cy="784622"/>
          </a:xfrm>
          <a:prstGeom prst="rect">
            <a:avLst/>
          </a:prstGeom>
          <a:noFill/>
          <a:ln>
            <a:noFill/>
          </a:ln>
        </p:spPr>
        <p:txBody>
          <a:bodyPr anchorCtr="0" anchor="t" bIns="25400" lIns="25400" spcFirstLastPara="1" rIns="25400" wrap="square" tIns="25400">
            <a:noAutofit/>
          </a:bodyPr>
          <a:lstStyle/>
          <a:p>
            <a:pPr indent="0" lvl="0" marL="0" marR="0" rtl="0" algn="l">
              <a:lnSpc>
                <a:spcPct val="122500"/>
              </a:lnSpc>
              <a:spcBef>
                <a:spcPts val="0"/>
              </a:spcBef>
              <a:spcAft>
                <a:spcPts val="0"/>
              </a:spcAft>
              <a:buClr>
                <a:srgbClr val="16212B"/>
              </a:buClr>
              <a:buSzPts val="2100"/>
              <a:buFont typeface="Arial"/>
              <a:buNone/>
            </a:pPr>
            <a:r>
              <a:rPr lang="en-US" sz="2100">
                <a:solidFill>
                  <a:srgbClr val="16212B"/>
                </a:solidFill>
                <a:latin typeface="Arial"/>
                <a:ea typeface="Arial"/>
                <a:cs typeface="Arial"/>
                <a:sym typeface="Arial"/>
              </a:rPr>
              <a:t>Dispositif de supervision et de détection de dérive en production.</a:t>
            </a:r>
            <a:endParaRPr sz="2100">
              <a:solidFill>
                <a:schemeClr val="dk1"/>
              </a:solidFill>
              <a:latin typeface="Calibri"/>
              <a:ea typeface="Calibri"/>
              <a:cs typeface="Calibri"/>
              <a:sym typeface="Calibri"/>
            </a:endParaRPr>
          </a:p>
        </p:txBody>
      </p:sp>
      <p:sp>
        <p:nvSpPr>
          <p:cNvPr id="110" name="Google Shape;110;p6"/>
          <p:cNvSpPr/>
          <p:nvPr/>
        </p:nvSpPr>
        <p:spPr>
          <a:xfrm>
            <a:off x="16504920" y="9648825"/>
            <a:ext cx="809244"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5B6B80"/>
              </a:buClr>
              <a:buSzPts val="1800"/>
              <a:buFont typeface="Courier New"/>
              <a:buNone/>
            </a:pPr>
            <a:r>
              <a:rPr lang="en-US" sz="1800">
                <a:solidFill>
                  <a:srgbClr val="5B6B80"/>
                </a:solidFill>
                <a:latin typeface="Courier New"/>
                <a:ea typeface="Courier New"/>
                <a:cs typeface="Courier New"/>
                <a:sym typeface="Courier New"/>
              </a:rPr>
              <a:t>4/41</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 name="Shape 115"/>
        <p:cNvGrpSpPr/>
        <p:nvPr/>
      </p:nvGrpSpPr>
      <p:grpSpPr>
        <a:xfrm>
          <a:off x="0" y="0"/>
          <a:ext cx="0" cy="0"/>
          <a:chOff x="0" y="0"/>
          <a:chExt cx="0" cy="0"/>
        </a:xfrm>
      </p:grpSpPr>
      <p:sp>
        <p:nvSpPr>
          <p:cNvPr id="116" name="Google Shape;116;p7"/>
          <p:cNvSpPr/>
          <p:nvPr/>
        </p:nvSpPr>
        <p:spPr>
          <a:xfrm>
            <a:off x="1047750" y="914400"/>
            <a:ext cx="17811750"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1950"/>
              <a:buFont typeface="Courier New"/>
              <a:buNone/>
            </a:pPr>
            <a:r>
              <a:rPr b="1" lang="en-US" sz="1950">
                <a:solidFill>
                  <a:srgbClr val="0B7A6F"/>
                </a:solidFill>
                <a:latin typeface="Courier New"/>
                <a:ea typeface="Courier New"/>
                <a:cs typeface="Courier New"/>
                <a:sym typeface="Courier New"/>
              </a:rPr>
              <a:t>CHAPITRE 2 — TABLEAU 1</a:t>
            </a:r>
            <a:endParaRPr sz="1950">
              <a:solidFill>
                <a:schemeClr val="dk1"/>
              </a:solidFill>
              <a:latin typeface="Calibri"/>
              <a:ea typeface="Calibri"/>
              <a:cs typeface="Calibri"/>
              <a:sym typeface="Calibri"/>
            </a:endParaRPr>
          </a:p>
        </p:txBody>
      </p:sp>
      <p:sp>
        <p:nvSpPr>
          <p:cNvPr id="117" name="Google Shape;117;p7"/>
          <p:cNvSpPr/>
          <p:nvPr/>
        </p:nvSpPr>
        <p:spPr>
          <a:xfrm>
            <a:off x="1047750" y="1419225"/>
            <a:ext cx="17811750" cy="5524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3450"/>
              <a:buFont typeface="Arial"/>
              <a:buNone/>
            </a:pPr>
            <a:r>
              <a:rPr b="1" lang="en-US" sz="3450">
                <a:solidFill>
                  <a:srgbClr val="16212B"/>
                </a:solidFill>
                <a:latin typeface="Arial"/>
                <a:ea typeface="Arial"/>
                <a:cs typeface="Arial"/>
                <a:sym typeface="Arial"/>
              </a:rPr>
              <a:t>Organisation Agile : équipe et rôles</a:t>
            </a:r>
            <a:endParaRPr sz="3450">
              <a:solidFill>
                <a:schemeClr val="dk1"/>
              </a:solidFill>
              <a:latin typeface="Calibri"/>
              <a:ea typeface="Calibri"/>
              <a:cs typeface="Calibri"/>
              <a:sym typeface="Calibri"/>
            </a:endParaRPr>
          </a:p>
        </p:txBody>
      </p:sp>
      <p:sp>
        <p:nvSpPr>
          <p:cNvPr id="118" name="Google Shape;118;p7"/>
          <p:cNvSpPr/>
          <p:nvPr/>
        </p:nvSpPr>
        <p:spPr>
          <a:xfrm>
            <a:off x="1047750" y="2843213"/>
            <a:ext cx="8591550" cy="619125"/>
          </a:xfrm>
          <a:prstGeom prst="rect">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 name="Google Shape;119;p7"/>
          <p:cNvSpPr/>
          <p:nvPr/>
        </p:nvSpPr>
        <p:spPr>
          <a:xfrm>
            <a:off x="1295400" y="3014663"/>
            <a:ext cx="4133688" cy="31432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0B7A6F"/>
              </a:buClr>
              <a:buSzPts val="1875"/>
              <a:buFont typeface="Arial"/>
              <a:buNone/>
            </a:pPr>
            <a:r>
              <a:rPr b="1" lang="en-US" sz="1875">
                <a:solidFill>
                  <a:srgbClr val="0B7A6F"/>
                </a:solidFill>
                <a:latin typeface="Arial"/>
                <a:ea typeface="Arial"/>
                <a:cs typeface="Arial"/>
                <a:sym typeface="Arial"/>
              </a:rPr>
              <a:t>Rôle</a:t>
            </a:r>
            <a:endParaRPr sz="1875">
              <a:solidFill>
                <a:schemeClr val="dk1"/>
              </a:solidFill>
              <a:latin typeface="Calibri"/>
              <a:ea typeface="Calibri"/>
              <a:cs typeface="Calibri"/>
              <a:sym typeface="Calibri"/>
            </a:endParaRPr>
          </a:p>
        </p:txBody>
      </p:sp>
      <p:sp>
        <p:nvSpPr>
          <p:cNvPr id="120" name="Google Shape;120;p7"/>
          <p:cNvSpPr/>
          <p:nvPr/>
        </p:nvSpPr>
        <p:spPr>
          <a:xfrm>
            <a:off x="5789563" y="3014663"/>
            <a:ext cx="3725009" cy="31432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0B7A6F"/>
              </a:buClr>
              <a:buSzPts val="1875"/>
              <a:buFont typeface="Arial"/>
              <a:buNone/>
            </a:pPr>
            <a:r>
              <a:rPr b="1" lang="en-US" sz="1875">
                <a:solidFill>
                  <a:srgbClr val="0B7A6F"/>
                </a:solidFill>
                <a:latin typeface="Arial"/>
                <a:ea typeface="Arial"/>
                <a:cs typeface="Arial"/>
                <a:sym typeface="Arial"/>
              </a:rPr>
              <a:t>Membre</a:t>
            </a:r>
            <a:endParaRPr sz="1875">
              <a:solidFill>
                <a:schemeClr val="dk1"/>
              </a:solidFill>
              <a:latin typeface="Calibri"/>
              <a:ea typeface="Calibri"/>
              <a:cs typeface="Calibri"/>
              <a:sym typeface="Calibri"/>
            </a:endParaRPr>
          </a:p>
        </p:txBody>
      </p:sp>
      <p:sp>
        <p:nvSpPr>
          <p:cNvPr id="121" name="Google Shape;121;p7"/>
          <p:cNvSpPr/>
          <p:nvPr/>
        </p:nvSpPr>
        <p:spPr>
          <a:xfrm>
            <a:off x="1295400" y="3633788"/>
            <a:ext cx="4133688" cy="31432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6212B"/>
              </a:buClr>
              <a:buSzPts val="1875"/>
              <a:buFont typeface="Arial"/>
              <a:buNone/>
            </a:pPr>
            <a:r>
              <a:rPr lang="en-US" sz="1875">
                <a:solidFill>
                  <a:srgbClr val="16212B"/>
                </a:solidFill>
                <a:latin typeface="Arial"/>
                <a:ea typeface="Arial"/>
                <a:cs typeface="Arial"/>
                <a:sym typeface="Arial"/>
              </a:rPr>
              <a:t>Data Engineer (lead)</a:t>
            </a:r>
            <a:endParaRPr sz="1875">
              <a:solidFill>
                <a:schemeClr val="dk1"/>
              </a:solidFill>
              <a:latin typeface="Calibri"/>
              <a:ea typeface="Calibri"/>
              <a:cs typeface="Calibri"/>
              <a:sym typeface="Calibri"/>
            </a:endParaRPr>
          </a:p>
        </p:txBody>
      </p:sp>
      <p:sp>
        <p:nvSpPr>
          <p:cNvPr id="122" name="Google Shape;122;p7"/>
          <p:cNvSpPr/>
          <p:nvPr/>
        </p:nvSpPr>
        <p:spPr>
          <a:xfrm>
            <a:off x="5789563" y="3633788"/>
            <a:ext cx="3725009" cy="31432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6212B"/>
              </a:buClr>
              <a:buSzPts val="1875"/>
              <a:buFont typeface="Arial"/>
              <a:buNone/>
            </a:pPr>
            <a:r>
              <a:rPr lang="en-US" sz="1875">
                <a:solidFill>
                  <a:srgbClr val="16212B"/>
                </a:solidFill>
                <a:latin typeface="Arial"/>
                <a:ea typeface="Arial"/>
                <a:cs typeface="Arial"/>
                <a:sym typeface="Arial"/>
              </a:rPr>
              <a:t>Anass Dabibe</a:t>
            </a:r>
            <a:endParaRPr sz="1875">
              <a:solidFill>
                <a:schemeClr val="dk1"/>
              </a:solidFill>
              <a:latin typeface="Calibri"/>
              <a:ea typeface="Calibri"/>
              <a:cs typeface="Calibri"/>
              <a:sym typeface="Calibri"/>
            </a:endParaRPr>
          </a:p>
        </p:txBody>
      </p:sp>
      <p:sp>
        <p:nvSpPr>
          <p:cNvPr id="123" name="Google Shape;123;p7"/>
          <p:cNvSpPr/>
          <p:nvPr/>
        </p:nvSpPr>
        <p:spPr>
          <a:xfrm>
            <a:off x="1047750" y="4081463"/>
            <a:ext cx="8591550" cy="619125"/>
          </a:xfrm>
          <a:prstGeom prst="rect">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4" name="Google Shape;124;p7"/>
          <p:cNvSpPr/>
          <p:nvPr/>
        </p:nvSpPr>
        <p:spPr>
          <a:xfrm>
            <a:off x="1295400" y="4252913"/>
            <a:ext cx="4133688" cy="31432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6212B"/>
              </a:buClr>
              <a:buSzPts val="1875"/>
              <a:buFont typeface="Arial"/>
              <a:buNone/>
            </a:pPr>
            <a:r>
              <a:rPr lang="en-US" sz="1875">
                <a:solidFill>
                  <a:srgbClr val="16212B"/>
                </a:solidFill>
                <a:latin typeface="Arial"/>
                <a:ea typeface="Arial"/>
                <a:cs typeface="Arial"/>
                <a:sym typeface="Arial"/>
              </a:rPr>
              <a:t>Product Owner</a:t>
            </a:r>
            <a:endParaRPr sz="1875">
              <a:solidFill>
                <a:schemeClr val="dk1"/>
              </a:solidFill>
              <a:latin typeface="Calibri"/>
              <a:ea typeface="Calibri"/>
              <a:cs typeface="Calibri"/>
              <a:sym typeface="Calibri"/>
            </a:endParaRPr>
          </a:p>
        </p:txBody>
      </p:sp>
      <p:sp>
        <p:nvSpPr>
          <p:cNvPr id="125" name="Google Shape;125;p7"/>
          <p:cNvSpPr/>
          <p:nvPr/>
        </p:nvSpPr>
        <p:spPr>
          <a:xfrm>
            <a:off x="5789563" y="4252913"/>
            <a:ext cx="3725009" cy="31432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6212B"/>
              </a:buClr>
              <a:buSzPts val="1875"/>
              <a:buFont typeface="Arial"/>
              <a:buNone/>
            </a:pPr>
            <a:r>
              <a:rPr lang="en-US" sz="1875">
                <a:solidFill>
                  <a:srgbClr val="16212B"/>
                </a:solidFill>
                <a:latin typeface="Arial"/>
                <a:ea typeface="Arial"/>
                <a:cs typeface="Arial"/>
                <a:sym typeface="Arial"/>
              </a:rPr>
              <a:t>Hassan El Hadi</a:t>
            </a:r>
            <a:endParaRPr sz="1875">
              <a:solidFill>
                <a:schemeClr val="dk1"/>
              </a:solidFill>
              <a:latin typeface="Calibri"/>
              <a:ea typeface="Calibri"/>
              <a:cs typeface="Calibri"/>
              <a:sym typeface="Calibri"/>
            </a:endParaRPr>
          </a:p>
        </p:txBody>
      </p:sp>
      <p:sp>
        <p:nvSpPr>
          <p:cNvPr id="126" name="Google Shape;126;p7"/>
          <p:cNvSpPr/>
          <p:nvPr/>
        </p:nvSpPr>
        <p:spPr>
          <a:xfrm>
            <a:off x="1295400" y="4872038"/>
            <a:ext cx="4133688" cy="31432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6212B"/>
              </a:buClr>
              <a:buSzPts val="1875"/>
              <a:buFont typeface="Arial"/>
              <a:buNone/>
            </a:pPr>
            <a:r>
              <a:rPr lang="en-US" sz="1875">
                <a:solidFill>
                  <a:srgbClr val="16212B"/>
                </a:solidFill>
                <a:latin typeface="Arial"/>
                <a:ea typeface="Arial"/>
                <a:cs typeface="Arial"/>
                <a:sym typeface="Arial"/>
              </a:rPr>
              <a:t>Scrum Master</a:t>
            </a:r>
            <a:endParaRPr sz="1875">
              <a:solidFill>
                <a:schemeClr val="dk1"/>
              </a:solidFill>
              <a:latin typeface="Calibri"/>
              <a:ea typeface="Calibri"/>
              <a:cs typeface="Calibri"/>
              <a:sym typeface="Calibri"/>
            </a:endParaRPr>
          </a:p>
        </p:txBody>
      </p:sp>
      <p:sp>
        <p:nvSpPr>
          <p:cNvPr id="127" name="Google Shape;127;p7"/>
          <p:cNvSpPr/>
          <p:nvPr/>
        </p:nvSpPr>
        <p:spPr>
          <a:xfrm>
            <a:off x="5789563" y="4872038"/>
            <a:ext cx="3725009" cy="31432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6212B"/>
              </a:buClr>
              <a:buSzPts val="1875"/>
              <a:buFont typeface="Arial"/>
              <a:buNone/>
            </a:pPr>
            <a:r>
              <a:rPr lang="en-US" sz="1875">
                <a:solidFill>
                  <a:srgbClr val="16212B"/>
                </a:solidFill>
                <a:latin typeface="Arial"/>
                <a:ea typeface="Arial"/>
                <a:cs typeface="Arial"/>
                <a:sym typeface="Arial"/>
              </a:rPr>
              <a:t>Yassin Farih</a:t>
            </a:r>
            <a:endParaRPr sz="1875">
              <a:solidFill>
                <a:schemeClr val="dk1"/>
              </a:solidFill>
              <a:latin typeface="Calibri"/>
              <a:ea typeface="Calibri"/>
              <a:cs typeface="Calibri"/>
              <a:sym typeface="Calibri"/>
            </a:endParaRPr>
          </a:p>
        </p:txBody>
      </p:sp>
      <p:sp>
        <p:nvSpPr>
          <p:cNvPr id="128" name="Google Shape;128;p7"/>
          <p:cNvSpPr/>
          <p:nvPr/>
        </p:nvSpPr>
        <p:spPr>
          <a:xfrm>
            <a:off x="1047750" y="5319713"/>
            <a:ext cx="8591550" cy="619125"/>
          </a:xfrm>
          <a:prstGeom prst="rect">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 name="Google Shape;129;p7"/>
          <p:cNvSpPr/>
          <p:nvPr/>
        </p:nvSpPr>
        <p:spPr>
          <a:xfrm>
            <a:off x="1295400" y="5491163"/>
            <a:ext cx="4133688" cy="31432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6212B"/>
              </a:buClr>
              <a:buSzPts val="1875"/>
              <a:buFont typeface="Arial"/>
              <a:buNone/>
            </a:pPr>
            <a:r>
              <a:rPr lang="en-US" sz="1875">
                <a:solidFill>
                  <a:srgbClr val="16212B"/>
                </a:solidFill>
                <a:latin typeface="Arial"/>
                <a:ea typeface="Arial"/>
                <a:cs typeface="Arial"/>
                <a:sym typeface="Arial"/>
              </a:rPr>
              <a:t>Data Engineer</a:t>
            </a:r>
            <a:endParaRPr sz="1875">
              <a:solidFill>
                <a:schemeClr val="dk1"/>
              </a:solidFill>
              <a:latin typeface="Calibri"/>
              <a:ea typeface="Calibri"/>
              <a:cs typeface="Calibri"/>
              <a:sym typeface="Calibri"/>
            </a:endParaRPr>
          </a:p>
        </p:txBody>
      </p:sp>
      <p:sp>
        <p:nvSpPr>
          <p:cNvPr id="130" name="Google Shape;130;p7"/>
          <p:cNvSpPr/>
          <p:nvPr/>
        </p:nvSpPr>
        <p:spPr>
          <a:xfrm>
            <a:off x="5789563" y="5491163"/>
            <a:ext cx="3725009" cy="31432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6212B"/>
              </a:buClr>
              <a:buSzPts val="1875"/>
              <a:buFont typeface="Arial"/>
              <a:buNone/>
            </a:pPr>
            <a:r>
              <a:rPr lang="en-US" sz="1875">
                <a:solidFill>
                  <a:srgbClr val="16212B"/>
                </a:solidFill>
                <a:latin typeface="Arial"/>
                <a:ea typeface="Arial"/>
                <a:cs typeface="Arial"/>
                <a:sym typeface="Arial"/>
              </a:rPr>
              <a:t>Adnane Dahbi</a:t>
            </a:r>
            <a:endParaRPr sz="1875">
              <a:solidFill>
                <a:schemeClr val="dk1"/>
              </a:solidFill>
              <a:latin typeface="Calibri"/>
              <a:ea typeface="Calibri"/>
              <a:cs typeface="Calibri"/>
              <a:sym typeface="Calibri"/>
            </a:endParaRPr>
          </a:p>
        </p:txBody>
      </p:sp>
      <p:sp>
        <p:nvSpPr>
          <p:cNvPr id="131" name="Google Shape;131;p7"/>
          <p:cNvSpPr/>
          <p:nvPr/>
        </p:nvSpPr>
        <p:spPr>
          <a:xfrm>
            <a:off x="1295400" y="6110288"/>
            <a:ext cx="4133688" cy="31432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6212B"/>
              </a:buClr>
              <a:buSzPts val="1875"/>
              <a:buFont typeface="Arial"/>
              <a:buNone/>
            </a:pPr>
            <a:r>
              <a:rPr lang="en-US" sz="1875">
                <a:solidFill>
                  <a:srgbClr val="16212B"/>
                </a:solidFill>
                <a:latin typeface="Arial"/>
                <a:ea typeface="Arial"/>
                <a:cs typeface="Arial"/>
                <a:sym typeface="Arial"/>
              </a:rPr>
              <a:t>Data Engineer</a:t>
            </a:r>
            <a:endParaRPr sz="1875">
              <a:solidFill>
                <a:schemeClr val="dk1"/>
              </a:solidFill>
              <a:latin typeface="Calibri"/>
              <a:ea typeface="Calibri"/>
              <a:cs typeface="Calibri"/>
              <a:sym typeface="Calibri"/>
            </a:endParaRPr>
          </a:p>
        </p:txBody>
      </p:sp>
      <p:sp>
        <p:nvSpPr>
          <p:cNvPr id="132" name="Google Shape;132;p7"/>
          <p:cNvSpPr/>
          <p:nvPr/>
        </p:nvSpPr>
        <p:spPr>
          <a:xfrm>
            <a:off x="5789563" y="6110288"/>
            <a:ext cx="3725009" cy="31432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6212B"/>
              </a:buClr>
              <a:buSzPts val="1875"/>
              <a:buFont typeface="Arial"/>
              <a:buNone/>
            </a:pPr>
            <a:r>
              <a:rPr lang="en-US" sz="1875">
                <a:solidFill>
                  <a:srgbClr val="16212B"/>
                </a:solidFill>
                <a:latin typeface="Arial"/>
                <a:ea typeface="Arial"/>
                <a:cs typeface="Arial"/>
                <a:sym typeface="Arial"/>
              </a:rPr>
              <a:t>Sifeddine Legnioui</a:t>
            </a:r>
            <a:endParaRPr sz="1875">
              <a:solidFill>
                <a:schemeClr val="dk1"/>
              </a:solidFill>
              <a:latin typeface="Calibri"/>
              <a:ea typeface="Calibri"/>
              <a:cs typeface="Calibri"/>
              <a:sym typeface="Calibri"/>
            </a:endParaRPr>
          </a:p>
        </p:txBody>
      </p:sp>
      <p:sp>
        <p:nvSpPr>
          <p:cNvPr id="133" name="Google Shape;133;p7"/>
          <p:cNvSpPr/>
          <p:nvPr/>
        </p:nvSpPr>
        <p:spPr>
          <a:xfrm>
            <a:off x="1047750" y="6557963"/>
            <a:ext cx="8591550" cy="619125"/>
          </a:xfrm>
          <a:prstGeom prst="rect">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 name="Google Shape;134;p7"/>
          <p:cNvSpPr/>
          <p:nvPr/>
        </p:nvSpPr>
        <p:spPr>
          <a:xfrm>
            <a:off x="1295400" y="6729413"/>
            <a:ext cx="4133688" cy="31432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6212B"/>
              </a:buClr>
              <a:buSzPts val="1875"/>
              <a:buFont typeface="Arial"/>
              <a:buNone/>
            </a:pPr>
            <a:r>
              <a:rPr lang="en-US" sz="1875">
                <a:solidFill>
                  <a:srgbClr val="16212B"/>
                </a:solidFill>
                <a:latin typeface="Arial"/>
                <a:ea typeface="Arial"/>
                <a:cs typeface="Arial"/>
                <a:sym typeface="Arial"/>
              </a:rPr>
              <a:t>ML Engineer</a:t>
            </a:r>
            <a:endParaRPr sz="1875">
              <a:solidFill>
                <a:schemeClr val="dk1"/>
              </a:solidFill>
              <a:latin typeface="Calibri"/>
              <a:ea typeface="Calibri"/>
              <a:cs typeface="Calibri"/>
              <a:sym typeface="Calibri"/>
            </a:endParaRPr>
          </a:p>
        </p:txBody>
      </p:sp>
      <p:sp>
        <p:nvSpPr>
          <p:cNvPr id="135" name="Google Shape;135;p7"/>
          <p:cNvSpPr/>
          <p:nvPr/>
        </p:nvSpPr>
        <p:spPr>
          <a:xfrm>
            <a:off x="5789563" y="6729413"/>
            <a:ext cx="3725009" cy="31432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6212B"/>
              </a:buClr>
              <a:buSzPts val="1875"/>
              <a:buFont typeface="Arial"/>
              <a:buNone/>
            </a:pPr>
            <a:r>
              <a:rPr lang="en-US" sz="1875">
                <a:solidFill>
                  <a:srgbClr val="16212B"/>
                </a:solidFill>
                <a:latin typeface="Arial"/>
                <a:ea typeface="Arial"/>
                <a:cs typeface="Arial"/>
                <a:sym typeface="Arial"/>
              </a:rPr>
              <a:t>Aymane El Badry</a:t>
            </a:r>
            <a:endParaRPr sz="1875">
              <a:solidFill>
                <a:schemeClr val="dk1"/>
              </a:solidFill>
              <a:latin typeface="Calibri"/>
              <a:ea typeface="Calibri"/>
              <a:cs typeface="Calibri"/>
              <a:sym typeface="Calibri"/>
            </a:endParaRPr>
          </a:p>
        </p:txBody>
      </p:sp>
      <p:sp>
        <p:nvSpPr>
          <p:cNvPr id="136" name="Google Shape;136;p7"/>
          <p:cNvSpPr/>
          <p:nvPr/>
        </p:nvSpPr>
        <p:spPr>
          <a:xfrm>
            <a:off x="1295400" y="7348537"/>
            <a:ext cx="4133688" cy="31432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6212B"/>
              </a:buClr>
              <a:buSzPts val="1875"/>
              <a:buFont typeface="Arial"/>
              <a:buNone/>
            </a:pPr>
            <a:r>
              <a:rPr lang="en-US" sz="1875">
                <a:solidFill>
                  <a:srgbClr val="16212B"/>
                </a:solidFill>
                <a:latin typeface="Arial"/>
                <a:ea typeface="Arial"/>
                <a:cs typeface="Arial"/>
                <a:sym typeface="Arial"/>
              </a:rPr>
              <a:t>ML Engineer</a:t>
            </a:r>
            <a:endParaRPr sz="1875">
              <a:solidFill>
                <a:schemeClr val="dk1"/>
              </a:solidFill>
              <a:latin typeface="Calibri"/>
              <a:ea typeface="Calibri"/>
              <a:cs typeface="Calibri"/>
              <a:sym typeface="Calibri"/>
            </a:endParaRPr>
          </a:p>
        </p:txBody>
      </p:sp>
      <p:sp>
        <p:nvSpPr>
          <p:cNvPr id="137" name="Google Shape;137;p7"/>
          <p:cNvSpPr/>
          <p:nvPr/>
        </p:nvSpPr>
        <p:spPr>
          <a:xfrm>
            <a:off x="5789563" y="7348537"/>
            <a:ext cx="3725009" cy="31432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6212B"/>
              </a:buClr>
              <a:buSzPts val="1875"/>
              <a:buFont typeface="Arial"/>
              <a:buNone/>
            </a:pPr>
            <a:r>
              <a:rPr lang="en-US" sz="1875">
                <a:solidFill>
                  <a:srgbClr val="16212B"/>
                </a:solidFill>
                <a:latin typeface="Arial"/>
                <a:ea typeface="Arial"/>
                <a:cs typeface="Arial"/>
                <a:sym typeface="Arial"/>
              </a:rPr>
              <a:t>Youssef Sarraf</a:t>
            </a:r>
            <a:endParaRPr sz="1875">
              <a:solidFill>
                <a:schemeClr val="dk1"/>
              </a:solidFill>
              <a:latin typeface="Calibri"/>
              <a:ea typeface="Calibri"/>
              <a:cs typeface="Calibri"/>
              <a:sym typeface="Calibri"/>
            </a:endParaRPr>
          </a:p>
        </p:txBody>
      </p:sp>
      <p:sp>
        <p:nvSpPr>
          <p:cNvPr id="138" name="Google Shape;138;p7"/>
          <p:cNvSpPr/>
          <p:nvPr/>
        </p:nvSpPr>
        <p:spPr>
          <a:xfrm>
            <a:off x="1047750" y="7796212"/>
            <a:ext cx="8591550" cy="619125"/>
          </a:xfrm>
          <a:prstGeom prst="rect">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9" name="Google Shape;139;p7"/>
          <p:cNvSpPr/>
          <p:nvPr/>
        </p:nvSpPr>
        <p:spPr>
          <a:xfrm>
            <a:off x="1295400" y="7967662"/>
            <a:ext cx="4133688" cy="31432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6212B"/>
              </a:buClr>
              <a:buSzPts val="1875"/>
              <a:buFont typeface="Arial"/>
              <a:buNone/>
            </a:pPr>
            <a:r>
              <a:rPr lang="en-US" sz="1875">
                <a:solidFill>
                  <a:srgbClr val="16212B"/>
                </a:solidFill>
                <a:latin typeface="Arial"/>
                <a:ea typeface="Arial"/>
                <a:cs typeface="Arial"/>
                <a:sym typeface="Arial"/>
              </a:rPr>
              <a:t>Data Analyst</a:t>
            </a:r>
            <a:endParaRPr sz="1875">
              <a:solidFill>
                <a:schemeClr val="dk1"/>
              </a:solidFill>
              <a:latin typeface="Calibri"/>
              <a:ea typeface="Calibri"/>
              <a:cs typeface="Calibri"/>
              <a:sym typeface="Calibri"/>
            </a:endParaRPr>
          </a:p>
        </p:txBody>
      </p:sp>
      <p:sp>
        <p:nvSpPr>
          <p:cNvPr id="140" name="Google Shape;140;p7"/>
          <p:cNvSpPr/>
          <p:nvPr/>
        </p:nvSpPr>
        <p:spPr>
          <a:xfrm>
            <a:off x="5789563" y="7967662"/>
            <a:ext cx="3725009" cy="31432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6212B"/>
              </a:buClr>
              <a:buSzPts val="1875"/>
              <a:buFont typeface="Arial"/>
              <a:buNone/>
            </a:pPr>
            <a:r>
              <a:rPr lang="en-US" sz="1875">
                <a:solidFill>
                  <a:srgbClr val="16212B"/>
                </a:solidFill>
                <a:latin typeface="Arial"/>
                <a:ea typeface="Arial"/>
                <a:cs typeface="Arial"/>
                <a:sym typeface="Arial"/>
              </a:rPr>
              <a:t>Assofi Nada</a:t>
            </a:r>
            <a:endParaRPr sz="1875">
              <a:solidFill>
                <a:schemeClr val="dk1"/>
              </a:solidFill>
              <a:latin typeface="Calibri"/>
              <a:ea typeface="Calibri"/>
              <a:cs typeface="Calibri"/>
              <a:sym typeface="Calibri"/>
            </a:endParaRPr>
          </a:p>
        </p:txBody>
      </p:sp>
      <p:sp>
        <p:nvSpPr>
          <p:cNvPr id="141" name="Google Shape;141;p7"/>
          <p:cNvSpPr/>
          <p:nvPr/>
        </p:nvSpPr>
        <p:spPr>
          <a:xfrm>
            <a:off x="10210800" y="3016597"/>
            <a:ext cx="7029450" cy="5372100"/>
          </a:xfrm>
          <a:prstGeom prst="roundRect">
            <a:avLst>
              <a:gd fmla="val 3191"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42" name="Google Shape;142;p7"/>
          <p:cNvPicPr preferRelativeResize="0"/>
          <p:nvPr/>
        </p:nvPicPr>
        <p:blipFill rotWithShape="1">
          <a:blip r:embed="rId3">
            <a:alphaModFix/>
          </a:blip>
          <a:srcRect b="0" l="-1" r="-1" t="0"/>
          <a:stretch/>
        </p:blipFill>
        <p:spPr>
          <a:xfrm>
            <a:off x="11145143" y="3376953"/>
            <a:ext cx="5160615" cy="4651387"/>
          </a:xfrm>
          <a:prstGeom prst="rect">
            <a:avLst/>
          </a:prstGeom>
          <a:noFill/>
          <a:ln>
            <a:noFill/>
          </a:ln>
        </p:spPr>
      </p:pic>
      <p:sp>
        <p:nvSpPr>
          <p:cNvPr id="143" name="Google Shape;143;p7"/>
          <p:cNvSpPr/>
          <p:nvPr/>
        </p:nvSpPr>
        <p:spPr>
          <a:xfrm>
            <a:off x="9859328" y="8541097"/>
            <a:ext cx="7732395" cy="358080"/>
          </a:xfrm>
          <a:prstGeom prst="rect">
            <a:avLst/>
          </a:prstGeom>
          <a:noFill/>
          <a:ln>
            <a:noFill/>
          </a:ln>
        </p:spPr>
        <p:txBody>
          <a:bodyPr anchorCtr="0" anchor="t" bIns="25400" lIns="25400" spcFirstLastPara="1" rIns="25400" wrap="square" tIns="25400">
            <a:noAutofit/>
          </a:bodyPr>
          <a:lstStyle/>
          <a:p>
            <a:pPr indent="0" lvl="0" marL="0" marR="0" rtl="0" algn="ctr">
              <a:lnSpc>
                <a:spcPct val="120000"/>
              </a:lnSpc>
              <a:spcBef>
                <a:spcPts val="0"/>
              </a:spcBef>
              <a:spcAft>
                <a:spcPts val="0"/>
              </a:spcAft>
              <a:buClr>
                <a:srgbClr val="5B6B80"/>
              </a:buClr>
              <a:buSzPts val="1800"/>
              <a:buFont typeface="Arial"/>
              <a:buNone/>
            </a:pPr>
            <a:r>
              <a:rPr lang="en-US" sz="1800">
                <a:solidFill>
                  <a:srgbClr val="5B6B80"/>
                </a:solidFill>
                <a:latin typeface="Arial"/>
                <a:ea typeface="Arial"/>
                <a:cs typeface="Arial"/>
                <a:sym typeface="Arial"/>
              </a:rPr>
              <a:t>Figure 4 — équipe projet (8 membres)</a:t>
            </a:r>
            <a:endParaRPr sz="1800">
              <a:solidFill>
                <a:schemeClr val="dk1"/>
              </a:solidFill>
              <a:latin typeface="Calibri"/>
              <a:ea typeface="Calibri"/>
              <a:cs typeface="Calibri"/>
              <a:sym typeface="Calibri"/>
            </a:endParaRPr>
          </a:p>
        </p:txBody>
      </p:sp>
      <p:sp>
        <p:nvSpPr>
          <p:cNvPr id="144" name="Google Shape;144;p7"/>
          <p:cNvSpPr/>
          <p:nvPr/>
        </p:nvSpPr>
        <p:spPr>
          <a:xfrm>
            <a:off x="16504920" y="9648825"/>
            <a:ext cx="809244"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5B6B80"/>
              </a:buClr>
              <a:buSzPts val="1800"/>
              <a:buFont typeface="Courier New"/>
              <a:buNone/>
            </a:pPr>
            <a:r>
              <a:rPr lang="en-US" sz="1800">
                <a:solidFill>
                  <a:srgbClr val="5B6B80"/>
                </a:solidFill>
                <a:latin typeface="Courier New"/>
                <a:ea typeface="Courier New"/>
                <a:cs typeface="Courier New"/>
                <a:sym typeface="Courier New"/>
              </a:rPr>
              <a:t>5/41</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 name="Shape 149"/>
        <p:cNvGrpSpPr/>
        <p:nvPr/>
      </p:nvGrpSpPr>
      <p:grpSpPr>
        <a:xfrm>
          <a:off x="0" y="0"/>
          <a:ext cx="0" cy="0"/>
          <a:chOff x="0" y="0"/>
          <a:chExt cx="0" cy="0"/>
        </a:xfrm>
      </p:grpSpPr>
      <p:sp>
        <p:nvSpPr>
          <p:cNvPr id="150" name="Google Shape;150;p8"/>
          <p:cNvSpPr/>
          <p:nvPr/>
        </p:nvSpPr>
        <p:spPr>
          <a:xfrm>
            <a:off x="1047750" y="914400"/>
            <a:ext cx="17811750"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1950">
                <a:solidFill>
                  <a:srgbClr val="0B7A6F"/>
                </a:solidFill>
                <a:latin typeface="Courier New"/>
                <a:ea typeface="Courier New"/>
                <a:cs typeface="Courier New"/>
                <a:sym typeface="Courier New"/>
              </a:rPr>
              <a:t>CHAPITRE 3 — MA CONTRIBUTION</a:t>
            </a:r>
            <a:endParaRPr sz="1950">
              <a:solidFill>
                <a:schemeClr val="dk1"/>
              </a:solidFill>
              <a:latin typeface="Calibri"/>
              <a:ea typeface="Calibri"/>
              <a:cs typeface="Calibri"/>
              <a:sym typeface="Calibri"/>
            </a:endParaRPr>
          </a:p>
        </p:txBody>
      </p:sp>
      <p:sp>
        <p:nvSpPr>
          <p:cNvPr id="151" name="Google Shape;151;p8"/>
          <p:cNvSpPr/>
          <p:nvPr/>
        </p:nvSpPr>
        <p:spPr>
          <a:xfrm>
            <a:off x="1047750" y="1419225"/>
            <a:ext cx="17811750" cy="5524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3450">
                <a:solidFill>
                  <a:srgbClr val="16212B"/>
                </a:solidFill>
                <a:latin typeface="Arial"/>
                <a:ea typeface="Arial"/>
                <a:cs typeface="Arial"/>
                <a:sym typeface="Arial"/>
              </a:rPr>
              <a:t>Hassan El Hadi — Ingestion &amp; qualité shift-left</a:t>
            </a:r>
            <a:endParaRPr sz="3450">
              <a:solidFill>
                <a:schemeClr val="dk1"/>
              </a:solidFill>
              <a:latin typeface="Calibri"/>
              <a:ea typeface="Calibri"/>
              <a:cs typeface="Calibri"/>
              <a:sym typeface="Calibri"/>
            </a:endParaRPr>
          </a:p>
        </p:txBody>
      </p:sp>
      <p:sp>
        <p:nvSpPr>
          <p:cNvPr id="152" name="Google Shape;152;p8"/>
          <p:cNvSpPr/>
          <p:nvPr/>
        </p:nvSpPr>
        <p:spPr>
          <a:xfrm>
            <a:off x="1047750" y="3300000"/>
            <a:ext cx="9880283" cy="38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2000">
                <a:solidFill>
                  <a:srgbClr val="0B7A6F"/>
                </a:solidFill>
                <a:latin typeface="Arial"/>
                <a:ea typeface="Arial"/>
                <a:cs typeface="Arial"/>
                <a:sym typeface="Arial"/>
              </a:rPr>
              <a:t>MA CONTRIBUTION PERSONNELLE</a:t>
            </a:r>
            <a:endParaRPr sz="2000">
              <a:solidFill>
                <a:schemeClr val="dk1"/>
              </a:solidFill>
              <a:latin typeface="Calibri"/>
              <a:ea typeface="Calibri"/>
              <a:cs typeface="Calibri"/>
              <a:sym typeface="Calibri"/>
            </a:endParaRPr>
          </a:p>
        </p:txBody>
      </p:sp>
      <p:sp>
        <p:nvSpPr>
          <p:cNvPr id="153" name="Google Shape;153;p8"/>
          <p:cNvSpPr/>
          <p:nvPr/>
        </p:nvSpPr>
        <p:spPr>
          <a:xfrm>
            <a:off x="1047750" y="3700000"/>
            <a:ext cx="9251537" cy="190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0" lang="en-US" sz="2000">
                <a:solidFill>
                  <a:srgbClr val="16212B"/>
                </a:solidFill>
                <a:latin typeface="Arial"/>
                <a:ea typeface="Arial"/>
                <a:cs typeface="Arial"/>
                <a:sym typeface="Arial"/>
              </a:rPr>
              <a:t>Pipeline d'ingestion dlt (ingestion_dlt/sources.py, run_pipeline.py) et script de validation shift-left du schéma (quality/validate_schema.py).</a:t>
            </a:r>
            <a:endParaRPr sz="2000">
              <a:solidFill>
                <a:schemeClr val="dk1"/>
              </a:solidFill>
              <a:latin typeface="Calibri"/>
              <a:ea typeface="Calibri"/>
              <a:cs typeface="Calibri"/>
              <a:sym typeface="Calibri"/>
            </a:endParaRPr>
          </a:p>
        </p:txBody>
      </p:sp>
      <p:sp>
        <p:nvSpPr>
          <p:cNvPr id="154" name="Google Shape;154;p8"/>
          <p:cNvSpPr/>
          <p:nvPr/>
        </p:nvSpPr>
        <p:spPr>
          <a:xfrm>
            <a:off x="1047750" y="5900000"/>
            <a:ext cx="9880283" cy="38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2000">
                <a:solidFill>
                  <a:srgbClr val="0B7A6F"/>
                </a:solidFill>
                <a:latin typeface="Arial"/>
                <a:ea typeface="Arial"/>
                <a:cs typeface="Arial"/>
                <a:sym typeface="Arial"/>
              </a:rPr>
              <a:t>RÔLE DANS LE PIPELINE GLOBAL</a:t>
            </a:r>
            <a:endParaRPr sz="2000">
              <a:solidFill>
                <a:schemeClr val="dk1"/>
              </a:solidFill>
              <a:latin typeface="Calibri"/>
              <a:ea typeface="Calibri"/>
              <a:cs typeface="Calibri"/>
              <a:sym typeface="Calibri"/>
            </a:endParaRPr>
          </a:p>
        </p:txBody>
      </p:sp>
      <p:sp>
        <p:nvSpPr>
          <p:cNvPr id="155" name="Google Shape;155;p8"/>
          <p:cNvSpPr/>
          <p:nvPr/>
        </p:nvSpPr>
        <p:spPr>
          <a:xfrm>
            <a:off x="1047750" y="6300000"/>
            <a:ext cx="9251537" cy="110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0" lang="en-US" sz="2000">
                <a:solidFill>
                  <a:srgbClr val="16212B"/>
                </a:solidFill>
                <a:latin typeface="Arial"/>
                <a:ea typeface="Arial"/>
                <a:cs typeface="Arial"/>
                <a:sym typeface="Arial"/>
              </a:rPr>
              <a:t>Premier maillon du pipeline : charger les 284 807 transactions dans DuckDB, et bloquer immédiatement toute donnée non conforme avant qu'elle n'entre en base.</a:t>
            </a:r>
            <a:endParaRPr sz="2000">
              <a:solidFill>
                <a:schemeClr val="dk1"/>
              </a:solidFill>
              <a:latin typeface="Calibri"/>
              <a:ea typeface="Calibri"/>
              <a:cs typeface="Calibri"/>
              <a:sym typeface="Calibri"/>
            </a:endParaRPr>
          </a:p>
        </p:txBody>
      </p:sp>
      <p:sp>
        <p:nvSpPr>
          <p:cNvPr id="156" name="Google Shape;156;p8"/>
          <p:cNvSpPr/>
          <p:nvPr/>
        </p:nvSpPr>
        <p:spPr>
          <a:xfrm>
            <a:off x="10601325" y="3300000"/>
            <a:ext cx="7302818" cy="38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2000">
                <a:solidFill>
                  <a:srgbClr val="0B7A6F"/>
                </a:solidFill>
                <a:latin typeface="Arial"/>
                <a:ea typeface="Arial"/>
                <a:cs typeface="Arial"/>
                <a:sym typeface="Arial"/>
              </a:rPr>
              <a:t>DÉCISION TECHNIQUE CLÉ</a:t>
            </a:r>
            <a:endParaRPr sz="2000">
              <a:solidFill>
                <a:schemeClr val="dk1"/>
              </a:solidFill>
              <a:latin typeface="Calibri"/>
              <a:ea typeface="Calibri"/>
              <a:cs typeface="Calibri"/>
              <a:sym typeface="Calibri"/>
            </a:endParaRPr>
          </a:p>
        </p:txBody>
      </p:sp>
      <p:sp>
        <p:nvSpPr>
          <p:cNvPr id="157" name="Google Shape;157;p8"/>
          <p:cNvSpPr/>
          <p:nvPr/>
        </p:nvSpPr>
        <p:spPr>
          <a:xfrm>
            <a:off x="10601325" y="3700000"/>
            <a:ext cx="7302818" cy="190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0" lang="en-US" sz="2000">
                <a:solidFill>
                  <a:srgbClr val="16212B"/>
                </a:solidFill>
                <a:latin typeface="Arial"/>
                <a:ea typeface="Arial"/>
                <a:cs typeface="Arial"/>
                <a:sym typeface="Arial"/>
              </a:rPr>
              <a:t>Valider le schéma avant le chargement (« shift-left ») plutôt qu'après coup : détecter les anomalies au plus tôt dans le pipeline, en complément des tests dbt exécutés plus loin — pas à la place.</a:t>
            </a:r>
            <a:endParaRPr sz="2000">
              <a:solidFill>
                <a:schemeClr val="dk1"/>
              </a:solidFill>
              <a:latin typeface="Calibri"/>
              <a:ea typeface="Calibri"/>
              <a:cs typeface="Calibri"/>
              <a:sym typeface="Calibri"/>
            </a:endParaRPr>
          </a:p>
        </p:txBody>
      </p:sp>
      <p:sp>
        <p:nvSpPr>
          <p:cNvPr id="158" name="Google Shape;158;p8"/>
          <p:cNvSpPr/>
          <p:nvPr/>
        </p:nvSpPr>
        <p:spPr>
          <a:xfrm>
            <a:off x="10601325" y="5900000"/>
            <a:ext cx="7302818" cy="38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2000">
                <a:solidFill>
                  <a:srgbClr val="0B7A6F"/>
                </a:solidFill>
                <a:latin typeface="Arial"/>
                <a:ea typeface="Arial"/>
                <a:cs typeface="Arial"/>
                <a:sym typeface="Arial"/>
              </a:rPr>
              <a:t>RÔLE AGILE</a:t>
            </a:r>
            <a:endParaRPr sz="2000">
              <a:solidFill>
                <a:schemeClr val="dk1"/>
              </a:solidFill>
              <a:latin typeface="Calibri"/>
              <a:ea typeface="Calibri"/>
              <a:cs typeface="Calibri"/>
              <a:sym typeface="Calibri"/>
            </a:endParaRPr>
          </a:p>
        </p:txBody>
      </p:sp>
      <p:sp>
        <p:nvSpPr>
          <p:cNvPr id="159" name="Google Shape;159;p8"/>
          <p:cNvSpPr/>
          <p:nvPr/>
        </p:nvSpPr>
        <p:spPr>
          <a:xfrm>
            <a:off x="10601325" y="6300000"/>
            <a:ext cx="7302818" cy="110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0" lang="en-US" sz="2000">
                <a:solidFill>
                  <a:srgbClr val="16212B"/>
                </a:solidFill>
                <a:latin typeface="Arial"/>
                <a:ea typeface="Arial"/>
                <a:cs typeface="Arial"/>
                <a:sym typeface="Arial"/>
              </a:rPr>
              <a:t>Product Owner — porte la voix du besoin métier, priorise le backlog avec le Scrum Master et présente l'organisation Agile de l'équipe.</a:t>
            </a:r>
            <a:endParaRPr sz="2000">
              <a:solidFill>
                <a:schemeClr val="dk1"/>
              </a:solidFill>
              <a:latin typeface="Calibri"/>
              <a:ea typeface="Calibri"/>
              <a:cs typeface="Calibri"/>
              <a:sym typeface="Calibri"/>
            </a:endParaRPr>
          </a:p>
        </p:txBody>
      </p:sp>
      <p:sp>
        <p:nvSpPr>
          <p:cNvPr id="160" name="Google Shape;160;p8"/>
          <p:cNvSpPr/>
          <p:nvPr/>
        </p:nvSpPr>
        <p:spPr>
          <a:xfrm>
            <a:off x="16367760" y="9648825"/>
            <a:ext cx="914400"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0" lang="en-US" sz="1800">
                <a:solidFill>
                  <a:srgbClr val="5B6B80"/>
                </a:solidFill>
                <a:latin typeface="Courier New"/>
                <a:ea typeface="Courier New"/>
                <a:cs typeface="Courier New"/>
                <a:sym typeface="Courier New"/>
              </a:rPr>
              <a:t>6/41</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 name="Shape 165"/>
        <p:cNvGrpSpPr/>
        <p:nvPr/>
      </p:nvGrpSpPr>
      <p:grpSpPr>
        <a:xfrm>
          <a:off x="0" y="0"/>
          <a:ext cx="0" cy="0"/>
          <a:chOff x="0" y="0"/>
          <a:chExt cx="0" cy="0"/>
        </a:xfrm>
      </p:grpSpPr>
      <p:sp>
        <p:nvSpPr>
          <p:cNvPr id="166" name="Google Shape;166;p9"/>
          <p:cNvSpPr/>
          <p:nvPr/>
        </p:nvSpPr>
        <p:spPr>
          <a:xfrm>
            <a:off x="1047750" y="914400"/>
            <a:ext cx="17811750"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1950"/>
              <a:buFont typeface="Courier New"/>
              <a:buNone/>
            </a:pPr>
            <a:r>
              <a:rPr b="1" lang="en-US" sz="1950">
                <a:solidFill>
                  <a:srgbClr val="0B7A6F"/>
                </a:solidFill>
                <a:latin typeface="Courier New"/>
                <a:ea typeface="Courier New"/>
                <a:cs typeface="Courier New"/>
                <a:sym typeface="Courier New"/>
              </a:rPr>
              <a:t>CHAPITRE 2 — §2</a:t>
            </a:r>
            <a:endParaRPr sz="1950">
              <a:solidFill>
                <a:schemeClr val="dk1"/>
              </a:solidFill>
              <a:latin typeface="Calibri"/>
              <a:ea typeface="Calibri"/>
              <a:cs typeface="Calibri"/>
              <a:sym typeface="Calibri"/>
            </a:endParaRPr>
          </a:p>
        </p:txBody>
      </p:sp>
      <p:sp>
        <p:nvSpPr>
          <p:cNvPr id="167" name="Google Shape;167;p9"/>
          <p:cNvSpPr/>
          <p:nvPr/>
        </p:nvSpPr>
        <p:spPr>
          <a:xfrm>
            <a:off x="1047750" y="1419225"/>
            <a:ext cx="17811750" cy="5524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3450"/>
              <a:buFont typeface="Arial"/>
              <a:buNone/>
            </a:pPr>
            <a:r>
              <a:rPr b="1" lang="en-US" sz="3450">
                <a:solidFill>
                  <a:srgbClr val="16212B"/>
                </a:solidFill>
                <a:latin typeface="Arial"/>
                <a:ea typeface="Arial"/>
                <a:cs typeface="Arial"/>
                <a:sym typeface="Arial"/>
              </a:rPr>
              <a:t>Les 3 sprints réalisés</a:t>
            </a:r>
            <a:endParaRPr sz="3450">
              <a:solidFill>
                <a:schemeClr val="dk1"/>
              </a:solidFill>
              <a:latin typeface="Calibri"/>
              <a:ea typeface="Calibri"/>
              <a:cs typeface="Calibri"/>
              <a:sym typeface="Calibri"/>
            </a:endParaRPr>
          </a:p>
        </p:txBody>
      </p:sp>
      <p:sp>
        <p:nvSpPr>
          <p:cNvPr id="168" name="Google Shape;168;p9"/>
          <p:cNvSpPr/>
          <p:nvPr/>
        </p:nvSpPr>
        <p:spPr>
          <a:xfrm>
            <a:off x="1047750" y="2314575"/>
            <a:ext cx="5168801" cy="6734175"/>
          </a:xfrm>
          <a:prstGeom prst="roundRect">
            <a:avLst>
              <a:gd fmla="val 3317" name="adj"/>
            </a:avLst>
          </a:prstGeom>
          <a:solidFill>
            <a:srgbClr val="F5F7FA"/>
          </a:solidFill>
          <a:ln cap="flat" cmpd="sng" w="9525">
            <a:solidFill>
              <a:srgbClr val="E2E6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9" name="Google Shape;169;p9"/>
          <p:cNvSpPr/>
          <p:nvPr/>
        </p:nvSpPr>
        <p:spPr>
          <a:xfrm>
            <a:off x="1323975" y="2590800"/>
            <a:ext cx="5077986"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2100"/>
              <a:buFont typeface="Arial"/>
              <a:buNone/>
            </a:pPr>
            <a:r>
              <a:rPr b="1" lang="en-US" sz="2100">
                <a:solidFill>
                  <a:srgbClr val="0B7A6F"/>
                </a:solidFill>
                <a:latin typeface="Arial"/>
                <a:ea typeface="Arial"/>
                <a:cs typeface="Arial"/>
                <a:sym typeface="Arial"/>
              </a:rPr>
              <a:t>Sprint 1</a:t>
            </a:r>
            <a:endParaRPr sz="2100">
              <a:solidFill>
                <a:schemeClr val="dk1"/>
              </a:solidFill>
              <a:latin typeface="Calibri"/>
              <a:ea typeface="Calibri"/>
              <a:cs typeface="Calibri"/>
              <a:sym typeface="Calibri"/>
            </a:endParaRPr>
          </a:p>
        </p:txBody>
      </p:sp>
      <p:sp>
        <p:nvSpPr>
          <p:cNvPr id="170" name="Google Shape;170;p9"/>
          <p:cNvSpPr/>
          <p:nvPr/>
        </p:nvSpPr>
        <p:spPr>
          <a:xfrm>
            <a:off x="1323975" y="2990850"/>
            <a:ext cx="4755000" cy="1204200"/>
          </a:xfrm>
          <a:prstGeom prst="rect">
            <a:avLst/>
          </a:prstGeom>
          <a:noFill/>
          <a:ln>
            <a:noFill/>
          </a:ln>
        </p:spPr>
        <p:txBody>
          <a:bodyPr anchorCtr="0" anchor="t" bIns="25400" lIns="25400" spcFirstLastPara="1" rIns="25400" wrap="square" tIns="25400">
            <a:noAutofit/>
          </a:bodyPr>
          <a:lstStyle/>
          <a:p>
            <a:pPr indent="0" lvl="0" marL="0" marR="0" rtl="0" algn="l">
              <a:lnSpc>
                <a:spcPct val="119259"/>
              </a:lnSpc>
              <a:spcBef>
                <a:spcPts val="0"/>
              </a:spcBef>
              <a:spcAft>
                <a:spcPts val="0"/>
              </a:spcAft>
              <a:buClr>
                <a:srgbClr val="16212B"/>
              </a:buClr>
              <a:buSzPts val="1725"/>
              <a:buFont typeface="Arial"/>
              <a:buNone/>
            </a:pPr>
            <a:r>
              <a:rPr lang="en-US" sz="1725">
                <a:solidFill>
                  <a:srgbClr val="16212B"/>
                </a:solidFill>
              </a:rPr>
              <a:t>Le premier sprint a posé les fondations DataOps, avec l'ingestion, le stockage, la transformation et l'orchestration</a:t>
            </a:r>
            <a:endParaRPr sz="1725">
              <a:solidFill>
                <a:schemeClr val="dk1"/>
              </a:solidFill>
              <a:latin typeface="Calibri"/>
              <a:ea typeface="Calibri"/>
              <a:cs typeface="Calibri"/>
              <a:sym typeface="Calibri"/>
            </a:endParaRPr>
          </a:p>
        </p:txBody>
      </p:sp>
      <p:sp>
        <p:nvSpPr>
          <p:cNvPr id="171" name="Google Shape;171;p9"/>
          <p:cNvSpPr/>
          <p:nvPr/>
        </p:nvSpPr>
        <p:spPr>
          <a:xfrm>
            <a:off x="1323975" y="5461695"/>
            <a:ext cx="4616351" cy="2895600"/>
          </a:xfrm>
          <a:prstGeom prst="roundRect">
            <a:avLst>
              <a:gd fmla="val 4605"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72" name="Google Shape;172;p9"/>
          <p:cNvPicPr preferRelativeResize="0"/>
          <p:nvPr/>
        </p:nvPicPr>
        <p:blipFill rotWithShape="1">
          <a:blip r:embed="rId3">
            <a:alphaModFix/>
          </a:blip>
          <a:srcRect b="0" l="0" r="0" t="0"/>
          <a:stretch/>
        </p:blipFill>
        <p:spPr>
          <a:xfrm>
            <a:off x="1438275" y="5880199"/>
            <a:ext cx="4387751" cy="2058591"/>
          </a:xfrm>
          <a:prstGeom prst="rect">
            <a:avLst/>
          </a:prstGeom>
          <a:noFill/>
          <a:ln>
            <a:noFill/>
          </a:ln>
        </p:spPr>
      </p:pic>
      <p:sp>
        <p:nvSpPr>
          <p:cNvPr id="173" name="Google Shape;173;p9"/>
          <p:cNvSpPr/>
          <p:nvPr/>
        </p:nvSpPr>
        <p:spPr>
          <a:xfrm>
            <a:off x="1093157" y="8452545"/>
            <a:ext cx="5077986" cy="358080"/>
          </a:xfrm>
          <a:prstGeom prst="rect">
            <a:avLst/>
          </a:prstGeom>
          <a:noFill/>
          <a:ln>
            <a:noFill/>
          </a:ln>
        </p:spPr>
        <p:txBody>
          <a:bodyPr anchorCtr="0" anchor="t" bIns="25400" lIns="25400" spcFirstLastPara="1" rIns="25400" wrap="square" tIns="25400">
            <a:noAutofit/>
          </a:bodyPr>
          <a:lstStyle/>
          <a:p>
            <a:pPr indent="0" lvl="0" marL="0" marR="0" rtl="0" algn="ctr">
              <a:lnSpc>
                <a:spcPct val="120000"/>
              </a:lnSpc>
              <a:spcBef>
                <a:spcPts val="0"/>
              </a:spcBef>
              <a:spcAft>
                <a:spcPts val="0"/>
              </a:spcAft>
              <a:buClr>
                <a:srgbClr val="5B6B80"/>
              </a:buClr>
              <a:buSzPts val="1800"/>
              <a:buFont typeface="Arial"/>
              <a:buNone/>
            </a:pPr>
            <a:r>
              <a:rPr lang="en-US" sz="1800">
                <a:solidFill>
                  <a:srgbClr val="5B6B80"/>
                </a:solidFill>
                <a:latin typeface="Arial"/>
                <a:ea typeface="Arial"/>
                <a:cs typeface="Arial"/>
                <a:sym typeface="Arial"/>
              </a:rPr>
              <a:t>Figure 5 — Planning / Review / Rétrospective</a:t>
            </a:r>
            <a:endParaRPr sz="1800">
              <a:solidFill>
                <a:schemeClr val="dk1"/>
              </a:solidFill>
              <a:latin typeface="Calibri"/>
              <a:ea typeface="Calibri"/>
              <a:cs typeface="Calibri"/>
              <a:sym typeface="Calibri"/>
            </a:endParaRPr>
          </a:p>
        </p:txBody>
      </p:sp>
      <p:sp>
        <p:nvSpPr>
          <p:cNvPr id="174" name="Google Shape;174;p9"/>
          <p:cNvSpPr/>
          <p:nvPr/>
        </p:nvSpPr>
        <p:spPr>
          <a:xfrm>
            <a:off x="6559451" y="2314575"/>
            <a:ext cx="5168950" cy="6734175"/>
          </a:xfrm>
          <a:prstGeom prst="roundRect">
            <a:avLst>
              <a:gd fmla="val 3317" name="adj"/>
            </a:avLst>
          </a:prstGeom>
          <a:solidFill>
            <a:srgbClr val="F5F7FA"/>
          </a:solidFill>
          <a:ln cap="flat" cmpd="sng" w="9525">
            <a:solidFill>
              <a:srgbClr val="E2E6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 name="Google Shape;175;p9"/>
          <p:cNvSpPr/>
          <p:nvPr/>
        </p:nvSpPr>
        <p:spPr>
          <a:xfrm>
            <a:off x="6835676" y="2590800"/>
            <a:ext cx="507815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2100"/>
              <a:buFont typeface="Arial"/>
              <a:buNone/>
            </a:pPr>
            <a:r>
              <a:rPr b="1" lang="en-US" sz="2100">
                <a:solidFill>
                  <a:srgbClr val="0B7A6F"/>
                </a:solidFill>
                <a:latin typeface="Arial"/>
                <a:ea typeface="Arial"/>
                <a:cs typeface="Arial"/>
                <a:sym typeface="Arial"/>
              </a:rPr>
              <a:t>Sprint 2</a:t>
            </a:r>
            <a:endParaRPr sz="2100">
              <a:solidFill>
                <a:schemeClr val="dk1"/>
              </a:solidFill>
              <a:latin typeface="Calibri"/>
              <a:ea typeface="Calibri"/>
              <a:cs typeface="Calibri"/>
              <a:sym typeface="Calibri"/>
            </a:endParaRPr>
          </a:p>
        </p:txBody>
      </p:sp>
      <p:sp>
        <p:nvSpPr>
          <p:cNvPr id="176" name="Google Shape;176;p9"/>
          <p:cNvSpPr/>
          <p:nvPr/>
        </p:nvSpPr>
        <p:spPr>
          <a:xfrm>
            <a:off x="6835675" y="2990850"/>
            <a:ext cx="4755000" cy="1068000"/>
          </a:xfrm>
          <a:prstGeom prst="rect">
            <a:avLst/>
          </a:prstGeom>
          <a:noFill/>
          <a:ln>
            <a:noFill/>
          </a:ln>
        </p:spPr>
        <p:txBody>
          <a:bodyPr anchorCtr="0" anchor="t" bIns="25400" lIns="25400" spcFirstLastPara="1" rIns="25400" wrap="square" tIns="25400">
            <a:noAutofit/>
          </a:bodyPr>
          <a:lstStyle/>
          <a:p>
            <a:pPr indent="0" lvl="0" marL="0" marR="0" rtl="0" algn="l">
              <a:lnSpc>
                <a:spcPct val="119259"/>
              </a:lnSpc>
              <a:spcBef>
                <a:spcPts val="0"/>
              </a:spcBef>
              <a:spcAft>
                <a:spcPts val="0"/>
              </a:spcAft>
              <a:buClr>
                <a:srgbClr val="16212B"/>
              </a:buClr>
              <a:buSzPts val="1725"/>
              <a:buFont typeface="Arial"/>
              <a:buNone/>
            </a:pPr>
            <a:r>
              <a:rPr lang="en-US" sz="1725">
                <a:solidFill>
                  <a:srgbClr val="16212B"/>
                </a:solidFill>
              </a:rPr>
              <a:t>Le deuxième sprint a porté sur la qualité des données et, en parallèle, sur le Machine Learning avec MLflow</a:t>
            </a:r>
            <a:endParaRPr sz="1725">
              <a:solidFill>
                <a:schemeClr val="dk1"/>
              </a:solidFill>
              <a:latin typeface="Calibri"/>
              <a:ea typeface="Calibri"/>
              <a:cs typeface="Calibri"/>
              <a:sym typeface="Calibri"/>
            </a:endParaRPr>
          </a:p>
        </p:txBody>
      </p:sp>
      <p:sp>
        <p:nvSpPr>
          <p:cNvPr id="177" name="Google Shape;177;p9"/>
          <p:cNvSpPr/>
          <p:nvPr/>
        </p:nvSpPr>
        <p:spPr>
          <a:xfrm>
            <a:off x="6835676" y="5461695"/>
            <a:ext cx="4616500" cy="2895600"/>
          </a:xfrm>
          <a:prstGeom prst="roundRect">
            <a:avLst>
              <a:gd fmla="val 4605"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78" name="Google Shape;178;p9"/>
          <p:cNvPicPr preferRelativeResize="0"/>
          <p:nvPr/>
        </p:nvPicPr>
        <p:blipFill rotWithShape="1">
          <a:blip r:embed="rId4">
            <a:alphaModFix/>
          </a:blip>
          <a:srcRect b="0" l="-1" r="-1" t="0"/>
          <a:stretch/>
        </p:blipFill>
        <p:spPr>
          <a:xfrm>
            <a:off x="6949976" y="5808762"/>
            <a:ext cx="4387900" cy="2201317"/>
          </a:xfrm>
          <a:prstGeom prst="rect">
            <a:avLst/>
          </a:prstGeom>
          <a:noFill/>
          <a:ln>
            <a:noFill/>
          </a:ln>
        </p:spPr>
      </p:pic>
      <p:sp>
        <p:nvSpPr>
          <p:cNvPr id="179" name="Google Shape;179;p9"/>
          <p:cNvSpPr/>
          <p:nvPr/>
        </p:nvSpPr>
        <p:spPr>
          <a:xfrm>
            <a:off x="6604851" y="8452545"/>
            <a:ext cx="5078150" cy="358080"/>
          </a:xfrm>
          <a:prstGeom prst="rect">
            <a:avLst/>
          </a:prstGeom>
          <a:noFill/>
          <a:ln>
            <a:noFill/>
          </a:ln>
        </p:spPr>
        <p:txBody>
          <a:bodyPr anchorCtr="0" anchor="t" bIns="25400" lIns="25400" spcFirstLastPara="1" rIns="25400" wrap="square" tIns="25400">
            <a:noAutofit/>
          </a:bodyPr>
          <a:lstStyle/>
          <a:p>
            <a:pPr indent="0" lvl="0" marL="0" marR="0" rtl="0" algn="ctr">
              <a:lnSpc>
                <a:spcPct val="120000"/>
              </a:lnSpc>
              <a:spcBef>
                <a:spcPts val="0"/>
              </a:spcBef>
              <a:spcAft>
                <a:spcPts val="0"/>
              </a:spcAft>
              <a:buClr>
                <a:srgbClr val="5B6B80"/>
              </a:buClr>
              <a:buSzPts val="1800"/>
              <a:buFont typeface="Arial"/>
              <a:buNone/>
            </a:pPr>
            <a:r>
              <a:rPr lang="en-US" sz="1800">
                <a:solidFill>
                  <a:srgbClr val="5B6B80"/>
                </a:solidFill>
                <a:latin typeface="Arial"/>
                <a:ea typeface="Arial"/>
                <a:cs typeface="Arial"/>
                <a:sym typeface="Arial"/>
              </a:rPr>
              <a:t>Figure 6 — Planning / Review / Rétrospective</a:t>
            </a:r>
            <a:endParaRPr sz="1800">
              <a:solidFill>
                <a:schemeClr val="dk1"/>
              </a:solidFill>
              <a:latin typeface="Calibri"/>
              <a:ea typeface="Calibri"/>
              <a:cs typeface="Calibri"/>
              <a:sym typeface="Calibri"/>
            </a:endParaRPr>
          </a:p>
        </p:txBody>
      </p:sp>
      <p:sp>
        <p:nvSpPr>
          <p:cNvPr id="180" name="Google Shape;180;p9"/>
          <p:cNvSpPr/>
          <p:nvPr/>
        </p:nvSpPr>
        <p:spPr>
          <a:xfrm>
            <a:off x="12071300" y="2314575"/>
            <a:ext cx="5168950" cy="6734175"/>
          </a:xfrm>
          <a:prstGeom prst="roundRect">
            <a:avLst>
              <a:gd fmla="val 3317" name="adj"/>
            </a:avLst>
          </a:prstGeom>
          <a:solidFill>
            <a:srgbClr val="F5F7FA"/>
          </a:solidFill>
          <a:ln cap="flat" cmpd="sng" w="9525">
            <a:solidFill>
              <a:srgbClr val="E2E6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 name="Google Shape;181;p9"/>
          <p:cNvSpPr/>
          <p:nvPr/>
        </p:nvSpPr>
        <p:spPr>
          <a:xfrm>
            <a:off x="12347525" y="2590800"/>
            <a:ext cx="5078150" cy="342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2100"/>
              <a:buFont typeface="Arial"/>
              <a:buNone/>
            </a:pPr>
            <a:r>
              <a:rPr b="1" lang="en-US" sz="2100">
                <a:solidFill>
                  <a:srgbClr val="0B7A6F"/>
                </a:solidFill>
                <a:latin typeface="Arial"/>
                <a:ea typeface="Arial"/>
                <a:cs typeface="Arial"/>
                <a:sym typeface="Arial"/>
              </a:rPr>
              <a:t>Sprint 3</a:t>
            </a:r>
            <a:endParaRPr sz="2100">
              <a:solidFill>
                <a:schemeClr val="dk1"/>
              </a:solidFill>
              <a:latin typeface="Calibri"/>
              <a:ea typeface="Calibri"/>
              <a:cs typeface="Calibri"/>
              <a:sym typeface="Calibri"/>
            </a:endParaRPr>
          </a:p>
        </p:txBody>
      </p:sp>
      <p:sp>
        <p:nvSpPr>
          <p:cNvPr id="182" name="Google Shape;182;p9"/>
          <p:cNvSpPr/>
          <p:nvPr/>
        </p:nvSpPr>
        <p:spPr>
          <a:xfrm>
            <a:off x="12347525" y="2990850"/>
            <a:ext cx="4755000" cy="794400"/>
          </a:xfrm>
          <a:prstGeom prst="rect">
            <a:avLst/>
          </a:prstGeom>
          <a:noFill/>
          <a:ln>
            <a:noFill/>
          </a:ln>
        </p:spPr>
        <p:txBody>
          <a:bodyPr anchorCtr="0" anchor="t" bIns="25400" lIns="25400" spcFirstLastPara="1" rIns="25400" wrap="square" tIns="25400">
            <a:noAutofit/>
          </a:bodyPr>
          <a:lstStyle/>
          <a:p>
            <a:pPr indent="0" lvl="0" marL="0" marR="0" rtl="0" algn="l">
              <a:lnSpc>
                <a:spcPct val="119259"/>
              </a:lnSpc>
              <a:spcBef>
                <a:spcPts val="0"/>
              </a:spcBef>
              <a:spcAft>
                <a:spcPts val="0"/>
              </a:spcAft>
              <a:buClr>
                <a:srgbClr val="16212B"/>
              </a:buClr>
              <a:buSzPts val="1725"/>
              <a:buFont typeface="Arial"/>
              <a:buNone/>
            </a:pPr>
            <a:r>
              <a:rPr lang="en-US" sz="1725">
                <a:solidFill>
                  <a:srgbClr val="16212B"/>
                </a:solidFill>
              </a:rPr>
              <a:t>Le troisième sprint a couvert le déploiement, avec l'API, Docker, le CI/CD et le monitoring</a:t>
            </a:r>
            <a:endParaRPr sz="1725">
              <a:solidFill>
                <a:schemeClr val="dk1"/>
              </a:solidFill>
              <a:latin typeface="Calibri"/>
              <a:ea typeface="Calibri"/>
              <a:cs typeface="Calibri"/>
              <a:sym typeface="Calibri"/>
            </a:endParaRPr>
          </a:p>
        </p:txBody>
      </p:sp>
      <p:sp>
        <p:nvSpPr>
          <p:cNvPr id="183" name="Google Shape;183;p9"/>
          <p:cNvSpPr/>
          <p:nvPr/>
        </p:nvSpPr>
        <p:spPr>
          <a:xfrm>
            <a:off x="12347525" y="5461695"/>
            <a:ext cx="4616500" cy="2895600"/>
          </a:xfrm>
          <a:prstGeom prst="roundRect">
            <a:avLst>
              <a:gd fmla="val 4605"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84" name="Google Shape;184;p9"/>
          <p:cNvPicPr preferRelativeResize="0"/>
          <p:nvPr/>
        </p:nvPicPr>
        <p:blipFill rotWithShape="1">
          <a:blip r:embed="rId5">
            <a:alphaModFix/>
          </a:blip>
          <a:srcRect b="0" l="-2" r="-2" t="0"/>
          <a:stretch/>
        </p:blipFill>
        <p:spPr>
          <a:xfrm>
            <a:off x="12461825" y="5850285"/>
            <a:ext cx="4387900" cy="2118420"/>
          </a:xfrm>
          <a:prstGeom prst="rect">
            <a:avLst/>
          </a:prstGeom>
          <a:noFill/>
          <a:ln>
            <a:noFill/>
          </a:ln>
        </p:spPr>
      </p:pic>
      <p:sp>
        <p:nvSpPr>
          <p:cNvPr id="185" name="Google Shape;185;p9"/>
          <p:cNvSpPr/>
          <p:nvPr/>
        </p:nvSpPr>
        <p:spPr>
          <a:xfrm>
            <a:off x="12116700" y="8452545"/>
            <a:ext cx="5078150" cy="358080"/>
          </a:xfrm>
          <a:prstGeom prst="rect">
            <a:avLst/>
          </a:prstGeom>
          <a:noFill/>
          <a:ln>
            <a:noFill/>
          </a:ln>
        </p:spPr>
        <p:txBody>
          <a:bodyPr anchorCtr="0" anchor="t" bIns="25400" lIns="25400" spcFirstLastPara="1" rIns="25400" wrap="square" tIns="25400">
            <a:noAutofit/>
          </a:bodyPr>
          <a:lstStyle/>
          <a:p>
            <a:pPr indent="0" lvl="0" marL="0" marR="0" rtl="0" algn="ctr">
              <a:lnSpc>
                <a:spcPct val="120000"/>
              </a:lnSpc>
              <a:spcBef>
                <a:spcPts val="0"/>
              </a:spcBef>
              <a:spcAft>
                <a:spcPts val="0"/>
              </a:spcAft>
              <a:buClr>
                <a:srgbClr val="5B6B80"/>
              </a:buClr>
              <a:buSzPts val="1800"/>
              <a:buFont typeface="Arial"/>
              <a:buNone/>
            </a:pPr>
            <a:r>
              <a:rPr lang="en-US" sz="1800">
                <a:solidFill>
                  <a:srgbClr val="5B6B80"/>
                </a:solidFill>
                <a:latin typeface="Arial"/>
                <a:ea typeface="Arial"/>
                <a:cs typeface="Arial"/>
                <a:sym typeface="Arial"/>
              </a:rPr>
              <a:t>Figure 7 — Planning / Review / Rétrospective</a:t>
            </a:r>
            <a:endParaRPr sz="1800">
              <a:solidFill>
                <a:schemeClr val="dk1"/>
              </a:solidFill>
              <a:latin typeface="Calibri"/>
              <a:ea typeface="Calibri"/>
              <a:cs typeface="Calibri"/>
              <a:sym typeface="Calibri"/>
            </a:endParaRPr>
          </a:p>
        </p:txBody>
      </p:sp>
      <p:sp>
        <p:nvSpPr>
          <p:cNvPr id="186" name="Google Shape;186;p9"/>
          <p:cNvSpPr/>
          <p:nvPr/>
        </p:nvSpPr>
        <p:spPr>
          <a:xfrm>
            <a:off x="238125" y="9296400"/>
            <a:ext cx="1781175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5B6B80"/>
              </a:buClr>
              <a:buSzPts val="1800"/>
              <a:buFont typeface="Arial"/>
              <a:buNone/>
            </a:pPr>
            <a:r>
              <a:rPr lang="en-US" sz="1800">
                <a:solidFill>
                  <a:srgbClr val="5B6B80"/>
                </a:solidFill>
              </a:rPr>
              <a:t>Au total, notre </a:t>
            </a:r>
            <a:r>
              <a:rPr b="1" lang="en-US" sz="1800">
                <a:solidFill>
                  <a:srgbClr val="5B6B80"/>
                </a:solidFill>
              </a:rPr>
              <a:t>Product Backlog</a:t>
            </a:r>
            <a:r>
              <a:rPr lang="en-US" sz="1800">
                <a:solidFill>
                  <a:srgbClr val="5B6B80"/>
                </a:solidFill>
              </a:rPr>
              <a:t> contenait </a:t>
            </a:r>
            <a:r>
              <a:rPr b="1" lang="en-US" sz="1800">
                <a:solidFill>
                  <a:srgbClr val="5B6B80"/>
                </a:solidFill>
              </a:rPr>
              <a:t>20 user stories</a:t>
            </a:r>
            <a:r>
              <a:rPr lang="en-US" sz="1800">
                <a:solidFill>
                  <a:srgbClr val="5B6B80"/>
                </a:solidFill>
              </a:rPr>
              <a:t>, qui couvrent les 10 livrables attendus</a:t>
            </a:r>
            <a:endParaRPr sz="1800">
              <a:solidFill>
                <a:schemeClr val="dk1"/>
              </a:solidFill>
              <a:latin typeface="Calibri"/>
              <a:ea typeface="Calibri"/>
              <a:cs typeface="Calibri"/>
              <a:sym typeface="Calibri"/>
            </a:endParaRPr>
          </a:p>
        </p:txBody>
      </p:sp>
      <p:sp>
        <p:nvSpPr>
          <p:cNvPr id="187" name="Google Shape;187;p9"/>
          <p:cNvSpPr/>
          <p:nvPr/>
        </p:nvSpPr>
        <p:spPr>
          <a:xfrm>
            <a:off x="16504920" y="9648825"/>
            <a:ext cx="809244"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5B6B80"/>
              </a:buClr>
              <a:buSzPts val="1800"/>
              <a:buFont typeface="Courier New"/>
              <a:buNone/>
            </a:pPr>
            <a:r>
              <a:rPr lang="en-US" sz="1800">
                <a:solidFill>
                  <a:srgbClr val="5B6B80"/>
                </a:solidFill>
                <a:latin typeface="Courier New"/>
                <a:ea typeface="Courier New"/>
                <a:cs typeface="Courier New"/>
                <a:sym typeface="Courier New"/>
              </a:rPr>
              <a:t>7/41</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2" name="Shape 192"/>
        <p:cNvGrpSpPr/>
        <p:nvPr/>
      </p:nvGrpSpPr>
      <p:grpSpPr>
        <a:xfrm>
          <a:off x="0" y="0"/>
          <a:ext cx="0" cy="0"/>
          <a:chOff x="0" y="0"/>
          <a:chExt cx="0" cy="0"/>
        </a:xfrm>
      </p:grpSpPr>
      <p:sp>
        <p:nvSpPr>
          <p:cNvPr id="193" name="Google Shape;193;p10"/>
          <p:cNvSpPr/>
          <p:nvPr/>
        </p:nvSpPr>
        <p:spPr>
          <a:xfrm>
            <a:off x="1047750" y="914400"/>
            <a:ext cx="17811750"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1950">
                <a:solidFill>
                  <a:srgbClr val="0B7A6F"/>
                </a:solidFill>
                <a:latin typeface="Courier New"/>
                <a:ea typeface="Courier New"/>
                <a:cs typeface="Courier New"/>
                <a:sym typeface="Courier New"/>
              </a:rPr>
              <a:t>CHAPITRE 1 — MA CONTRIBUTION</a:t>
            </a:r>
            <a:endParaRPr sz="1950">
              <a:solidFill>
                <a:schemeClr val="dk1"/>
              </a:solidFill>
              <a:latin typeface="Calibri"/>
              <a:ea typeface="Calibri"/>
              <a:cs typeface="Calibri"/>
              <a:sym typeface="Calibri"/>
            </a:endParaRPr>
          </a:p>
        </p:txBody>
      </p:sp>
      <p:sp>
        <p:nvSpPr>
          <p:cNvPr id="194" name="Google Shape;194;p10"/>
          <p:cNvSpPr/>
          <p:nvPr/>
        </p:nvSpPr>
        <p:spPr>
          <a:xfrm>
            <a:off x="1047750" y="1419225"/>
            <a:ext cx="17811750" cy="5524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3450">
                <a:solidFill>
                  <a:srgbClr val="16212B"/>
                </a:solidFill>
                <a:latin typeface="Arial"/>
                <a:ea typeface="Arial"/>
                <a:cs typeface="Arial"/>
                <a:sym typeface="Arial"/>
              </a:rPr>
              <a:t>Anass Dabibe — Cadrage, vision &amp; lead technique</a:t>
            </a:r>
            <a:endParaRPr sz="3450">
              <a:solidFill>
                <a:schemeClr val="dk1"/>
              </a:solidFill>
              <a:latin typeface="Calibri"/>
              <a:ea typeface="Calibri"/>
              <a:cs typeface="Calibri"/>
              <a:sym typeface="Calibri"/>
            </a:endParaRPr>
          </a:p>
        </p:txBody>
      </p:sp>
      <p:sp>
        <p:nvSpPr>
          <p:cNvPr id="195" name="Google Shape;195;p10"/>
          <p:cNvSpPr/>
          <p:nvPr/>
        </p:nvSpPr>
        <p:spPr>
          <a:xfrm>
            <a:off x="1047750" y="3300000"/>
            <a:ext cx="9880283" cy="38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2000">
                <a:solidFill>
                  <a:srgbClr val="0B7A6F"/>
                </a:solidFill>
                <a:latin typeface="Arial"/>
                <a:ea typeface="Arial"/>
                <a:cs typeface="Arial"/>
                <a:sym typeface="Arial"/>
              </a:rPr>
              <a:t>MA CONTRIBUTION PERSONNELLE</a:t>
            </a:r>
            <a:endParaRPr sz="2000">
              <a:solidFill>
                <a:schemeClr val="dk1"/>
              </a:solidFill>
              <a:latin typeface="Calibri"/>
              <a:ea typeface="Calibri"/>
              <a:cs typeface="Calibri"/>
              <a:sym typeface="Calibri"/>
            </a:endParaRPr>
          </a:p>
        </p:txBody>
      </p:sp>
      <p:sp>
        <p:nvSpPr>
          <p:cNvPr id="196" name="Google Shape;196;p10"/>
          <p:cNvSpPr/>
          <p:nvPr/>
        </p:nvSpPr>
        <p:spPr>
          <a:xfrm>
            <a:off x="1047750" y="3700000"/>
            <a:ext cx="9251400" cy="1132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lang="en-US" sz="2000">
                <a:solidFill>
                  <a:srgbClr val="16212B"/>
                </a:solidFill>
              </a:rPr>
              <a:t>Ma contribution a consisté à rédiger la vision produit du projet, à cadrer le backlog Jira, à écrire la documentation d'entrée du dépôt, et à coordonner l'équipe  tout au long des trois sprints</a:t>
            </a:r>
            <a:endParaRPr sz="2000">
              <a:solidFill>
                <a:schemeClr val="dk1"/>
              </a:solidFill>
              <a:latin typeface="Calibri"/>
              <a:ea typeface="Calibri"/>
              <a:cs typeface="Calibri"/>
              <a:sym typeface="Calibri"/>
            </a:endParaRPr>
          </a:p>
        </p:txBody>
      </p:sp>
      <p:sp>
        <p:nvSpPr>
          <p:cNvPr id="197" name="Google Shape;197;p10"/>
          <p:cNvSpPr/>
          <p:nvPr/>
        </p:nvSpPr>
        <p:spPr>
          <a:xfrm>
            <a:off x="1047750" y="5900000"/>
            <a:ext cx="9880283" cy="38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2000">
                <a:solidFill>
                  <a:srgbClr val="0B7A6F"/>
                </a:solidFill>
                <a:latin typeface="Arial"/>
                <a:ea typeface="Arial"/>
                <a:cs typeface="Arial"/>
                <a:sym typeface="Arial"/>
              </a:rPr>
              <a:t>RÔLE DANS LE PIPELINE GLOBAL</a:t>
            </a:r>
            <a:endParaRPr sz="2000">
              <a:solidFill>
                <a:schemeClr val="dk1"/>
              </a:solidFill>
              <a:latin typeface="Calibri"/>
              <a:ea typeface="Calibri"/>
              <a:cs typeface="Calibri"/>
              <a:sym typeface="Calibri"/>
            </a:endParaRPr>
          </a:p>
        </p:txBody>
      </p:sp>
      <p:sp>
        <p:nvSpPr>
          <p:cNvPr id="198" name="Google Shape;198;p10"/>
          <p:cNvSpPr/>
          <p:nvPr/>
        </p:nvSpPr>
        <p:spPr>
          <a:xfrm>
            <a:off x="1047750" y="6300000"/>
            <a:ext cx="9251400" cy="2259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lang="en-US" sz="2000">
                <a:solidFill>
                  <a:srgbClr val="16212B"/>
                </a:solidFill>
              </a:rPr>
              <a:t>Mon rôle dans le pipeline global a été de travailler avec chacun des membres de l'équipe, tout au long des trois sprints, aussi bien sur le cadrage de la vision que techniquement sur les différentes briques du pipeline, pour que chaque livrable réponde à un besoin réellement identifié et s'intègre correctement dans l'architecture globale. Ce rôle ne se limite donc pas à une seule brique visible sur le schéma d'architecture, il traverse l'ensemble du pipeline.</a:t>
            </a:r>
            <a:endParaRPr sz="2000">
              <a:solidFill>
                <a:schemeClr val="dk1"/>
              </a:solidFill>
              <a:latin typeface="Calibri"/>
              <a:ea typeface="Calibri"/>
              <a:cs typeface="Calibri"/>
              <a:sym typeface="Calibri"/>
            </a:endParaRPr>
          </a:p>
        </p:txBody>
      </p:sp>
      <p:sp>
        <p:nvSpPr>
          <p:cNvPr id="199" name="Google Shape;199;p10"/>
          <p:cNvSpPr/>
          <p:nvPr/>
        </p:nvSpPr>
        <p:spPr>
          <a:xfrm>
            <a:off x="10601288" y="4202375"/>
            <a:ext cx="7302900" cy="380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2000">
                <a:solidFill>
                  <a:srgbClr val="0B7A6F"/>
                </a:solidFill>
                <a:latin typeface="Arial"/>
                <a:ea typeface="Arial"/>
                <a:cs typeface="Arial"/>
                <a:sym typeface="Arial"/>
              </a:rPr>
              <a:t>DÉCISION TECHNIQUE CLÉ</a:t>
            </a:r>
            <a:endParaRPr sz="2000">
              <a:solidFill>
                <a:schemeClr val="dk1"/>
              </a:solidFill>
              <a:latin typeface="Calibri"/>
              <a:ea typeface="Calibri"/>
              <a:cs typeface="Calibri"/>
              <a:sym typeface="Calibri"/>
            </a:endParaRPr>
          </a:p>
        </p:txBody>
      </p:sp>
      <p:sp>
        <p:nvSpPr>
          <p:cNvPr id="200" name="Google Shape;200;p10"/>
          <p:cNvSpPr/>
          <p:nvPr/>
        </p:nvSpPr>
        <p:spPr>
          <a:xfrm>
            <a:off x="10601288" y="4602375"/>
            <a:ext cx="7302900" cy="1969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lang="en-US" sz="2000">
                <a:solidFill>
                  <a:srgbClr val="16212B"/>
                </a:solidFill>
              </a:rPr>
              <a:t>La décision technique que j'ai portée dès le départ a été de poser une architecture entièrement traçable, avec Git, MLflow et le Data Contract, plutôt que de partir sur un simple notebook isolé. C'est une condition que nous nous sommes imposée dès la vision du projet, pas un ajout de dernière minute, et c'est elle qui a rendu possibles les 10 livrables que vous allez découvrir</a:t>
            </a:r>
            <a:endParaRPr sz="2000">
              <a:solidFill>
                <a:schemeClr val="dk1"/>
              </a:solidFill>
              <a:latin typeface="Calibri"/>
              <a:ea typeface="Calibri"/>
              <a:cs typeface="Calibri"/>
              <a:sym typeface="Calibri"/>
            </a:endParaRPr>
          </a:p>
        </p:txBody>
      </p:sp>
      <p:sp>
        <p:nvSpPr>
          <p:cNvPr id="201" name="Google Shape;201;p10"/>
          <p:cNvSpPr/>
          <p:nvPr/>
        </p:nvSpPr>
        <p:spPr>
          <a:xfrm>
            <a:off x="16504920" y="9648825"/>
            <a:ext cx="809244"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0" lang="en-US" sz="1800">
                <a:solidFill>
                  <a:srgbClr val="5B6B80"/>
                </a:solidFill>
                <a:latin typeface="Courier New"/>
                <a:ea typeface="Courier New"/>
                <a:cs typeface="Courier New"/>
                <a:sym typeface="Courier New"/>
              </a:rPr>
              <a:t>8/41</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 name="Shape 206"/>
        <p:cNvGrpSpPr/>
        <p:nvPr/>
      </p:nvGrpSpPr>
      <p:grpSpPr>
        <a:xfrm>
          <a:off x="0" y="0"/>
          <a:ext cx="0" cy="0"/>
          <a:chOff x="0" y="0"/>
          <a:chExt cx="0" cy="0"/>
        </a:xfrm>
      </p:grpSpPr>
      <p:sp>
        <p:nvSpPr>
          <p:cNvPr id="207" name="Google Shape;207;p11"/>
          <p:cNvSpPr/>
          <p:nvPr/>
        </p:nvSpPr>
        <p:spPr>
          <a:xfrm>
            <a:off x="1047750" y="914400"/>
            <a:ext cx="17811750"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1950"/>
              <a:buFont typeface="Courier New"/>
              <a:buNone/>
            </a:pPr>
            <a:r>
              <a:rPr b="1" lang="en-US" sz="1950">
                <a:solidFill>
                  <a:srgbClr val="0B7A6F"/>
                </a:solidFill>
                <a:latin typeface="Courier New"/>
                <a:ea typeface="Courier New"/>
                <a:cs typeface="Courier New"/>
                <a:sym typeface="Courier New"/>
              </a:rPr>
              <a:t>CHAPITRE 3 — §1</a:t>
            </a:r>
            <a:endParaRPr sz="1950">
              <a:solidFill>
                <a:schemeClr val="dk1"/>
              </a:solidFill>
              <a:latin typeface="Calibri"/>
              <a:ea typeface="Calibri"/>
              <a:cs typeface="Calibri"/>
              <a:sym typeface="Calibri"/>
            </a:endParaRPr>
          </a:p>
        </p:txBody>
      </p:sp>
      <p:sp>
        <p:nvSpPr>
          <p:cNvPr id="208" name="Google Shape;208;p11"/>
          <p:cNvSpPr/>
          <p:nvPr/>
        </p:nvSpPr>
        <p:spPr>
          <a:xfrm>
            <a:off x="1047750" y="1419225"/>
            <a:ext cx="17811750" cy="5524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3450"/>
              <a:buFont typeface="Arial"/>
              <a:buNone/>
            </a:pPr>
            <a:r>
              <a:rPr b="1" lang="en-US" sz="3450">
                <a:solidFill>
                  <a:srgbClr val="16212B"/>
                </a:solidFill>
                <a:latin typeface="Arial"/>
                <a:ea typeface="Arial"/>
                <a:cs typeface="Arial"/>
                <a:sym typeface="Arial"/>
              </a:rPr>
              <a:t>Architecture technique livrée : vue d'ensemble</a:t>
            </a:r>
            <a:endParaRPr sz="3450">
              <a:solidFill>
                <a:schemeClr val="dk1"/>
              </a:solidFill>
              <a:latin typeface="Calibri"/>
              <a:ea typeface="Calibri"/>
              <a:cs typeface="Calibri"/>
              <a:sym typeface="Calibri"/>
            </a:endParaRPr>
          </a:p>
        </p:txBody>
      </p:sp>
      <p:sp>
        <p:nvSpPr>
          <p:cNvPr id="209" name="Google Shape;209;p11"/>
          <p:cNvSpPr/>
          <p:nvPr/>
        </p:nvSpPr>
        <p:spPr>
          <a:xfrm>
            <a:off x="1047750" y="2816572"/>
            <a:ext cx="16192500" cy="5638800"/>
          </a:xfrm>
          <a:prstGeom prst="roundRect">
            <a:avLst>
              <a:gd fmla="val 3378"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200">
                <a:solidFill>
                  <a:schemeClr val="dk1"/>
                </a:solidFill>
                <a:latin typeface="Calibri"/>
                <a:ea typeface="Calibri"/>
                <a:cs typeface="Calibri"/>
                <a:sym typeface="Calibri"/>
              </a:rPr>
              <a:t>Les données arrivent par dlt, elles sont stockées dans DuckDB, puis transformées par dbt, avec des tests de qualité à chaque étape. L'ensemble est orchestré par Dagster. Vient ensuite le Machine Learning avec Scikit-learn, suivi par MLflow. Le modèle est servi par une API FastAPI, mise dans un conteneur Docker, déployée automatiquement via GitHub Actions, et surveillée en continu. Chaque brique de ce schéma, nous allons vous la prouver, et pas seulement vous la décrire</a:t>
            </a:r>
            <a:endParaRPr sz="2200">
              <a:solidFill>
                <a:schemeClr val="dk1"/>
              </a:solidFill>
              <a:latin typeface="Calibri"/>
              <a:ea typeface="Calibri"/>
              <a:cs typeface="Calibri"/>
              <a:sym typeface="Calibri"/>
            </a:endParaRPr>
          </a:p>
        </p:txBody>
      </p:sp>
      <p:pic>
        <p:nvPicPr>
          <p:cNvPr descr="preencoded.png" id="210" name="Google Shape;210;p11"/>
          <p:cNvPicPr preferRelativeResize="0"/>
          <p:nvPr/>
        </p:nvPicPr>
        <p:blipFill rotWithShape="1">
          <a:blip r:embed="rId3">
            <a:alphaModFix/>
          </a:blip>
          <a:srcRect b="0" l="-3" r="-3" t="0"/>
          <a:stretch/>
        </p:blipFill>
        <p:spPr>
          <a:xfrm>
            <a:off x="1390650" y="5101977"/>
            <a:ext cx="15506700" cy="1067991"/>
          </a:xfrm>
          <a:prstGeom prst="rect">
            <a:avLst/>
          </a:prstGeom>
          <a:noFill/>
          <a:ln>
            <a:noFill/>
          </a:ln>
        </p:spPr>
      </p:pic>
      <p:sp>
        <p:nvSpPr>
          <p:cNvPr id="211" name="Google Shape;211;p11"/>
          <p:cNvSpPr/>
          <p:nvPr/>
        </p:nvSpPr>
        <p:spPr>
          <a:xfrm>
            <a:off x="238125" y="8645872"/>
            <a:ext cx="17811750" cy="358080"/>
          </a:xfrm>
          <a:prstGeom prst="rect">
            <a:avLst/>
          </a:prstGeom>
          <a:noFill/>
          <a:ln>
            <a:noFill/>
          </a:ln>
        </p:spPr>
        <p:txBody>
          <a:bodyPr anchorCtr="0" anchor="t" bIns="25400" lIns="25400" spcFirstLastPara="1" rIns="25400" wrap="square" tIns="25400">
            <a:noAutofit/>
          </a:bodyPr>
          <a:lstStyle/>
          <a:p>
            <a:pPr indent="0" lvl="0" marL="0" marR="0" rtl="0" algn="ctr">
              <a:lnSpc>
                <a:spcPct val="120000"/>
              </a:lnSpc>
              <a:spcBef>
                <a:spcPts val="0"/>
              </a:spcBef>
              <a:spcAft>
                <a:spcPts val="0"/>
              </a:spcAft>
              <a:buClr>
                <a:srgbClr val="5B6B80"/>
              </a:buClr>
              <a:buSzPts val="1800"/>
              <a:buFont typeface="Arial"/>
              <a:buNone/>
            </a:pPr>
            <a:r>
              <a:rPr lang="en-US" sz="1800">
                <a:solidFill>
                  <a:srgbClr val="5B6B80"/>
                </a:solidFill>
                <a:latin typeface="Arial"/>
                <a:ea typeface="Arial"/>
                <a:cs typeface="Arial"/>
                <a:sym typeface="Arial"/>
              </a:rPr>
              <a:t>Figure 2 — chaîne de la version 1 ; les extensions de la version 2 (DVC, MinIO, entraînement continu, Komodo) sont détaillées dans les slides suivantes</a:t>
            </a:r>
            <a:endParaRPr/>
          </a:p>
        </p:txBody>
      </p:sp>
      <p:sp>
        <p:nvSpPr>
          <p:cNvPr id="212" name="Google Shape;212;p11"/>
          <p:cNvSpPr/>
          <p:nvPr/>
        </p:nvSpPr>
        <p:spPr>
          <a:xfrm>
            <a:off x="16504920" y="9648825"/>
            <a:ext cx="809244"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5B6B80"/>
              </a:buClr>
              <a:buSzPts val="1800"/>
              <a:buFont typeface="Courier New"/>
              <a:buNone/>
            </a:pPr>
            <a:r>
              <a:rPr lang="en-US" sz="1800">
                <a:solidFill>
                  <a:srgbClr val="5B6B80"/>
                </a:solidFill>
                <a:latin typeface="Courier New"/>
                <a:ea typeface="Courier New"/>
                <a:cs typeface="Courier New"/>
                <a:sym typeface="Courier New"/>
              </a:rPr>
              <a:t>9/41</a:t>
            </a:r>
            <a:endParaRPr sz="1800">
              <a:solidFill>
                <a:schemeClr val="dk1"/>
              </a:solidFill>
              <a:latin typeface="Calibri"/>
              <a:ea typeface="Calibri"/>
              <a:cs typeface="Calibri"/>
              <a:sym typeface="Calibri"/>
            </a:endParaRPr>
          </a:p>
        </p:txBody>
      </p:sp>
      <p:sp>
        <p:nvSpPr>
          <p:cNvPr id="213" name="Google Shape;213;p11"/>
          <p:cNvSpPr txBox="1"/>
          <p:nvPr/>
        </p:nvSpPr>
        <p:spPr>
          <a:xfrm>
            <a:off x="1463040" y="6400800"/>
            <a:ext cx="9144000" cy="310896"/>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800"/>
              <a:buFont typeface="Courier New"/>
              <a:buNone/>
            </a:pPr>
            <a:r>
              <a:rPr b="1" lang="en-US" sz="1800">
                <a:solidFill>
                  <a:srgbClr val="0B7A6F"/>
                </a:solidFill>
                <a:latin typeface="Courier New"/>
                <a:ea typeface="Courier New"/>
                <a:cs typeface="Courier New"/>
                <a:sym typeface="Courier New"/>
              </a:rPr>
              <a:t>EXTENSIONS DE LA VERSION 2</a:t>
            </a:r>
            <a:endParaRPr/>
          </a:p>
        </p:txBody>
      </p:sp>
      <p:sp>
        <p:nvSpPr>
          <p:cNvPr id="214" name="Google Shape;214;p11"/>
          <p:cNvSpPr/>
          <p:nvPr/>
        </p:nvSpPr>
        <p:spPr>
          <a:xfrm>
            <a:off x="1463040" y="6858000"/>
            <a:ext cx="3611880" cy="1188720"/>
          </a:xfrm>
          <a:prstGeom prst="roundRect">
            <a:avLst>
              <a:gd fmla="val 4000" name="adj"/>
            </a:avLst>
          </a:prstGeom>
          <a:solidFill>
            <a:srgbClr val="E3F1EE"/>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B5C4C"/>
              </a:buClr>
              <a:buSzPts val="1800"/>
              <a:buFont typeface="Arial"/>
              <a:buNone/>
            </a:pPr>
            <a:r>
              <a:rPr b="1" lang="en-US" sz="1800">
                <a:solidFill>
                  <a:srgbClr val="0B5C4C"/>
                </a:solidFill>
                <a:latin typeface="Arial"/>
                <a:ea typeface="Arial"/>
                <a:cs typeface="Arial"/>
                <a:sym typeface="Arial"/>
              </a:rPr>
              <a:t>DVC + MinIO</a:t>
            </a:r>
            <a:endParaRPr/>
          </a:p>
          <a:p>
            <a:pPr indent="0" lvl="0" marL="0" marR="0" rtl="0" algn="ctr">
              <a:spcBef>
                <a:spcPts val="300"/>
              </a:spcBef>
              <a:spcAft>
                <a:spcPts val="0"/>
              </a:spcAft>
              <a:buClr>
                <a:srgbClr val="16212B"/>
              </a:buClr>
              <a:buSzPts val="1500"/>
              <a:buFont typeface="Arial"/>
              <a:buNone/>
            </a:pPr>
            <a:r>
              <a:rPr lang="en-US" sz="1500">
                <a:solidFill>
                  <a:srgbClr val="16212B"/>
                </a:solidFill>
                <a:latin typeface="Arial"/>
                <a:ea typeface="Arial"/>
                <a:cs typeface="Arial"/>
                <a:sym typeface="Arial"/>
              </a:rPr>
              <a:t>données versionnées</a:t>
            </a:r>
            <a:endParaRPr/>
          </a:p>
        </p:txBody>
      </p:sp>
      <p:sp>
        <p:nvSpPr>
          <p:cNvPr id="215" name="Google Shape;215;p11"/>
          <p:cNvSpPr/>
          <p:nvPr/>
        </p:nvSpPr>
        <p:spPr>
          <a:xfrm>
            <a:off x="5303520" y="6858000"/>
            <a:ext cx="3611880" cy="1188720"/>
          </a:xfrm>
          <a:prstGeom prst="roundRect">
            <a:avLst>
              <a:gd fmla="val 4000" name="adj"/>
            </a:avLst>
          </a:prstGeom>
          <a:solidFill>
            <a:srgbClr val="E3F1EE"/>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B5C4C"/>
              </a:buClr>
              <a:buSzPts val="1800"/>
              <a:buFont typeface="Arial"/>
              <a:buNone/>
            </a:pPr>
            <a:r>
              <a:rPr b="1" lang="en-US" sz="1800">
                <a:solidFill>
                  <a:srgbClr val="0B5C4C"/>
                </a:solidFill>
                <a:latin typeface="Arial"/>
                <a:ea typeface="Arial"/>
                <a:cs typeface="Arial"/>
                <a:sym typeface="Arial"/>
              </a:rPr>
              <a:t>platform-api</a:t>
            </a:r>
            <a:endParaRPr/>
          </a:p>
          <a:p>
            <a:pPr indent="0" lvl="0" marL="0" marR="0" rtl="0" algn="ctr">
              <a:spcBef>
                <a:spcPts val="300"/>
              </a:spcBef>
              <a:spcAft>
                <a:spcPts val="0"/>
              </a:spcAft>
              <a:buClr>
                <a:srgbClr val="16212B"/>
              </a:buClr>
              <a:buSzPts val="1500"/>
              <a:buFont typeface="Arial"/>
              <a:buNone/>
            </a:pPr>
            <a:r>
              <a:rPr lang="en-US" sz="1500">
                <a:solidFill>
                  <a:srgbClr val="16212B"/>
                </a:solidFill>
                <a:latin typeface="Arial"/>
                <a:ea typeface="Arial"/>
                <a:cs typeface="Arial"/>
                <a:sym typeface="Arial"/>
              </a:rPr>
              <a:t>seuil et déclenchement</a:t>
            </a:r>
            <a:endParaRPr/>
          </a:p>
        </p:txBody>
      </p:sp>
      <p:sp>
        <p:nvSpPr>
          <p:cNvPr id="216" name="Google Shape;216;p11"/>
          <p:cNvSpPr/>
          <p:nvPr/>
        </p:nvSpPr>
        <p:spPr>
          <a:xfrm>
            <a:off x="9144000" y="6858000"/>
            <a:ext cx="3611880" cy="1188720"/>
          </a:xfrm>
          <a:prstGeom prst="roundRect">
            <a:avLst>
              <a:gd fmla="val 4000" name="adj"/>
            </a:avLst>
          </a:prstGeom>
          <a:solidFill>
            <a:srgbClr val="E3F1EE"/>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B5C4C"/>
              </a:buClr>
              <a:buSzPts val="1800"/>
              <a:buFont typeface="Arial"/>
              <a:buNone/>
            </a:pPr>
            <a:r>
              <a:rPr b="1" lang="en-US" sz="1800">
                <a:solidFill>
                  <a:srgbClr val="0B5C4C"/>
                </a:solidFill>
                <a:latin typeface="Arial"/>
                <a:ea typeface="Arial"/>
                <a:cs typeface="Arial"/>
                <a:sym typeface="Arial"/>
              </a:rPr>
              <a:t>Porte de promotion</a:t>
            </a:r>
            <a:endParaRPr/>
          </a:p>
          <a:p>
            <a:pPr indent="0" lvl="0" marL="0" marR="0" rtl="0" algn="ctr">
              <a:spcBef>
                <a:spcPts val="300"/>
              </a:spcBef>
              <a:spcAft>
                <a:spcPts val="0"/>
              </a:spcAft>
              <a:buClr>
                <a:srgbClr val="16212B"/>
              </a:buClr>
              <a:buSzPts val="1500"/>
              <a:buFont typeface="Arial"/>
              <a:buNone/>
            </a:pPr>
            <a:r>
              <a:rPr lang="en-US" sz="1500">
                <a:solidFill>
                  <a:srgbClr val="16212B"/>
                </a:solidFill>
                <a:latin typeface="Arial"/>
                <a:ea typeface="Arial"/>
                <a:cs typeface="Arial"/>
                <a:sym typeface="Arial"/>
              </a:rPr>
              <a:t>PR-AUC candidat vs Production</a:t>
            </a:r>
            <a:endParaRPr/>
          </a:p>
        </p:txBody>
      </p:sp>
      <p:sp>
        <p:nvSpPr>
          <p:cNvPr id="217" name="Google Shape;217;p11"/>
          <p:cNvSpPr/>
          <p:nvPr/>
        </p:nvSpPr>
        <p:spPr>
          <a:xfrm>
            <a:off x="12984480" y="6858000"/>
            <a:ext cx="3611880" cy="1188720"/>
          </a:xfrm>
          <a:prstGeom prst="roundRect">
            <a:avLst>
              <a:gd fmla="val 4000" name="adj"/>
            </a:avLst>
          </a:prstGeom>
          <a:solidFill>
            <a:srgbClr val="E3F1EE"/>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B5C4C"/>
              </a:buClr>
              <a:buSzPts val="1800"/>
              <a:buFont typeface="Arial"/>
              <a:buNone/>
            </a:pPr>
            <a:r>
              <a:rPr b="1" lang="en-US" sz="1800">
                <a:solidFill>
                  <a:srgbClr val="0B5C4C"/>
                </a:solidFill>
                <a:latin typeface="Arial"/>
                <a:ea typeface="Arial"/>
                <a:cs typeface="Arial"/>
                <a:sym typeface="Arial"/>
              </a:rPr>
              <a:t>Komodo</a:t>
            </a:r>
            <a:endParaRPr/>
          </a:p>
          <a:p>
            <a:pPr indent="0" lvl="0" marL="0" marR="0" rtl="0" algn="ctr">
              <a:spcBef>
                <a:spcPts val="300"/>
              </a:spcBef>
              <a:spcAft>
                <a:spcPts val="0"/>
              </a:spcAft>
              <a:buClr>
                <a:srgbClr val="16212B"/>
              </a:buClr>
              <a:buSzPts val="1500"/>
              <a:buFont typeface="Arial"/>
              <a:buNone/>
            </a:pPr>
            <a:r>
              <a:rPr lang="en-US" sz="1500">
                <a:solidFill>
                  <a:srgbClr val="16212B"/>
                </a:solidFill>
                <a:latin typeface="Arial"/>
                <a:ea typeface="Arial"/>
                <a:cs typeface="Arial"/>
                <a:sym typeface="Arial"/>
              </a:rPr>
              <a:t>8 services, gardé par la CI</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2" name="Shape 222"/>
        <p:cNvGrpSpPr/>
        <p:nvPr/>
      </p:nvGrpSpPr>
      <p:grpSpPr>
        <a:xfrm>
          <a:off x="0" y="0"/>
          <a:ext cx="0" cy="0"/>
          <a:chOff x="0" y="0"/>
          <a:chExt cx="0" cy="0"/>
        </a:xfrm>
      </p:grpSpPr>
      <p:sp>
        <p:nvSpPr>
          <p:cNvPr id="223" name="Google Shape;223;p12"/>
          <p:cNvSpPr/>
          <p:nvPr/>
        </p:nvSpPr>
        <p:spPr>
          <a:xfrm>
            <a:off x="1047750" y="914400"/>
            <a:ext cx="17811750"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1950"/>
              <a:buFont typeface="Courier New"/>
              <a:buNone/>
            </a:pPr>
            <a:r>
              <a:rPr b="1" lang="en-US" sz="1950">
                <a:solidFill>
                  <a:srgbClr val="0B7A6F"/>
                </a:solidFill>
                <a:latin typeface="Courier New"/>
                <a:ea typeface="Courier New"/>
                <a:cs typeface="Courier New"/>
                <a:sym typeface="Courier New"/>
              </a:rPr>
              <a:t>DÉMONSTRATION</a:t>
            </a:r>
            <a:endParaRPr sz="1950">
              <a:solidFill>
                <a:schemeClr val="dk1"/>
              </a:solidFill>
              <a:latin typeface="Calibri"/>
              <a:ea typeface="Calibri"/>
              <a:cs typeface="Calibri"/>
              <a:sym typeface="Calibri"/>
            </a:endParaRPr>
          </a:p>
        </p:txBody>
      </p:sp>
      <p:sp>
        <p:nvSpPr>
          <p:cNvPr id="224" name="Google Shape;224;p12"/>
          <p:cNvSpPr/>
          <p:nvPr/>
        </p:nvSpPr>
        <p:spPr>
          <a:xfrm>
            <a:off x="1047750" y="1419225"/>
            <a:ext cx="17811750" cy="5524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3450"/>
              <a:buFont typeface="Arial"/>
              <a:buNone/>
            </a:pPr>
            <a:r>
              <a:rPr b="1" lang="en-US" sz="3450">
                <a:solidFill>
                  <a:srgbClr val="16212B"/>
                </a:solidFill>
                <a:latin typeface="Arial"/>
                <a:ea typeface="Arial"/>
                <a:cs typeface="Arial"/>
                <a:sym typeface="Arial"/>
              </a:rPr>
              <a:t>Ingestion et stockage : preuve d'exécution</a:t>
            </a:r>
            <a:endParaRPr sz="3450">
              <a:solidFill>
                <a:schemeClr val="dk1"/>
              </a:solidFill>
              <a:latin typeface="Calibri"/>
              <a:ea typeface="Calibri"/>
              <a:cs typeface="Calibri"/>
              <a:sym typeface="Calibri"/>
            </a:endParaRPr>
          </a:p>
        </p:txBody>
      </p:sp>
      <p:sp>
        <p:nvSpPr>
          <p:cNvPr id="225" name="Google Shape;225;p12"/>
          <p:cNvSpPr/>
          <p:nvPr/>
        </p:nvSpPr>
        <p:spPr>
          <a:xfrm>
            <a:off x="1047750" y="2878475"/>
            <a:ext cx="7858200" cy="3324600"/>
          </a:xfrm>
          <a:prstGeom prst="roundRect">
            <a:avLst>
              <a:gd fmla="val 3409"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26" name="Google Shape;226;p12"/>
          <p:cNvPicPr preferRelativeResize="0"/>
          <p:nvPr/>
        </p:nvPicPr>
        <p:blipFill rotWithShape="1">
          <a:blip r:embed="rId3">
            <a:alphaModFix/>
          </a:blip>
          <a:srcRect b="0" l="-2" r="-2" t="0"/>
          <a:stretch/>
        </p:blipFill>
        <p:spPr>
          <a:xfrm>
            <a:off x="1276350" y="4819799"/>
            <a:ext cx="7400925" cy="1146572"/>
          </a:xfrm>
          <a:prstGeom prst="rect">
            <a:avLst/>
          </a:prstGeom>
          <a:noFill/>
          <a:ln>
            <a:noFill/>
          </a:ln>
        </p:spPr>
      </p:pic>
      <p:sp>
        <p:nvSpPr>
          <p:cNvPr id="227" name="Google Shape;227;p12"/>
          <p:cNvSpPr/>
          <p:nvPr/>
        </p:nvSpPr>
        <p:spPr>
          <a:xfrm>
            <a:off x="654844" y="8060085"/>
            <a:ext cx="8643938" cy="358080"/>
          </a:xfrm>
          <a:prstGeom prst="rect">
            <a:avLst/>
          </a:prstGeom>
          <a:noFill/>
          <a:ln>
            <a:noFill/>
          </a:ln>
        </p:spPr>
        <p:txBody>
          <a:bodyPr anchorCtr="0" anchor="t" bIns="25400" lIns="25400" spcFirstLastPara="1" rIns="25400" wrap="square" tIns="25400">
            <a:noAutofit/>
          </a:bodyPr>
          <a:lstStyle/>
          <a:p>
            <a:pPr indent="0" lvl="0" marL="0" marR="0" rtl="0" algn="ctr">
              <a:lnSpc>
                <a:spcPct val="120000"/>
              </a:lnSpc>
              <a:spcBef>
                <a:spcPts val="0"/>
              </a:spcBef>
              <a:spcAft>
                <a:spcPts val="0"/>
              </a:spcAft>
              <a:buClr>
                <a:srgbClr val="5B6B80"/>
              </a:buClr>
              <a:buSzPts val="1800"/>
              <a:buFont typeface="Arial"/>
              <a:buNone/>
            </a:pPr>
            <a:r>
              <a:rPr lang="en-US" sz="1800">
                <a:solidFill>
                  <a:srgbClr val="5B6B80"/>
                </a:solidFill>
                <a:latin typeface="Arial"/>
                <a:ea typeface="Arial"/>
                <a:cs typeface="Arial"/>
                <a:sym typeface="Arial"/>
              </a:rPr>
              <a:t>Figure 8 — chargement de 284 807 lignes via le pipeline dlt</a:t>
            </a:r>
            <a:endParaRPr sz="1800">
              <a:solidFill>
                <a:schemeClr val="dk1"/>
              </a:solidFill>
              <a:latin typeface="Calibri"/>
              <a:ea typeface="Calibri"/>
              <a:cs typeface="Calibri"/>
              <a:sym typeface="Calibri"/>
            </a:endParaRPr>
          </a:p>
        </p:txBody>
      </p:sp>
      <p:sp>
        <p:nvSpPr>
          <p:cNvPr id="228" name="Google Shape;228;p12"/>
          <p:cNvSpPr/>
          <p:nvPr/>
        </p:nvSpPr>
        <p:spPr>
          <a:xfrm>
            <a:off x="9382125" y="2878478"/>
            <a:ext cx="7858200" cy="3408300"/>
          </a:xfrm>
          <a:prstGeom prst="roundRect">
            <a:avLst>
              <a:gd fmla="val 3409"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29" name="Google Shape;229;p12"/>
          <p:cNvPicPr preferRelativeResize="0"/>
          <p:nvPr/>
        </p:nvPicPr>
        <p:blipFill rotWithShape="1">
          <a:blip r:embed="rId4">
            <a:alphaModFix/>
          </a:blip>
          <a:srcRect b="0" l="-1" r="-1" t="0"/>
          <a:stretch/>
        </p:blipFill>
        <p:spPr>
          <a:xfrm>
            <a:off x="9610725" y="4713089"/>
            <a:ext cx="7400925" cy="1359843"/>
          </a:xfrm>
          <a:prstGeom prst="rect">
            <a:avLst/>
          </a:prstGeom>
          <a:noFill/>
          <a:ln>
            <a:noFill/>
          </a:ln>
        </p:spPr>
      </p:pic>
      <p:sp>
        <p:nvSpPr>
          <p:cNvPr id="230" name="Google Shape;230;p12"/>
          <p:cNvSpPr/>
          <p:nvPr/>
        </p:nvSpPr>
        <p:spPr>
          <a:xfrm>
            <a:off x="8989219" y="8060085"/>
            <a:ext cx="8643938" cy="358080"/>
          </a:xfrm>
          <a:prstGeom prst="rect">
            <a:avLst/>
          </a:prstGeom>
          <a:noFill/>
          <a:ln>
            <a:noFill/>
          </a:ln>
        </p:spPr>
        <p:txBody>
          <a:bodyPr anchorCtr="0" anchor="t" bIns="25400" lIns="25400" spcFirstLastPara="1" rIns="25400" wrap="square" tIns="25400">
            <a:noAutofit/>
          </a:bodyPr>
          <a:lstStyle/>
          <a:p>
            <a:pPr indent="0" lvl="0" marL="0" marR="0" rtl="0" algn="ctr">
              <a:lnSpc>
                <a:spcPct val="120000"/>
              </a:lnSpc>
              <a:spcBef>
                <a:spcPts val="0"/>
              </a:spcBef>
              <a:spcAft>
                <a:spcPts val="0"/>
              </a:spcAft>
              <a:buClr>
                <a:srgbClr val="5B6B80"/>
              </a:buClr>
              <a:buSzPts val="1800"/>
              <a:buFont typeface="Arial"/>
              <a:buNone/>
            </a:pPr>
            <a:r>
              <a:rPr lang="en-US" sz="1800">
                <a:solidFill>
                  <a:srgbClr val="5B6B80"/>
                </a:solidFill>
                <a:latin typeface="Arial"/>
                <a:ea typeface="Arial"/>
                <a:cs typeface="Arial"/>
                <a:sym typeface="Arial"/>
              </a:rPr>
              <a:t>Figure 9 — requête DuckDB confirmant 492 fraudes / 284 807 transactions</a:t>
            </a:r>
            <a:endParaRPr sz="1800">
              <a:solidFill>
                <a:schemeClr val="dk1"/>
              </a:solidFill>
              <a:latin typeface="Calibri"/>
              <a:ea typeface="Calibri"/>
              <a:cs typeface="Calibri"/>
              <a:sym typeface="Calibri"/>
            </a:endParaRPr>
          </a:p>
        </p:txBody>
      </p:sp>
      <p:sp>
        <p:nvSpPr>
          <p:cNvPr id="231" name="Google Shape;231;p12"/>
          <p:cNvSpPr/>
          <p:nvPr/>
        </p:nvSpPr>
        <p:spPr>
          <a:xfrm>
            <a:off x="238125" y="9267825"/>
            <a:ext cx="17811750" cy="333375"/>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6212B"/>
              </a:buClr>
              <a:buSzPts val="1950"/>
              <a:buFont typeface="Arial"/>
              <a:buNone/>
            </a:pPr>
            <a:r>
              <a:rPr lang="en-US" sz="1950">
                <a:solidFill>
                  <a:srgbClr val="16212B"/>
                </a:solidFill>
                <a:latin typeface="Arial"/>
                <a:ea typeface="Arial"/>
                <a:cs typeface="Arial"/>
                <a:sym typeface="Arial"/>
              </a:rPr>
              <a:t>Le déséquilibre de classes n'est pas une estimation : il est </a:t>
            </a:r>
            <a:r>
              <a:rPr b="1" lang="en-US" sz="1950">
                <a:solidFill>
                  <a:srgbClr val="0B7A6F"/>
                </a:solidFill>
                <a:latin typeface="Arial"/>
                <a:ea typeface="Arial"/>
                <a:cs typeface="Arial"/>
                <a:sym typeface="Arial"/>
              </a:rPr>
              <a:t>vérifiable directement en base</a:t>
            </a:r>
            <a:r>
              <a:rPr lang="en-US" sz="1950">
                <a:solidFill>
                  <a:srgbClr val="16212B"/>
                </a:solidFill>
                <a:latin typeface="Arial"/>
                <a:ea typeface="Arial"/>
                <a:cs typeface="Arial"/>
                <a:sym typeface="Arial"/>
              </a:rPr>
              <a:t>.</a:t>
            </a:r>
            <a:endParaRPr sz="1950">
              <a:solidFill>
                <a:schemeClr val="dk1"/>
              </a:solidFill>
              <a:latin typeface="Calibri"/>
              <a:ea typeface="Calibri"/>
              <a:cs typeface="Calibri"/>
              <a:sym typeface="Calibri"/>
            </a:endParaRPr>
          </a:p>
        </p:txBody>
      </p:sp>
      <p:sp>
        <p:nvSpPr>
          <p:cNvPr id="232" name="Google Shape;232;p12"/>
          <p:cNvSpPr/>
          <p:nvPr/>
        </p:nvSpPr>
        <p:spPr>
          <a:xfrm>
            <a:off x="16367760" y="9648825"/>
            <a:ext cx="914400"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5B6B80"/>
              </a:buClr>
              <a:buSzPts val="1800"/>
              <a:buFont typeface="Courier New"/>
              <a:buNone/>
            </a:pPr>
            <a:r>
              <a:rPr lang="en-US" sz="1800">
                <a:solidFill>
                  <a:srgbClr val="5B6B80"/>
                </a:solidFill>
                <a:latin typeface="Courier New"/>
                <a:ea typeface="Courier New"/>
                <a:cs typeface="Courier New"/>
                <a:sym typeface="Courier New"/>
              </a:rPr>
              <a:t>10/41</a:t>
            </a:r>
            <a:endParaRPr sz="1800">
              <a:solidFill>
                <a:schemeClr val="dk1"/>
              </a:solidFill>
              <a:latin typeface="Calibri"/>
              <a:ea typeface="Calibri"/>
              <a:cs typeface="Calibri"/>
              <a:sym typeface="Calibri"/>
            </a:endParaRPr>
          </a:p>
        </p:txBody>
      </p:sp>
      <p:sp>
        <p:nvSpPr>
          <p:cNvPr id="233" name="Google Shape;233;p12"/>
          <p:cNvSpPr txBox="1"/>
          <p:nvPr/>
        </p:nvSpPr>
        <p:spPr>
          <a:xfrm>
            <a:off x="1276350" y="6931475"/>
            <a:ext cx="520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le terminal après le pipeline dlt , avec 284 807 lignes chargées</a:t>
            </a:r>
            <a:endParaRPr/>
          </a:p>
        </p:txBody>
      </p:sp>
      <p:sp>
        <p:nvSpPr>
          <p:cNvPr id="234" name="Google Shape;234;p12"/>
          <p:cNvSpPr txBox="1"/>
          <p:nvPr/>
        </p:nvSpPr>
        <p:spPr>
          <a:xfrm>
            <a:off x="9659225" y="6973325"/>
            <a:ext cx="622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U</a:t>
            </a:r>
            <a:r>
              <a:rPr lang="en-US"/>
              <a:t>ne requête directe dans DuckDB qui retrouve exactement les 492 fraudes.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9" name="Shape 239"/>
        <p:cNvGrpSpPr/>
        <p:nvPr/>
      </p:nvGrpSpPr>
      <p:grpSpPr>
        <a:xfrm>
          <a:off x="0" y="0"/>
          <a:ext cx="0" cy="0"/>
          <a:chOff x="0" y="0"/>
          <a:chExt cx="0" cy="0"/>
        </a:xfrm>
      </p:grpSpPr>
      <p:sp>
        <p:nvSpPr>
          <p:cNvPr id="240" name="Google Shape;240;p13"/>
          <p:cNvSpPr/>
          <p:nvPr/>
        </p:nvSpPr>
        <p:spPr>
          <a:xfrm>
            <a:off x="1047750" y="914400"/>
            <a:ext cx="17811750"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1950"/>
              <a:buFont typeface="Courier New"/>
              <a:buNone/>
            </a:pPr>
            <a:r>
              <a:rPr b="1" lang="en-US" sz="1950">
                <a:solidFill>
                  <a:srgbClr val="0B7A6F"/>
                </a:solidFill>
                <a:latin typeface="Courier New"/>
                <a:ea typeface="Courier New"/>
                <a:cs typeface="Courier New"/>
                <a:sym typeface="Courier New"/>
              </a:rPr>
              <a:t>CHAPITRE 5 — TABLEAU 4</a:t>
            </a:r>
            <a:endParaRPr sz="1950">
              <a:solidFill>
                <a:schemeClr val="dk1"/>
              </a:solidFill>
              <a:latin typeface="Calibri"/>
              <a:ea typeface="Calibri"/>
              <a:cs typeface="Calibri"/>
              <a:sym typeface="Calibri"/>
            </a:endParaRPr>
          </a:p>
        </p:txBody>
      </p:sp>
      <p:sp>
        <p:nvSpPr>
          <p:cNvPr id="241" name="Google Shape;241;p13"/>
          <p:cNvSpPr/>
          <p:nvPr/>
        </p:nvSpPr>
        <p:spPr>
          <a:xfrm>
            <a:off x="1047750" y="1419225"/>
            <a:ext cx="17811750" cy="5524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3450"/>
              <a:buFont typeface="Arial"/>
              <a:buNone/>
            </a:pPr>
            <a:r>
              <a:rPr b="1" lang="en-US" sz="3450">
                <a:solidFill>
                  <a:srgbClr val="16212B"/>
                </a:solidFill>
                <a:latin typeface="Arial"/>
                <a:ea typeface="Arial"/>
                <a:cs typeface="Arial"/>
                <a:sym typeface="Arial"/>
              </a:rPr>
              <a:t>Mapping des 10 livrables</a:t>
            </a:r>
            <a:endParaRPr sz="3450">
              <a:solidFill>
                <a:schemeClr val="dk1"/>
              </a:solidFill>
              <a:latin typeface="Calibri"/>
              <a:ea typeface="Calibri"/>
              <a:cs typeface="Calibri"/>
              <a:sym typeface="Calibri"/>
            </a:endParaRPr>
          </a:p>
        </p:txBody>
      </p:sp>
      <p:sp>
        <p:nvSpPr>
          <p:cNvPr id="242" name="Google Shape;242;p13"/>
          <p:cNvSpPr/>
          <p:nvPr/>
        </p:nvSpPr>
        <p:spPr>
          <a:xfrm>
            <a:off x="1047750" y="4343400"/>
            <a:ext cx="7810500" cy="638175"/>
          </a:xfrm>
          <a:prstGeom prst="rect">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 name="Google Shape;243;p13"/>
          <p:cNvSpPr/>
          <p:nvPr/>
        </p:nvSpPr>
        <p:spPr>
          <a:xfrm>
            <a:off x="1295400" y="4514850"/>
            <a:ext cx="647700" cy="33337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5B6B80"/>
              </a:buClr>
              <a:buSzPts val="1950"/>
              <a:buFont typeface="Arial"/>
              <a:buNone/>
            </a:pPr>
            <a:r>
              <a:rPr lang="en-US" sz="1950">
                <a:solidFill>
                  <a:srgbClr val="5B6B80"/>
                </a:solidFill>
                <a:latin typeface="Arial"/>
                <a:ea typeface="Arial"/>
                <a:cs typeface="Arial"/>
                <a:sym typeface="Arial"/>
              </a:rPr>
              <a:t>1</a:t>
            </a:r>
            <a:endParaRPr sz="1950">
              <a:solidFill>
                <a:schemeClr val="dk1"/>
              </a:solidFill>
              <a:latin typeface="Calibri"/>
              <a:ea typeface="Calibri"/>
              <a:cs typeface="Calibri"/>
              <a:sym typeface="Calibri"/>
            </a:endParaRPr>
          </a:p>
        </p:txBody>
      </p:sp>
      <p:sp>
        <p:nvSpPr>
          <p:cNvPr id="244" name="Google Shape;244;p13"/>
          <p:cNvSpPr/>
          <p:nvPr/>
        </p:nvSpPr>
        <p:spPr>
          <a:xfrm>
            <a:off x="2362200" y="4514850"/>
            <a:ext cx="4386161" cy="33337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6212B"/>
              </a:buClr>
              <a:buSzPts val="1950"/>
              <a:buFont typeface="Arial"/>
              <a:buNone/>
            </a:pPr>
            <a:r>
              <a:rPr lang="en-US" sz="1950">
                <a:solidFill>
                  <a:srgbClr val="16212B"/>
                </a:solidFill>
                <a:latin typeface="Arial"/>
                <a:ea typeface="Arial"/>
                <a:cs typeface="Arial"/>
                <a:sym typeface="Arial"/>
              </a:rPr>
              <a:t>Vision du projet</a:t>
            </a:r>
            <a:endParaRPr sz="1950">
              <a:solidFill>
                <a:schemeClr val="dk1"/>
              </a:solidFill>
              <a:latin typeface="Calibri"/>
              <a:ea typeface="Calibri"/>
              <a:cs typeface="Calibri"/>
              <a:sym typeface="Calibri"/>
            </a:endParaRPr>
          </a:p>
        </p:txBody>
      </p:sp>
      <p:sp>
        <p:nvSpPr>
          <p:cNvPr id="245" name="Google Shape;245;p13"/>
          <p:cNvSpPr/>
          <p:nvPr/>
        </p:nvSpPr>
        <p:spPr>
          <a:xfrm>
            <a:off x="7025283" y="4514850"/>
            <a:ext cx="1585317" cy="333375"/>
          </a:xfrm>
          <a:prstGeom prst="rect">
            <a:avLst/>
          </a:prstGeom>
          <a:noFill/>
          <a:ln>
            <a:noFill/>
          </a:ln>
        </p:spPr>
        <p:txBody>
          <a:bodyPr anchorCtr="0" anchor="ctr" bIns="25400" lIns="25400" spcFirstLastPara="1" rIns="25400" wrap="square" tIns="25400">
            <a:noAutofit/>
          </a:bodyPr>
          <a:lstStyle/>
          <a:p>
            <a:pPr indent="0" lvl="0" marL="0" marR="0" rtl="0" algn="r">
              <a:spcBef>
                <a:spcPts val="0"/>
              </a:spcBef>
              <a:spcAft>
                <a:spcPts val="0"/>
              </a:spcAft>
              <a:buClr>
                <a:srgbClr val="0B7A6F"/>
              </a:buClr>
              <a:buSzPts val="1950"/>
              <a:buFont typeface="Arial"/>
              <a:buNone/>
            </a:pPr>
            <a:r>
              <a:rPr lang="en-US" sz="1950">
                <a:solidFill>
                  <a:srgbClr val="0B7A6F"/>
                </a:solidFill>
                <a:latin typeface="Arial"/>
                <a:ea typeface="Arial"/>
                <a:cs typeface="Arial"/>
                <a:sym typeface="Arial"/>
              </a:rPr>
              <a:t>Réalisé</a:t>
            </a:r>
            <a:endParaRPr sz="1950">
              <a:solidFill>
                <a:schemeClr val="dk1"/>
              </a:solidFill>
              <a:latin typeface="Calibri"/>
              <a:ea typeface="Calibri"/>
              <a:cs typeface="Calibri"/>
              <a:sym typeface="Calibri"/>
            </a:endParaRPr>
          </a:p>
        </p:txBody>
      </p:sp>
      <p:sp>
        <p:nvSpPr>
          <p:cNvPr id="246" name="Google Shape;246;p13"/>
          <p:cNvSpPr/>
          <p:nvPr/>
        </p:nvSpPr>
        <p:spPr>
          <a:xfrm>
            <a:off x="1295400" y="5153025"/>
            <a:ext cx="647700" cy="33337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5B6B80"/>
              </a:buClr>
              <a:buSzPts val="1950"/>
              <a:buFont typeface="Arial"/>
              <a:buNone/>
            </a:pPr>
            <a:r>
              <a:rPr lang="en-US" sz="1950">
                <a:solidFill>
                  <a:srgbClr val="5B6B80"/>
                </a:solidFill>
                <a:latin typeface="Arial"/>
                <a:ea typeface="Arial"/>
                <a:cs typeface="Arial"/>
                <a:sym typeface="Arial"/>
              </a:rPr>
              <a:t>2</a:t>
            </a:r>
            <a:endParaRPr sz="1950">
              <a:solidFill>
                <a:schemeClr val="dk1"/>
              </a:solidFill>
              <a:latin typeface="Calibri"/>
              <a:ea typeface="Calibri"/>
              <a:cs typeface="Calibri"/>
              <a:sym typeface="Calibri"/>
            </a:endParaRPr>
          </a:p>
        </p:txBody>
      </p:sp>
      <p:sp>
        <p:nvSpPr>
          <p:cNvPr id="247" name="Google Shape;247;p13"/>
          <p:cNvSpPr/>
          <p:nvPr/>
        </p:nvSpPr>
        <p:spPr>
          <a:xfrm>
            <a:off x="2362200" y="5153025"/>
            <a:ext cx="4386161" cy="33337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6212B"/>
              </a:buClr>
              <a:buSzPts val="1950"/>
              <a:buFont typeface="Arial"/>
              <a:buNone/>
            </a:pPr>
            <a:r>
              <a:rPr lang="en-US" sz="1950">
                <a:solidFill>
                  <a:srgbClr val="16212B"/>
                </a:solidFill>
                <a:latin typeface="Arial"/>
                <a:ea typeface="Arial"/>
                <a:cs typeface="Arial"/>
                <a:sym typeface="Arial"/>
              </a:rPr>
              <a:t>Gestion Agile (3 sprints)</a:t>
            </a:r>
            <a:endParaRPr sz="1950">
              <a:solidFill>
                <a:schemeClr val="dk1"/>
              </a:solidFill>
              <a:latin typeface="Calibri"/>
              <a:ea typeface="Calibri"/>
              <a:cs typeface="Calibri"/>
              <a:sym typeface="Calibri"/>
            </a:endParaRPr>
          </a:p>
        </p:txBody>
      </p:sp>
      <p:sp>
        <p:nvSpPr>
          <p:cNvPr id="248" name="Google Shape;248;p13"/>
          <p:cNvSpPr/>
          <p:nvPr/>
        </p:nvSpPr>
        <p:spPr>
          <a:xfrm>
            <a:off x="7025283" y="5153025"/>
            <a:ext cx="1585317" cy="333375"/>
          </a:xfrm>
          <a:prstGeom prst="rect">
            <a:avLst/>
          </a:prstGeom>
          <a:noFill/>
          <a:ln>
            <a:noFill/>
          </a:ln>
        </p:spPr>
        <p:txBody>
          <a:bodyPr anchorCtr="0" anchor="ctr" bIns="25400" lIns="25400" spcFirstLastPara="1" rIns="25400" wrap="square" tIns="25400">
            <a:noAutofit/>
          </a:bodyPr>
          <a:lstStyle/>
          <a:p>
            <a:pPr indent="0" lvl="0" marL="0" marR="0" rtl="0" algn="r">
              <a:spcBef>
                <a:spcPts val="0"/>
              </a:spcBef>
              <a:spcAft>
                <a:spcPts val="0"/>
              </a:spcAft>
              <a:buClr>
                <a:srgbClr val="0B7A6F"/>
              </a:buClr>
              <a:buSzPts val="1950"/>
              <a:buFont typeface="Arial"/>
              <a:buNone/>
            </a:pPr>
            <a:r>
              <a:rPr lang="en-US" sz="1950">
                <a:solidFill>
                  <a:srgbClr val="0B7A6F"/>
                </a:solidFill>
                <a:latin typeface="Arial"/>
                <a:ea typeface="Arial"/>
                <a:cs typeface="Arial"/>
                <a:sym typeface="Arial"/>
              </a:rPr>
              <a:t>Réalisé</a:t>
            </a:r>
            <a:endParaRPr sz="1950">
              <a:solidFill>
                <a:schemeClr val="dk1"/>
              </a:solidFill>
              <a:latin typeface="Calibri"/>
              <a:ea typeface="Calibri"/>
              <a:cs typeface="Calibri"/>
              <a:sym typeface="Calibri"/>
            </a:endParaRPr>
          </a:p>
        </p:txBody>
      </p:sp>
      <p:sp>
        <p:nvSpPr>
          <p:cNvPr id="249" name="Google Shape;249;p13"/>
          <p:cNvSpPr/>
          <p:nvPr/>
        </p:nvSpPr>
        <p:spPr>
          <a:xfrm>
            <a:off x="1047750" y="5619750"/>
            <a:ext cx="7810500" cy="638175"/>
          </a:xfrm>
          <a:prstGeom prst="rect">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 name="Google Shape;250;p13"/>
          <p:cNvSpPr/>
          <p:nvPr/>
        </p:nvSpPr>
        <p:spPr>
          <a:xfrm>
            <a:off x="1295400" y="5791200"/>
            <a:ext cx="647700" cy="33337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5B6B80"/>
              </a:buClr>
              <a:buSzPts val="1950"/>
              <a:buFont typeface="Arial"/>
              <a:buNone/>
            </a:pPr>
            <a:r>
              <a:rPr lang="en-US" sz="1950">
                <a:solidFill>
                  <a:srgbClr val="5B6B80"/>
                </a:solidFill>
                <a:latin typeface="Arial"/>
                <a:ea typeface="Arial"/>
                <a:cs typeface="Arial"/>
                <a:sym typeface="Arial"/>
              </a:rPr>
              <a:t>3</a:t>
            </a:r>
            <a:endParaRPr sz="1950">
              <a:solidFill>
                <a:schemeClr val="dk1"/>
              </a:solidFill>
              <a:latin typeface="Calibri"/>
              <a:ea typeface="Calibri"/>
              <a:cs typeface="Calibri"/>
              <a:sym typeface="Calibri"/>
            </a:endParaRPr>
          </a:p>
        </p:txBody>
      </p:sp>
      <p:sp>
        <p:nvSpPr>
          <p:cNvPr id="251" name="Google Shape;251;p13"/>
          <p:cNvSpPr/>
          <p:nvPr/>
        </p:nvSpPr>
        <p:spPr>
          <a:xfrm>
            <a:off x="2362200" y="5791200"/>
            <a:ext cx="4386161" cy="33337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6212B"/>
              </a:buClr>
              <a:buSzPts val="1950"/>
              <a:buFont typeface="Arial"/>
              <a:buNone/>
            </a:pPr>
            <a:r>
              <a:rPr lang="en-US" sz="1950">
                <a:solidFill>
                  <a:srgbClr val="16212B"/>
                </a:solidFill>
                <a:latin typeface="Arial"/>
                <a:ea typeface="Arial"/>
                <a:cs typeface="Arial"/>
                <a:sym typeface="Arial"/>
              </a:rPr>
              <a:t>Pipeline DataOps (+ DVC)</a:t>
            </a:r>
            <a:endParaRPr/>
          </a:p>
        </p:txBody>
      </p:sp>
      <p:sp>
        <p:nvSpPr>
          <p:cNvPr id="252" name="Google Shape;252;p13"/>
          <p:cNvSpPr/>
          <p:nvPr/>
        </p:nvSpPr>
        <p:spPr>
          <a:xfrm>
            <a:off x="7025283" y="5791200"/>
            <a:ext cx="1585317" cy="333375"/>
          </a:xfrm>
          <a:prstGeom prst="rect">
            <a:avLst/>
          </a:prstGeom>
          <a:noFill/>
          <a:ln>
            <a:noFill/>
          </a:ln>
        </p:spPr>
        <p:txBody>
          <a:bodyPr anchorCtr="0" anchor="ctr" bIns="25400" lIns="25400" spcFirstLastPara="1" rIns="25400" wrap="square" tIns="25400">
            <a:noAutofit/>
          </a:bodyPr>
          <a:lstStyle/>
          <a:p>
            <a:pPr indent="0" lvl="0" marL="0" marR="0" rtl="0" algn="r">
              <a:spcBef>
                <a:spcPts val="0"/>
              </a:spcBef>
              <a:spcAft>
                <a:spcPts val="0"/>
              </a:spcAft>
              <a:buClr>
                <a:srgbClr val="0B7A6F"/>
              </a:buClr>
              <a:buSzPts val="1950"/>
              <a:buFont typeface="Arial"/>
              <a:buNone/>
            </a:pPr>
            <a:r>
              <a:rPr lang="en-US" sz="1950">
                <a:solidFill>
                  <a:srgbClr val="0B7A6F"/>
                </a:solidFill>
                <a:latin typeface="Arial"/>
                <a:ea typeface="Arial"/>
                <a:cs typeface="Arial"/>
                <a:sym typeface="Arial"/>
              </a:rPr>
              <a:t>Réalisé</a:t>
            </a:r>
            <a:endParaRPr sz="1950">
              <a:solidFill>
                <a:schemeClr val="dk1"/>
              </a:solidFill>
              <a:latin typeface="Calibri"/>
              <a:ea typeface="Calibri"/>
              <a:cs typeface="Calibri"/>
              <a:sym typeface="Calibri"/>
            </a:endParaRPr>
          </a:p>
        </p:txBody>
      </p:sp>
      <p:sp>
        <p:nvSpPr>
          <p:cNvPr id="253" name="Google Shape;253;p13"/>
          <p:cNvSpPr/>
          <p:nvPr/>
        </p:nvSpPr>
        <p:spPr>
          <a:xfrm>
            <a:off x="1295400" y="6429375"/>
            <a:ext cx="647700" cy="33337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5B6B80"/>
              </a:buClr>
              <a:buSzPts val="1950"/>
              <a:buFont typeface="Arial"/>
              <a:buNone/>
            </a:pPr>
            <a:r>
              <a:rPr lang="en-US" sz="1950">
                <a:solidFill>
                  <a:srgbClr val="5B6B80"/>
                </a:solidFill>
                <a:latin typeface="Arial"/>
                <a:ea typeface="Arial"/>
                <a:cs typeface="Arial"/>
                <a:sym typeface="Arial"/>
              </a:rPr>
              <a:t>4</a:t>
            </a:r>
            <a:endParaRPr sz="1950">
              <a:solidFill>
                <a:schemeClr val="dk1"/>
              </a:solidFill>
              <a:latin typeface="Calibri"/>
              <a:ea typeface="Calibri"/>
              <a:cs typeface="Calibri"/>
              <a:sym typeface="Calibri"/>
            </a:endParaRPr>
          </a:p>
        </p:txBody>
      </p:sp>
      <p:sp>
        <p:nvSpPr>
          <p:cNvPr id="254" name="Google Shape;254;p13"/>
          <p:cNvSpPr/>
          <p:nvPr/>
        </p:nvSpPr>
        <p:spPr>
          <a:xfrm>
            <a:off x="2362200" y="6429375"/>
            <a:ext cx="4386161" cy="33337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6212B"/>
              </a:buClr>
              <a:buSzPts val="1950"/>
              <a:buFont typeface="Arial"/>
              <a:buNone/>
            </a:pPr>
            <a:r>
              <a:rPr lang="en-US" sz="1950">
                <a:solidFill>
                  <a:srgbClr val="16212B"/>
                </a:solidFill>
                <a:latin typeface="Arial"/>
                <a:ea typeface="Arial"/>
                <a:cs typeface="Arial"/>
                <a:sym typeface="Arial"/>
              </a:rPr>
              <a:t>Qualité des données</a:t>
            </a:r>
            <a:endParaRPr sz="1950">
              <a:solidFill>
                <a:schemeClr val="dk1"/>
              </a:solidFill>
              <a:latin typeface="Calibri"/>
              <a:ea typeface="Calibri"/>
              <a:cs typeface="Calibri"/>
              <a:sym typeface="Calibri"/>
            </a:endParaRPr>
          </a:p>
        </p:txBody>
      </p:sp>
      <p:sp>
        <p:nvSpPr>
          <p:cNvPr id="255" name="Google Shape;255;p13"/>
          <p:cNvSpPr/>
          <p:nvPr/>
        </p:nvSpPr>
        <p:spPr>
          <a:xfrm>
            <a:off x="7025283" y="6429375"/>
            <a:ext cx="1585317" cy="333375"/>
          </a:xfrm>
          <a:prstGeom prst="rect">
            <a:avLst/>
          </a:prstGeom>
          <a:noFill/>
          <a:ln>
            <a:noFill/>
          </a:ln>
        </p:spPr>
        <p:txBody>
          <a:bodyPr anchorCtr="0" anchor="ctr" bIns="25400" lIns="25400" spcFirstLastPara="1" rIns="25400" wrap="square" tIns="25400">
            <a:noAutofit/>
          </a:bodyPr>
          <a:lstStyle/>
          <a:p>
            <a:pPr indent="0" lvl="0" marL="0" marR="0" rtl="0" algn="r">
              <a:spcBef>
                <a:spcPts val="0"/>
              </a:spcBef>
              <a:spcAft>
                <a:spcPts val="0"/>
              </a:spcAft>
              <a:buClr>
                <a:srgbClr val="0B7A6F"/>
              </a:buClr>
              <a:buSzPts val="1950"/>
              <a:buFont typeface="Arial"/>
              <a:buNone/>
            </a:pPr>
            <a:r>
              <a:rPr lang="en-US" sz="1950">
                <a:solidFill>
                  <a:srgbClr val="0B7A6F"/>
                </a:solidFill>
                <a:latin typeface="Arial"/>
                <a:ea typeface="Arial"/>
                <a:cs typeface="Arial"/>
                <a:sym typeface="Arial"/>
              </a:rPr>
              <a:t>Réalisé</a:t>
            </a:r>
            <a:endParaRPr sz="1950">
              <a:solidFill>
                <a:schemeClr val="dk1"/>
              </a:solidFill>
              <a:latin typeface="Calibri"/>
              <a:ea typeface="Calibri"/>
              <a:cs typeface="Calibri"/>
              <a:sym typeface="Calibri"/>
            </a:endParaRPr>
          </a:p>
        </p:txBody>
      </p:sp>
      <p:sp>
        <p:nvSpPr>
          <p:cNvPr id="256" name="Google Shape;256;p13"/>
          <p:cNvSpPr/>
          <p:nvPr/>
        </p:nvSpPr>
        <p:spPr>
          <a:xfrm>
            <a:off x="1047750" y="6896100"/>
            <a:ext cx="7810500" cy="638175"/>
          </a:xfrm>
          <a:prstGeom prst="rect">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 name="Google Shape;257;p13"/>
          <p:cNvSpPr/>
          <p:nvPr/>
        </p:nvSpPr>
        <p:spPr>
          <a:xfrm>
            <a:off x="1295400" y="7067550"/>
            <a:ext cx="647700" cy="33337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5B6B80"/>
              </a:buClr>
              <a:buSzPts val="1950"/>
              <a:buFont typeface="Arial"/>
              <a:buNone/>
            </a:pPr>
            <a:r>
              <a:rPr lang="en-US" sz="1950">
                <a:solidFill>
                  <a:srgbClr val="5B6B80"/>
                </a:solidFill>
                <a:latin typeface="Arial"/>
                <a:ea typeface="Arial"/>
                <a:cs typeface="Arial"/>
                <a:sym typeface="Arial"/>
              </a:rPr>
              <a:t>5</a:t>
            </a:r>
            <a:endParaRPr sz="1950">
              <a:solidFill>
                <a:schemeClr val="dk1"/>
              </a:solidFill>
              <a:latin typeface="Calibri"/>
              <a:ea typeface="Calibri"/>
              <a:cs typeface="Calibri"/>
              <a:sym typeface="Calibri"/>
            </a:endParaRPr>
          </a:p>
        </p:txBody>
      </p:sp>
      <p:sp>
        <p:nvSpPr>
          <p:cNvPr id="258" name="Google Shape;258;p13"/>
          <p:cNvSpPr/>
          <p:nvPr/>
        </p:nvSpPr>
        <p:spPr>
          <a:xfrm>
            <a:off x="2362200" y="7067550"/>
            <a:ext cx="4386161" cy="33337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6212B"/>
              </a:buClr>
              <a:buSzPts val="1950"/>
              <a:buFont typeface="Arial"/>
              <a:buNone/>
            </a:pPr>
            <a:r>
              <a:rPr lang="en-US" sz="1950">
                <a:solidFill>
                  <a:srgbClr val="16212B"/>
                </a:solidFill>
                <a:latin typeface="Arial"/>
                <a:ea typeface="Arial"/>
                <a:cs typeface="Arial"/>
                <a:sym typeface="Arial"/>
              </a:rPr>
              <a:t>Machine Learning</a:t>
            </a:r>
            <a:endParaRPr sz="1950">
              <a:solidFill>
                <a:schemeClr val="dk1"/>
              </a:solidFill>
              <a:latin typeface="Calibri"/>
              <a:ea typeface="Calibri"/>
              <a:cs typeface="Calibri"/>
              <a:sym typeface="Calibri"/>
            </a:endParaRPr>
          </a:p>
        </p:txBody>
      </p:sp>
      <p:sp>
        <p:nvSpPr>
          <p:cNvPr id="259" name="Google Shape;259;p13"/>
          <p:cNvSpPr/>
          <p:nvPr/>
        </p:nvSpPr>
        <p:spPr>
          <a:xfrm>
            <a:off x="7025283" y="7067550"/>
            <a:ext cx="1585317" cy="333375"/>
          </a:xfrm>
          <a:prstGeom prst="rect">
            <a:avLst/>
          </a:prstGeom>
          <a:noFill/>
          <a:ln>
            <a:noFill/>
          </a:ln>
        </p:spPr>
        <p:txBody>
          <a:bodyPr anchorCtr="0" anchor="ctr" bIns="25400" lIns="25400" spcFirstLastPara="1" rIns="25400" wrap="square" tIns="25400">
            <a:noAutofit/>
          </a:bodyPr>
          <a:lstStyle/>
          <a:p>
            <a:pPr indent="0" lvl="0" marL="0" marR="0" rtl="0" algn="r">
              <a:spcBef>
                <a:spcPts val="0"/>
              </a:spcBef>
              <a:spcAft>
                <a:spcPts val="0"/>
              </a:spcAft>
              <a:buClr>
                <a:srgbClr val="0B7A6F"/>
              </a:buClr>
              <a:buSzPts val="1950"/>
              <a:buFont typeface="Arial"/>
              <a:buNone/>
            </a:pPr>
            <a:r>
              <a:rPr lang="en-US" sz="1950">
                <a:solidFill>
                  <a:srgbClr val="0B7A6F"/>
                </a:solidFill>
                <a:latin typeface="Arial"/>
                <a:ea typeface="Arial"/>
                <a:cs typeface="Arial"/>
                <a:sym typeface="Arial"/>
              </a:rPr>
              <a:t>Réalisé</a:t>
            </a:r>
            <a:endParaRPr sz="1950">
              <a:solidFill>
                <a:schemeClr val="dk1"/>
              </a:solidFill>
              <a:latin typeface="Calibri"/>
              <a:ea typeface="Calibri"/>
              <a:cs typeface="Calibri"/>
              <a:sym typeface="Calibri"/>
            </a:endParaRPr>
          </a:p>
        </p:txBody>
      </p:sp>
      <p:sp>
        <p:nvSpPr>
          <p:cNvPr id="260" name="Google Shape;260;p13"/>
          <p:cNvSpPr/>
          <p:nvPr/>
        </p:nvSpPr>
        <p:spPr>
          <a:xfrm>
            <a:off x="9429750" y="4343400"/>
            <a:ext cx="7810500" cy="638175"/>
          </a:xfrm>
          <a:prstGeom prst="rect">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1" name="Google Shape;261;p13"/>
          <p:cNvSpPr/>
          <p:nvPr/>
        </p:nvSpPr>
        <p:spPr>
          <a:xfrm>
            <a:off x="9677400" y="4514850"/>
            <a:ext cx="647700" cy="33337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5B6B80"/>
              </a:buClr>
              <a:buSzPts val="1950"/>
              <a:buFont typeface="Arial"/>
              <a:buNone/>
            </a:pPr>
            <a:r>
              <a:rPr lang="en-US" sz="1950">
                <a:solidFill>
                  <a:srgbClr val="5B6B80"/>
                </a:solidFill>
                <a:latin typeface="Arial"/>
                <a:ea typeface="Arial"/>
                <a:cs typeface="Arial"/>
                <a:sym typeface="Arial"/>
              </a:rPr>
              <a:t>6</a:t>
            </a:r>
            <a:endParaRPr sz="1950">
              <a:solidFill>
                <a:schemeClr val="dk1"/>
              </a:solidFill>
              <a:latin typeface="Calibri"/>
              <a:ea typeface="Calibri"/>
              <a:cs typeface="Calibri"/>
              <a:sym typeface="Calibri"/>
            </a:endParaRPr>
          </a:p>
        </p:txBody>
      </p:sp>
      <p:sp>
        <p:nvSpPr>
          <p:cNvPr id="262" name="Google Shape;262;p13"/>
          <p:cNvSpPr/>
          <p:nvPr/>
        </p:nvSpPr>
        <p:spPr>
          <a:xfrm>
            <a:off x="10744200" y="4514850"/>
            <a:ext cx="4747320" cy="33337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6212B"/>
              </a:buClr>
              <a:buSzPts val="1950"/>
              <a:buFont typeface="Arial"/>
              <a:buNone/>
            </a:pPr>
            <a:r>
              <a:rPr lang="en-US" sz="1950">
                <a:solidFill>
                  <a:srgbClr val="16212B"/>
                </a:solidFill>
                <a:latin typeface="Arial"/>
                <a:ea typeface="Arial"/>
                <a:cs typeface="Arial"/>
                <a:sym typeface="Arial"/>
              </a:rPr>
              <a:t>MLflow (Tracking + Registry)</a:t>
            </a:r>
            <a:endParaRPr sz="1950">
              <a:solidFill>
                <a:schemeClr val="dk1"/>
              </a:solidFill>
              <a:latin typeface="Calibri"/>
              <a:ea typeface="Calibri"/>
              <a:cs typeface="Calibri"/>
              <a:sym typeface="Calibri"/>
            </a:endParaRPr>
          </a:p>
        </p:txBody>
      </p:sp>
      <p:sp>
        <p:nvSpPr>
          <p:cNvPr id="263" name="Google Shape;263;p13"/>
          <p:cNvSpPr/>
          <p:nvPr/>
        </p:nvSpPr>
        <p:spPr>
          <a:xfrm>
            <a:off x="15757922" y="4514850"/>
            <a:ext cx="1234678" cy="333375"/>
          </a:xfrm>
          <a:prstGeom prst="rect">
            <a:avLst/>
          </a:prstGeom>
          <a:noFill/>
          <a:ln>
            <a:noFill/>
          </a:ln>
        </p:spPr>
        <p:txBody>
          <a:bodyPr anchorCtr="0" anchor="ctr" bIns="25400" lIns="25400" spcFirstLastPara="1" rIns="25400" wrap="square" tIns="25400">
            <a:noAutofit/>
          </a:bodyPr>
          <a:lstStyle/>
          <a:p>
            <a:pPr indent="0" lvl="0" marL="0" marR="0" rtl="0" algn="r">
              <a:spcBef>
                <a:spcPts val="0"/>
              </a:spcBef>
              <a:spcAft>
                <a:spcPts val="0"/>
              </a:spcAft>
              <a:buClr>
                <a:srgbClr val="0B7A6F"/>
              </a:buClr>
              <a:buSzPts val="1950"/>
              <a:buFont typeface="Arial"/>
              <a:buNone/>
            </a:pPr>
            <a:r>
              <a:rPr lang="en-US" sz="1950">
                <a:solidFill>
                  <a:srgbClr val="0B7A6F"/>
                </a:solidFill>
                <a:latin typeface="Arial"/>
                <a:ea typeface="Arial"/>
                <a:cs typeface="Arial"/>
                <a:sym typeface="Arial"/>
              </a:rPr>
              <a:t>Réalisé</a:t>
            </a:r>
            <a:endParaRPr sz="1950">
              <a:solidFill>
                <a:schemeClr val="dk1"/>
              </a:solidFill>
              <a:latin typeface="Calibri"/>
              <a:ea typeface="Calibri"/>
              <a:cs typeface="Calibri"/>
              <a:sym typeface="Calibri"/>
            </a:endParaRPr>
          </a:p>
        </p:txBody>
      </p:sp>
      <p:sp>
        <p:nvSpPr>
          <p:cNvPr id="264" name="Google Shape;264;p13"/>
          <p:cNvSpPr/>
          <p:nvPr/>
        </p:nvSpPr>
        <p:spPr>
          <a:xfrm>
            <a:off x="9677400" y="5153025"/>
            <a:ext cx="647700" cy="33337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5B6B80"/>
              </a:buClr>
              <a:buSzPts val="1950"/>
              <a:buFont typeface="Arial"/>
              <a:buNone/>
            </a:pPr>
            <a:r>
              <a:rPr lang="en-US" sz="1950">
                <a:solidFill>
                  <a:srgbClr val="5B6B80"/>
                </a:solidFill>
                <a:latin typeface="Arial"/>
                <a:ea typeface="Arial"/>
                <a:cs typeface="Arial"/>
                <a:sym typeface="Arial"/>
              </a:rPr>
              <a:t>7</a:t>
            </a:r>
            <a:endParaRPr sz="1950">
              <a:solidFill>
                <a:schemeClr val="dk1"/>
              </a:solidFill>
              <a:latin typeface="Calibri"/>
              <a:ea typeface="Calibri"/>
              <a:cs typeface="Calibri"/>
              <a:sym typeface="Calibri"/>
            </a:endParaRPr>
          </a:p>
        </p:txBody>
      </p:sp>
      <p:sp>
        <p:nvSpPr>
          <p:cNvPr id="265" name="Google Shape;265;p13"/>
          <p:cNvSpPr/>
          <p:nvPr/>
        </p:nvSpPr>
        <p:spPr>
          <a:xfrm>
            <a:off x="10744200" y="5153025"/>
            <a:ext cx="4747320" cy="33337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6212B"/>
              </a:buClr>
              <a:buSzPts val="1950"/>
              <a:buFont typeface="Arial"/>
              <a:buNone/>
            </a:pPr>
            <a:r>
              <a:rPr lang="en-US" sz="1950">
                <a:solidFill>
                  <a:srgbClr val="16212B"/>
                </a:solidFill>
                <a:latin typeface="Arial"/>
                <a:ea typeface="Arial"/>
                <a:cs typeface="Arial"/>
                <a:sym typeface="Arial"/>
              </a:rPr>
              <a:t>Déploiement (API, Docker, Komodo)</a:t>
            </a:r>
            <a:endParaRPr/>
          </a:p>
        </p:txBody>
      </p:sp>
      <p:sp>
        <p:nvSpPr>
          <p:cNvPr id="266" name="Google Shape;266;p13"/>
          <p:cNvSpPr/>
          <p:nvPr/>
        </p:nvSpPr>
        <p:spPr>
          <a:xfrm>
            <a:off x="15757922" y="5153025"/>
            <a:ext cx="1234678" cy="333375"/>
          </a:xfrm>
          <a:prstGeom prst="rect">
            <a:avLst/>
          </a:prstGeom>
          <a:noFill/>
          <a:ln>
            <a:noFill/>
          </a:ln>
        </p:spPr>
        <p:txBody>
          <a:bodyPr anchorCtr="0" anchor="ctr" bIns="25400" lIns="25400" spcFirstLastPara="1" rIns="25400" wrap="square" tIns="25400">
            <a:noAutofit/>
          </a:bodyPr>
          <a:lstStyle/>
          <a:p>
            <a:pPr indent="0" lvl="0" marL="0" marR="0" rtl="0" algn="r">
              <a:spcBef>
                <a:spcPts val="0"/>
              </a:spcBef>
              <a:spcAft>
                <a:spcPts val="0"/>
              </a:spcAft>
              <a:buClr>
                <a:srgbClr val="0B7A6F"/>
              </a:buClr>
              <a:buSzPts val="1950"/>
              <a:buFont typeface="Arial"/>
              <a:buNone/>
            </a:pPr>
            <a:r>
              <a:rPr lang="en-US" sz="1950">
                <a:solidFill>
                  <a:srgbClr val="0B7A6F"/>
                </a:solidFill>
                <a:latin typeface="Arial"/>
                <a:ea typeface="Arial"/>
                <a:cs typeface="Arial"/>
                <a:sym typeface="Arial"/>
              </a:rPr>
              <a:t>Réalisé</a:t>
            </a:r>
            <a:endParaRPr sz="1950">
              <a:solidFill>
                <a:schemeClr val="dk1"/>
              </a:solidFill>
              <a:latin typeface="Calibri"/>
              <a:ea typeface="Calibri"/>
              <a:cs typeface="Calibri"/>
              <a:sym typeface="Calibri"/>
            </a:endParaRPr>
          </a:p>
        </p:txBody>
      </p:sp>
      <p:sp>
        <p:nvSpPr>
          <p:cNvPr id="267" name="Google Shape;267;p13"/>
          <p:cNvSpPr/>
          <p:nvPr/>
        </p:nvSpPr>
        <p:spPr>
          <a:xfrm>
            <a:off x="9429750" y="5619750"/>
            <a:ext cx="7810500" cy="638175"/>
          </a:xfrm>
          <a:prstGeom prst="rect">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8" name="Google Shape;268;p13"/>
          <p:cNvSpPr/>
          <p:nvPr/>
        </p:nvSpPr>
        <p:spPr>
          <a:xfrm>
            <a:off x="9677400" y="5791200"/>
            <a:ext cx="647700" cy="33337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5B6B80"/>
              </a:buClr>
              <a:buSzPts val="1950"/>
              <a:buFont typeface="Arial"/>
              <a:buNone/>
            </a:pPr>
            <a:r>
              <a:rPr lang="en-US" sz="1950">
                <a:solidFill>
                  <a:srgbClr val="5B6B80"/>
                </a:solidFill>
                <a:latin typeface="Arial"/>
                <a:ea typeface="Arial"/>
                <a:cs typeface="Arial"/>
                <a:sym typeface="Arial"/>
              </a:rPr>
              <a:t>8</a:t>
            </a:r>
            <a:endParaRPr sz="1950">
              <a:solidFill>
                <a:schemeClr val="dk1"/>
              </a:solidFill>
              <a:latin typeface="Calibri"/>
              <a:ea typeface="Calibri"/>
              <a:cs typeface="Calibri"/>
              <a:sym typeface="Calibri"/>
            </a:endParaRPr>
          </a:p>
        </p:txBody>
      </p:sp>
      <p:sp>
        <p:nvSpPr>
          <p:cNvPr id="269" name="Google Shape;269;p13"/>
          <p:cNvSpPr/>
          <p:nvPr/>
        </p:nvSpPr>
        <p:spPr>
          <a:xfrm>
            <a:off x="10744200" y="5791200"/>
            <a:ext cx="4747320" cy="33337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6212B"/>
              </a:buClr>
              <a:buSzPts val="1950"/>
              <a:buFont typeface="Arial"/>
              <a:buNone/>
            </a:pPr>
            <a:r>
              <a:rPr lang="en-US" sz="1950">
                <a:solidFill>
                  <a:srgbClr val="16212B"/>
                </a:solidFill>
                <a:latin typeface="Arial"/>
                <a:ea typeface="Arial"/>
                <a:cs typeface="Arial"/>
                <a:sym typeface="Arial"/>
              </a:rPr>
              <a:t>CI/CD</a:t>
            </a:r>
            <a:endParaRPr sz="1950">
              <a:solidFill>
                <a:schemeClr val="dk1"/>
              </a:solidFill>
              <a:latin typeface="Calibri"/>
              <a:ea typeface="Calibri"/>
              <a:cs typeface="Calibri"/>
              <a:sym typeface="Calibri"/>
            </a:endParaRPr>
          </a:p>
        </p:txBody>
      </p:sp>
      <p:sp>
        <p:nvSpPr>
          <p:cNvPr id="270" name="Google Shape;270;p13"/>
          <p:cNvSpPr/>
          <p:nvPr/>
        </p:nvSpPr>
        <p:spPr>
          <a:xfrm>
            <a:off x="15757922" y="5791200"/>
            <a:ext cx="1234678" cy="333375"/>
          </a:xfrm>
          <a:prstGeom prst="rect">
            <a:avLst/>
          </a:prstGeom>
          <a:noFill/>
          <a:ln>
            <a:noFill/>
          </a:ln>
        </p:spPr>
        <p:txBody>
          <a:bodyPr anchorCtr="0" anchor="ctr" bIns="25400" lIns="25400" spcFirstLastPara="1" rIns="25400" wrap="square" tIns="25400">
            <a:noAutofit/>
          </a:bodyPr>
          <a:lstStyle/>
          <a:p>
            <a:pPr indent="0" lvl="0" marL="0" marR="0" rtl="0" algn="r">
              <a:spcBef>
                <a:spcPts val="0"/>
              </a:spcBef>
              <a:spcAft>
                <a:spcPts val="0"/>
              </a:spcAft>
              <a:buClr>
                <a:srgbClr val="0B7A6F"/>
              </a:buClr>
              <a:buSzPts val="1950"/>
              <a:buFont typeface="Arial"/>
              <a:buNone/>
            </a:pPr>
            <a:r>
              <a:rPr lang="en-US" sz="1950">
                <a:solidFill>
                  <a:srgbClr val="0B7A6F"/>
                </a:solidFill>
                <a:latin typeface="Arial"/>
                <a:ea typeface="Arial"/>
                <a:cs typeface="Arial"/>
                <a:sym typeface="Arial"/>
              </a:rPr>
              <a:t>Réalisé</a:t>
            </a:r>
            <a:endParaRPr sz="1950">
              <a:solidFill>
                <a:schemeClr val="dk1"/>
              </a:solidFill>
              <a:latin typeface="Calibri"/>
              <a:ea typeface="Calibri"/>
              <a:cs typeface="Calibri"/>
              <a:sym typeface="Calibri"/>
            </a:endParaRPr>
          </a:p>
        </p:txBody>
      </p:sp>
      <p:sp>
        <p:nvSpPr>
          <p:cNvPr id="271" name="Google Shape;271;p13"/>
          <p:cNvSpPr/>
          <p:nvPr/>
        </p:nvSpPr>
        <p:spPr>
          <a:xfrm>
            <a:off x="9677400" y="6429375"/>
            <a:ext cx="647700" cy="33337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5B6B80"/>
              </a:buClr>
              <a:buSzPts val="1950"/>
              <a:buFont typeface="Arial"/>
              <a:buNone/>
            </a:pPr>
            <a:r>
              <a:rPr lang="en-US" sz="1950">
                <a:solidFill>
                  <a:srgbClr val="5B6B80"/>
                </a:solidFill>
                <a:latin typeface="Arial"/>
                <a:ea typeface="Arial"/>
                <a:cs typeface="Arial"/>
                <a:sym typeface="Arial"/>
              </a:rPr>
              <a:t>9</a:t>
            </a:r>
            <a:endParaRPr sz="1950">
              <a:solidFill>
                <a:schemeClr val="dk1"/>
              </a:solidFill>
              <a:latin typeface="Calibri"/>
              <a:ea typeface="Calibri"/>
              <a:cs typeface="Calibri"/>
              <a:sym typeface="Calibri"/>
            </a:endParaRPr>
          </a:p>
        </p:txBody>
      </p:sp>
      <p:sp>
        <p:nvSpPr>
          <p:cNvPr id="272" name="Google Shape;272;p13"/>
          <p:cNvSpPr/>
          <p:nvPr/>
        </p:nvSpPr>
        <p:spPr>
          <a:xfrm>
            <a:off x="10744200" y="6429375"/>
            <a:ext cx="4747320" cy="33337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6212B"/>
              </a:buClr>
              <a:buSzPts val="1950"/>
              <a:buFont typeface="Arial"/>
              <a:buNone/>
            </a:pPr>
            <a:r>
              <a:rPr lang="en-US" sz="1950">
                <a:solidFill>
                  <a:srgbClr val="16212B"/>
                </a:solidFill>
                <a:latin typeface="Arial"/>
                <a:ea typeface="Arial"/>
                <a:cs typeface="Arial"/>
                <a:sym typeface="Arial"/>
              </a:rPr>
              <a:t>Monitoring</a:t>
            </a:r>
            <a:endParaRPr sz="1950">
              <a:solidFill>
                <a:schemeClr val="dk1"/>
              </a:solidFill>
              <a:latin typeface="Calibri"/>
              <a:ea typeface="Calibri"/>
              <a:cs typeface="Calibri"/>
              <a:sym typeface="Calibri"/>
            </a:endParaRPr>
          </a:p>
        </p:txBody>
      </p:sp>
      <p:sp>
        <p:nvSpPr>
          <p:cNvPr id="273" name="Google Shape;273;p13"/>
          <p:cNvSpPr/>
          <p:nvPr/>
        </p:nvSpPr>
        <p:spPr>
          <a:xfrm>
            <a:off x="15757922" y="6429375"/>
            <a:ext cx="1234678" cy="333375"/>
          </a:xfrm>
          <a:prstGeom prst="rect">
            <a:avLst/>
          </a:prstGeom>
          <a:noFill/>
          <a:ln>
            <a:noFill/>
          </a:ln>
        </p:spPr>
        <p:txBody>
          <a:bodyPr anchorCtr="0" anchor="ctr" bIns="25400" lIns="25400" spcFirstLastPara="1" rIns="25400" wrap="square" tIns="25400">
            <a:noAutofit/>
          </a:bodyPr>
          <a:lstStyle/>
          <a:p>
            <a:pPr indent="0" lvl="0" marL="0" marR="0" rtl="0" algn="r">
              <a:spcBef>
                <a:spcPts val="0"/>
              </a:spcBef>
              <a:spcAft>
                <a:spcPts val="0"/>
              </a:spcAft>
              <a:buClr>
                <a:srgbClr val="0B7A6F"/>
              </a:buClr>
              <a:buSzPts val="1950"/>
              <a:buFont typeface="Arial"/>
              <a:buNone/>
            </a:pPr>
            <a:r>
              <a:rPr lang="en-US" sz="1950">
                <a:solidFill>
                  <a:srgbClr val="0B7A6F"/>
                </a:solidFill>
                <a:latin typeface="Arial"/>
                <a:ea typeface="Arial"/>
                <a:cs typeface="Arial"/>
                <a:sym typeface="Arial"/>
              </a:rPr>
              <a:t>Réalisé</a:t>
            </a:r>
            <a:endParaRPr sz="1950">
              <a:solidFill>
                <a:schemeClr val="dk1"/>
              </a:solidFill>
              <a:latin typeface="Calibri"/>
              <a:ea typeface="Calibri"/>
              <a:cs typeface="Calibri"/>
              <a:sym typeface="Calibri"/>
            </a:endParaRPr>
          </a:p>
        </p:txBody>
      </p:sp>
      <p:sp>
        <p:nvSpPr>
          <p:cNvPr id="274" name="Google Shape;274;p13"/>
          <p:cNvSpPr/>
          <p:nvPr/>
        </p:nvSpPr>
        <p:spPr>
          <a:xfrm>
            <a:off x="9429750" y="6896100"/>
            <a:ext cx="7810500" cy="638175"/>
          </a:xfrm>
          <a:prstGeom prst="rect">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13"/>
          <p:cNvSpPr/>
          <p:nvPr/>
        </p:nvSpPr>
        <p:spPr>
          <a:xfrm>
            <a:off x="9677400" y="7067550"/>
            <a:ext cx="647700" cy="33337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5B6B80"/>
              </a:buClr>
              <a:buSzPts val="1950"/>
              <a:buFont typeface="Arial"/>
              <a:buNone/>
            </a:pPr>
            <a:r>
              <a:rPr lang="en-US" sz="1950">
                <a:solidFill>
                  <a:srgbClr val="5B6B80"/>
                </a:solidFill>
                <a:latin typeface="Arial"/>
                <a:ea typeface="Arial"/>
                <a:cs typeface="Arial"/>
                <a:sym typeface="Arial"/>
              </a:rPr>
              <a:t>10</a:t>
            </a:r>
            <a:endParaRPr sz="1950">
              <a:solidFill>
                <a:schemeClr val="dk1"/>
              </a:solidFill>
              <a:latin typeface="Calibri"/>
              <a:ea typeface="Calibri"/>
              <a:cs typeface="Calibri"/>
              <a:sym typeface="Calibri"/>
            </a:endParaRPr>
          </a:p>
        </p:txBody>
      </p:sp>
      <p:sp>
        <p:nvSpPr>
          <p:cNvPr id="276" name="Google Shape;276;p13"/>
          <p:cNvSpPr/>
          <p:nvPr/>
        </p:nvSpPr>
        <p:spPr>
          <a:xfrm>
            <a:off x="10744200" y="7067550"/>
            <a:ext cx="4747320" cy="33337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6212B"/>
              </a:buClr>
              <a:buSzPts val="1950"/>
              <a:buFont typeface="Arial"/>
              <a:buNone/>
            </a:pPr>
            <a:r>
              <a:rPr lang="en-US" sz="1950">
                <a:solidFill>
                  <a:srgbClr val="16212B"/>
                </a:solidFill>
                <a:latin typeface="Arial"/>
                <a:ea typeface="Arial"/>
                <a:cs typeface="Arial"/>
                <a:sym typeface="Arial"/>
              </a:rPr>
              <a:t>Documentation</a:t>
            </a:r>
            <a:endParaRPr sz="1950">
              <a:solidFill>
                <a:schemeClr val="dk1"/>
              </a:solidFill>
              <a:latin typeface="Calibri"/>
              <a:ea typeface="Calibri"/>
              <a:cs typeface="Calibri"/>
              <a:sym typeface="Calibri"/>
            </a:endParaRPr>
          </a:p>
        </p:txBody>
      </p:sp>
      <p:sp>
        <p:nvSpPr>
          <p:cNvPr id="277" name="Google Shape;277;p13"/>
          <p:cNvSpPr/>
          <p:nvPr/>
        </p:nvSpPr>
        <p:spPr>
          <a:xfrm>
            <a:off x="15757922" y="7067550"/>
            <a:ext cx="1234678" cy="333375"/>
          </a:xfrm>
          <a:prstGeom prst="rect">
            <a:avLst/>
          </a:prstGeom>
          <a:noFill/>
          <a:ln>
            <a:noFill/>
          </a:ln>
        </p:spPr>
        <p:txBody>
          <a:bodyPr anchorCtr="0" anchor="ctr" bIns="25400" lIns="25400" spcFirstLastPara="1" rIns="25400" wrap="square" tIns="25400">
            <a:noAutofit/>
          </a:bodyPr>
          <a:lstStyle/>
          <a:p>
            <a:pPr indent="0" lvl="0" marL="0" marR="0" rtl="0" algn="r">
              <a:spcBef>
                <a:spcPts val="0"/>
              </a:spcBef>
              <a:spcAft>
                <a:spcPts val="0"/>
              </a:spcAft>
              <a:buClr>
                <a:srgbClr val="0B7A6F"/>
              </a:buClr>
              <a:buSzPts val="1950"/>
              <a:buFont typeface="Arial"/>
              <a:buNone/>
            </a:pPr>
            <a:r>
              <a:rPr lang="en-US" sz="1950">
                <a:solidFill>
                  <a:srgbClr val="0B7A6F"/>
                </a:solidFill>
                <a:latin typeface="Arial"/>
                <a:ea typeface="Arial"/>
                <a:cs typeface="Arial"/>
                <a:sym typeface="Arial"/>
              </a:rPr>
              <a:t>Réalisé</a:t>
            </a:r>
            <a:endParaRPr sz="1950">
              <a:solidFill>
                <a:schemeClr val="dk1"/>
              </a:solidFill>
              <a:latin typeface="Calibri"/>
              <a:ea typeface="Calibri"/>
              <a:cs typeface="Calibri"/>
              <a:sym typeface="Calibri"/>
            </a:endParaRPr>
          </a:p>
        </p:txBody>
      </p:sp>
      <p:sp>
        <p:nvSpPr>
          <p:cNvPr id="278" name="Google Shape;278;p13"/>
          <p:cNvSpPr/>
          <p:nvPr/>
        </p:nvSpPr>
        <p:spPr>
          <a:xfrm>
            <a:off x="16367760" y="9648825"/>
            <a:ext cx="914400"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5B6B80"/>
              </a:buClr>
              <a:buSzPts val="1800"/>
              <a:buFont typeface="Courier New"/>
              <a:buNone/>
            </a:pPr>
            <a:r>
              <a:rPr lang="en-US" sz="1800">
                <a:solidFill>
                  <a:srgbClr val="5B6B80"/>
                </a:solidFill>
                <a:latin typeface="Courier New"/>
                <a:ea typeface="Courier New"/>
                <a:cs typeface="Courier New"/>
                <a:sym typeface="Courier New"/>
              </a:rPr>
              <a:t>11/41</a:t>
            </a:r>
            <a:endParaRPr sz="1800">
              <a:solidFill>
                <a:schemeClr val="dk1"/>
              </a:solidFill>
              <a:latin typeface="Calibri"/>
              <a:ea typeface="Calibri"/>
              <a:cs typeface="Calibri"/>
              <a:sym typeface="Calibri"/>
            </a:endParaRPr>
          </a:p>
        </p:txBody>
      </p:sp>
      <p:sp>
        <p:nvSpPr>
          <p:cNvPr id="279" name="Google Shape;279;p13"/>
          <p:cNvSpPr/>
          <p:nvPr/>
        </p:nvSpPr>
        <p:spPr>
          <a:xfrm>
            <a:off x="1047900" y="8001000"/>
            <a:ext cx="16185000" cy="1510800"/>
          </a:xfrm>
          <a:prstGeom prst="roundRect">
            <a:avLst>
              <a:gd fmla="val 4000" name="adj"/>
            </a:avLst>
          </a:prstGeom>
          <a:solidFill>
            <a:srgbClr val="E3F1EE"/>
          </a:solidFill>
          <a:ln>
            <a:noFill/>
          </a:ln>
        </p:spPr>
        <p:txBody>
          <a:bodyPr anchorCtr="0" anchor="ctr" bIns="137150" lIns="274300" spcFirstLastPara="1" rIns="274300" wrap="square" tIns="137150">
            <a:noAutofit/>
          </a:bodyPr>
          <a:lstStyle/>
          <a:p>
            <a:pPr indent="0" lvl="0" marL="0" marR="0" rtl="0" algn="l">
              <a:lnSpc>
                <a:spcPct val="115000"/>
              </a:lnSpc>
              <a:spcBef>
                <a:spcPts val="0"/>
              </a:spcBef>
              <a:spcAft>
                <a:spcPts val="0"/>
              </a:spcAft>
              <a:buClr>
                <a:srgbClr val="0B7A6F"/>
              </a:buClr>
              <a:buSzPts val="1900"/>
              <a:buFont typeface="Arial"/>
              <a:buNone/>
            </a:pPr>
            <a:r>
              <a:rPr b="1" lang="en-US" sz="1900">
                <a:solidFill>
                  <a:srgbClr val="0B7A6F"/>
                </a:solidFill>
              </a:rPr>
              <a:t>Les 10 sont réalisés. Au delà de cela, nous avons ajouté le versioning des données avec DVC et MinIO, la plateforme d'entraînement continu avec sa porte de promotion, l'interface d'opérations en React, l'orchestration Dagster avec un serveur MLflow vivant et des alertes de dérive et de pipeline, ainsi qu'un déploiement Komodo à 8 services désormais gardé par la CI.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4" name="Shape 284"/>
        <p:cNvGrpSpPr/>
        <p:nvPr/>
      </p:nvGrpSpPr>
      <p:grpSpPr>
        <a:xfrm>
          <a:off x="0" y="0"/>
          <a:ext cx="0" cy="0"/>
          <a:chOff x="0" y="0"/>
          <a:chExt cx="0" cy="0"/>
        </a:xfrm>
      </p:grpSpPr>
      <p:sp>
        <p:nvSpPr>
          <p:cNvPr id="285" name="Google Shape;285;p14"/>
          <p:cNvSpPr/>
          <p:nvPr/>
        </p:nvSpPr>
        <p:spPr>
          <a:xfrm>
            <a:off x="1047750" y="914400"/>
            <a:ext cx="17811750"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1950">
                <a:solidFill>
                  <a:srgbClr val="0B7A6F"/>
                </a:solidFill>
                <a:latin typeface="Courier New"/>
                <a:ea typeface="Courier New"/>
                <a:cs typeface="Courier New"/>
                <a:sym typeface="Courier New"/>
              </a:rPr>
              <a:t>CHAPITRE 2 — MA CONTRIBUTION</a:t>
            </a:r>
            <a:endParaRPr sz="1950">
              <a:solidFill>
                <a:schemeClr val="dk1"/>
              </a:solidFill>
              <a:latin typeface="Calibri"/>
              <a:ea typeface="Calibri"/>
              <a:cs typeface="Calibri"/>
              <a:sym typeface="Calibri"/>
            </a:endParaRPr>
          </a:p>
        </p:txBody>
      </p:sp>
      <p:sp>
        <p:nvSpPr>
          <p:cNvPr id="286" name="Google Shape;286;p14"/>
          <p:cNvSpPr/>
          <p:nvPr/>
        </p:nvSpPr>
        <p:spPr>
          <a:xfrm>
            <a:off x="1047750" y="1419225"/>
            <a:ext cx="17811750" cy="5524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3450">
                <a:solidFill>
                  <a:srgbClr val="16212B"/>
                </a:solidFill>
                <a:latin typeface="Arial"/>
                <a:ea typeface="Arial"/>
                <a:cs typeface="Arial"/>
                <a:sym typeface="Arial"/>
              </a:rPr>
              <a:t>Yassin Farih — Scrum Master, dbt Staging &amp; DVC</a:t>
            </a:r>
            <a:endParaRPr/>
          </a:p>
        </p:txBody>
      </p:sp>
      <p:sp>
        <p:nvSpPr>
          <p:cNvPr id="287" name="Google Shape;287;p14"/>
          <p:cNvSpPr/>
          <p:nvPr/>
        </p:nvSpPr>
        <p:spPr>
          <a:xfrm>
            <a:off x="1047750" y="3300000"/>
            <a:ext cx="9880283" cy="38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2000">
                <a:solidFill>
                  <a:srgbClr val="0B7A6F"/>
                </a:solidFill>
                <a:latin typeface="Arial"/>
                <a:ea typeface="Arial"/>
                <a:cs typeface="Arial"/>
                <a:sym typeface="Arial"/>
              </a:rPr>
              <a:t>MA CONTRIBUTION PERSONNELLE</a:t>
            </a:r>
            <a:endParaRPr sz="2000">
              <a:solidFill>
                <a:schemeClr val="dk1"/>
              </a:solidFill>
              <a:latin typeface="Calibri"/>
              <a:ea typeface="Calibri"/>
              <a:cs typeface="Calibri"/>
              <a:sym typeface="Calibri"/>
            </a:endParaRPr>
          </a:p>
        </p:txBody>
      </p:sp>
      <p:sp>
        <p:nvSpPr>
          <p:cNvPr id="288" name="Google Shape;288;p14"/>
          <p:cNvSpPr/>
          <p:nvPr/>
        </p:nvSpPr>
        <p:spPr>
          <a:xfrm>
            <a:off x="1047750" y="3700000"/>
            <a:ext cx="9251537" cy="190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0" lang="en-US" sz="2000">
                <a:solidFill>
                  <a:srgbClr val="16212B"/>
                </a:solidFill>
                <a:latin typeface="Arial"/>
                <a:ea typeface="Arial"/>
                <a:cs typeface="Arial"/>
                <a:sym typeface="Arial"/>
              </a:rPr>
              <a:t>Modèle dbt de staging (stg_transactions.sql), configuration dbt (dbt_project.yml, profiles.yml), animation Agile des 3 sprints. Versioning du dataset avec DVC : data/raw/creditcard.csv.dvc, .dvc/config et service MinIO (bucket dvc-store) de docker-compose.yml.</a:t>
            </a:r>
            <a:endParaRPr/>
          </a:p>
        </p:txBody>
      </p:sp>
      <p:sp>
        <p:nvSpPr>
          <p:cNvPr id="289" name="Google Shape;289;p14"/>
          <p:cNvSpPr/>
          <p:nvPr/>
        </p:nvSpPr>
        <p:spPr>
          <a:xfrm>
            <a:off x="1047750" y="5900000"/>
            <a:ext cx="9880283" cy="38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2000">
                <a:solidFill>
                  <a:srgbClr val="0B7A6F"/>
                </a:solidFill>
                <a:latin typeface="Arial"/>
                <a:ea typeface="Arial"/>
                <a:cs typeface="Arial"/>
                <a:sym typeface="Arial"/>
              </a:rPr>
              <a:t>RÔLE DANS LE PIPELINE GLOBAL</a:t>
            </a:r>
            <a:endParaRPr sz="2000">
              <a:solidFill>
                <a:schemeClr val="dk1"/>
              </a:solidFill>
              <a:latin typeface="Calibri"/>
              <a:ea typeface="Calibri"/>
              <a:cs typeface="Calibri"/>
              <a:sym typeface="Calibri"/>
            </a:endParaRPr>
          </a:p>
        </p:txBody>
      </p:sp>
      <p:sp>
        <p:nvSpPr>
          <p:cNvPr id="290" name="Google Shape;290;p14"/>
          <p:cNvSpPr/>
          <p:nvPr/>
        </p:nvSpPr>
        <p:spPr>
          <a:xfrm>
            <a:off x="1047750" y="6300000"/>
            <a:ext cx="9251537" cy="110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0" lang="en-US" sz="2000">
                <a:solidFill>
                  <a:srgbClr val="16212B"/>
                </a:solidFill>
                <a:latin typeface="Arial"/>
                <a:ea typeface="Arial"/>
                <a:cs typeface="Arial"/>
                <a:sym typeface="Arial"/>
              </a:rPr>
              <a:t>Premier maillon des transformations dbt, puis garant de la donnée versionnée : chaque version du dataset = un commit du .dvc, récupérable par dvc pull.</a:t>
            </a:r>
            <a:endParaRPr/>
          </a:p>
        </p:txBody>
      </p:sp>
      <p:sp>
        <p:nvSpPr>
          <p:cNvPr id="291" name="Google Shape;291;p14"/>
          <p:cNvSpPr/>
          <p:nvPr/>
        </p:nvSpPr>
        <p:spPr>
          <a:xfrm>
            <a:off x="10601325" y="3300000"/>
            <a:ext cx="7302818" cy="38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2000">
                <a:solidFill>
                  <a:srgbClr val="0B7A6F"/>
                </a:solidFill>
                <a:latin typeface="Arial"/>
                <a:ea typeface="Arial"/>
                <a:cs typeface="Arial"/>
                <a:sym typeface="Arial"/>
              </a:rPr>
              <a:t>DÉCISION TECHNIQUE CLÉ</a:t>
            </a:r>
            <a:endParaRPr sz="2000">
              <a:solidFill>
                <a:schemeClr val="dk1"/>
              </a:solidFill>
              <a:latin typeface="Calibri"/>
              <a:ea typeface="Calibri"/>
              <a:cs typeface="Calibri"/>
              <a:sym typeface="Calibri"/>
            </a:endParaRPr>
          </a:p>
        </p:txBody>
      </p:sp>
      <p:sp>
        <p:nvSpPr>
          <p:cNvPr id="292" name="Google Shape;292;p14"/>
          <p:cNvSpPr/>
          <p:nvPr/>
        </p:nvSpPr>
        <p:spPr>
          <a:xfrm>
            <a:off x="10601325" y="3700000"/>
            <a:ext cx="7302818" cy="190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0" lang="en-US" sz="2000">
                <a:solidFill>
                  <a:srgbClr val="16212B"/>
                </a:solidFill>
                <a:latin typeface="Arial"/>
                <a:ea typeface="Arial"/>
                <a:cs typeface="Arial"/>
                <a:sym typeface="Arial"/>
              </a:rPr>
              <a:t>Réutiliser _dlt_id comme clé stable transaction_id, staging en vue légère. DVC : ne versionner dans Git qu’un pointeur .dvc (dataset de 144 Mo) et l’héberger sur MinIO via quay.io — les images du Docker Hub exigent désormais une connexion.</a:t>
            </a:r>
            <a:endParaRPr/>
          </a:p>
        </p:txBody>
      </p:sp>
      <p:sp>
        <p:nvSpPr>
          <p:cNvPr id="293" name="Google Shape;293;p14"/>
          <p:cNvSpPr/>
          <p:nvPr/>
        </p:nvSpPr>
        <p:spPr>
          <a:xfrm>
            <a:off x="10601325" y="5900000"/>
            <a:ext cx="7302818" cy="38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2000">
                <a:solidFill>
                  <a:srgbClr val="0B7A6F"/>
                </a:solidFill>
                <a:latin typeface="Arial"/>
                <a:ea typeface="Arial"/>
                <a:cs typeface="Arial"/>
                <a:sym typeface="Arial"/>
              </a:rPr>
              <a:t>RÔLE AGILE</a:t>
            </a:r>
            <a:endParaRPr sz="2000">
              <a:solidFill>
                <a:schemeClr val="dk1"/>
              </a:solidFill>
              <a:latin typeface="Calibri"/>
              <a:ea typeface="Calibri"/>
              <a:cs typeface="Calibri"/>
              <a:sym typeface="Calibri"/>
            </a:endParaRPr>
          </a:p>
        </p:txBody>
      </p:sp>
      <p:sp>
        <p:nvSpPr>
          <p:cNvPr id="294" name="Google Shape;294;p14"/>
          <p:cNvSpPr/>
          <p:nvPr/>
        </p:nvSpPr>
        <p:spPr>
          <a:xfrm>
            <a:off x="10601325" y="6300000"/>
            <a:ext cx="7302818" cy="110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0" lang="en-US" sz="2000">
                <a:solidFill>
                  <a:srgbClr val="16212B"/>
                </a:solidFill>
                <a:latin typeface="Arial"/>
                <a:ea typeface="Arial"/>
                <a:cs typeface="Arial"/>
                <a:sym typeface="Arial"/>
              </a:rPr>
              <a:t>Scrum Master — anime les 3 sprints et priorise les 20 user stories du Product Backlog vers les 10 livrables attendus.</a:t>
            </a:r>
            <a:endParaRPr sz="2000">
              <a:solidFill>
                <a:schemeClr val="dk1"/>
              </a:solidFill>
              <a:latin typeface="Calibri"/>
              <a:ea typeface="Calibri"/>
              <a:cs typeface="Calibri"/>
              <a:sym typeface="Calibri"/>
            </a:endParaRPr>
          </a:p>
        </p:txBody>
      </p:sp>
      <p:sp>
        <p:nvSpPr>
          <p:cNvPr id="295" name="Google Shape;295;p14"/>
          <p:cNvSpPr/>
          <p:nvPr/>
        </p:nvSpPr>
        <p:spPr>
          <a:xfrm>
            <a:off x="16504920" y="9648825"/>
            <a:ext cx="809244"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0" lang="en-US" sz="1800">
                <a:solidFill>
                  <a:srgbClr val="5B6B80"/>
                </a:solidFill>
                <a:latin typeface="Courier New"/>
                <a:ea typeface="Courier New"/>
                <a:cs typeface="Courier New"/>
                <a:sym typeface="Courier New"/>
              </a:rPr>
              <a:t>12/41</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0" name="Shape 300"/>
        <p:cNvGrpSpPr/>
        <p:nvPr/>
      </p:nvGrpSpPr>
      <p:grpSpPr>
        <a:xfrm>
          <a:off x="0" y="0"/>
          <a:ext cx="0" cy="0"/>
          <a:chOff x="0" y="0"/>
          <a:chExt cx="0" cy="0"/>
        </a:xfrm>
      </p:grpSpPr>
      <p:sp>
        <p:nvSpPr>
          <p:cNvPr id="301" name="Google Shape;301;p15"/>
          <p:cNvSpPr txBox="1"/>
          <p:nvPr/>
        </p:nvSpPr>
        <p:spPr>
          <a:xfrm>
            <a:off x="1047720" y="914400"/>
            <a:ext cx="17811598" cy="371246"/>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950"/>
              <a:buFont typeface="Courier New"/>
              <a:buNone/>
            </a:pPr>
            <a:r>
              <a:rPr b="1" lang="en-US" sz="1950">
                <a:solidFill>
                  <a:srgbClr val="0B7A6F"/>
                </a:solidFill>
                <a:latin typeface="Courier New"/>
                <a:ea typeface="Courier New"/>
                <a:cs typeface="Courier New"/>
                <a:sym typeface="Courier New"/>
              </a:rPr>
              <a:t>CHAPITRE 3 — §3</a:t>
            </a:r>
            <a:endParaRPr/>
          </a:p>
        </p:txBody>
      </p:sp>
      <p:sp>
        <p:nvSpPr>
          <p:cNvPr id="302" name="Google Shape;302;p15"/>
          <p:cNvSpPr txBox="1"/>
          <p:nvPr/>
        </p:nvSpPr>
        <p:spPr>
          <a:xfrm>
            <a:off x="1047720" y="1419149"/>
            <a:ext cx="17811598" cy="55229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3450"/>
              <a:buFont typeface="Arial"/>
              <a:buNone/>
            </a:pPr>
            <a:r>
              <a:rPr b="1" lang="en-US" sz="3450">
                <a:solidFill>
                  <a:srgbClr val="16212B"/>
                </a:solidFill>
                <a:latin typeface="Arial"/>
                <a:ea typeface="Arial"/>
                <a:cs typeface="Arial"/>
                <a:sym typeface="Arial"/>
              </a:rPr>
              <a:t>Versioning des données : DVC + MinIO</a:t>
            </a:r>
            <a:endParaRPr/>
          </a:p>
        </p:txBody>
      </p:sp>
      <p:sp>
        <p:nvSpPr>
          <p:cNvPr id="303" name="Google Shape;303;p15"/>
          <p:cNvSpPr txBox="1"/>
          <p:nvPr/>
        </p:nvSpPr>
        <p:spPr>
          <a:xfrm>
            <a:off x="16367760" y="9646920"/>
            <a:ext cx="914400" cy="333756"/>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B6B80"/>
              </a:buClr>
              <a:buSzPts val="1800"/>
              <a:buFont typeface="Courier New"/>
              <a:buNone/>
            </a:pPr>
            <a:r>
              <a:rPr lang="en-US" sz="1800">
                <a:solidFill>
                  <a:srgbClr val="5B6B80"/>
                </a:solidFill>
                <a:latin typeface="Courier New"/>
                <a:ea typeface="Courier New"/>
                <a:cs typeface="Courier New"/>
                <a:sym typeface="Courier New"/>
              </a:rPr>
              <a:t>13/41</a:t>
            </a:r>
            <a:endParaRPr/>
          </a:p>
        </p:txBody>
      </p:sp>
      <p:sp>
        <p:nvSpPr>
          <p:cNvPr id="304" name="Google Shape;304;p15"/>
          <p:cNvSpPr/>
          <p:nvPr/>
        </p:nvSpPr>
        <p:spPr>
          <a:xfrm>
            <a:off x="1047902" y="2606040"/>
            <a:ext cx="4297680" cy="1828800"/>
          </a:xfrm>
          <a:prstGeom prst="roundRect">
            <a:avLst>
              <a:gd fmla="val 4000" name="adj"/>
            </a:avLst>
          </a:prstGeom>
          <a:solidFill>
            <a:srgbClr val="E8F0F9"/>
          </a:solidFill>
          <a:ln cap="flat" cmpd="sng" w="19050">
            <a:solidFill>
              <a:srgbClr val="2F6FA8"/>
            </a:solidFill>
            <a:prstDash val="solid"/>
            <a:round/>
            <a:headEnd len="sm" w="sm" type="none"/>
            <a:tailEnd len="sm" w="sm" type="none"/>
          </a:ln>
        </p:spPr>
        <p:txBody>
          <a:bodyPr anchorCtr="0" anchor="ctr" bIns="68575" lIns="137150" spcFirstLastPara="1" rIns="137150" wrap="square" tIns="68575">
            <a:noAutofit/>
          </a:bodyPr>
          <a:lstStyle/>
          <a:p>
            <a:pPr indent="0" lvl="0" marL="0" marR="0" rtl="0" algn="l">
              <a:spcBef>
                <a:spcPts val="0"/>
              </a:spcBef>
              <a:spcAft>
                <a:spcPts val="0"/>
              </a:spcAft>
              <a:buClr>
                <a:srgbClr val="1D4F7D"/>
              </a:buClr>
              <a:buSzPts val="2100"/>
              <a:buFont typeface="Arial"/>
              <a:buNone/>
            </a:pPr>
            <a:r>
              <a:rPr b="1" lang="en-US" sz="2100">
                <a:solidFill>
                  <a:srgbClr val="1D4F7D"/>
                </a:solidFill>
                <a:latin typeface="Arial"/>
                <a:ea typeface="Arial"/>
                <a:cs typeface="Arial"/>
                <a:sym typeface="Arial"/>
              </a:rPr>
              <a:t>Jeu de données brut</a:t>
            </a:r>
            <a:endParaRPr/>
          </a:p>
          <a:p>
            <a:pPr indent="0" lvl="0" marL="0" marR="0" rtl="0" algn="l">
              <a:lnSpc>
                <a:spcPct val="110000"/>
              </a:lnSpc>
              <a:spcBef>
                <a:spcPts val="500"/>
              </a:spcBef>
              <a:spcAft>
                <a:spcPts val="0"/>
              </a:spcAft>
              <a:buClr>
                <a:srgbClr val="0B7A6F"/>
              </a:buClr>
              <a:buSzPts val="1700"/>
              <a:buFont typeface="Courier New"/>
              <a:buNone/>
            </a:pPr>
            <a:r>
              <a:rPr lang="en-US" sz="1700">
                <a:solidFill>
                  <a:srgbClr val="0B7A6F"/>
                </a:solidFill>
                <a:latin typeface="Courier New"/>
                <a:ea typeface="Courier New"/>
                <a:cs typeface="Courier New"/>
                <a:sym typeface="Courier New"/>
              </a:rPr>
              <a:t>data/raw/creditcard.csv</a:t>
            </a:r>
            <a:endParaRPr/>
          </a:p>
          <a:p>
            <a:pPr indent="0" lvl="0" marL="0" marR="0" rtl="0" algn="l">
              <a:lnSpc>
                <a:spcPct val="110000"/>
              </a:lnSpc>
              <a:spcBef>
                <a:spcPts val="250"/>
              </a:spcBef>
              <a:spcAft>
                <a:spcPts val="0"/>
              </a:spcAft>
              <a:buClr>
                <a:srgbClr val="16212B"/>
              </a:buClr>
              <a:buSzPts val="1700"/>
              <a:buFont typeface="Arial"/>
              <a:buNone/>
            </a:pPr>
            <a:r>
              <a:rPr lang="en-US" sz="1700">
                <a:solidFill>
                  <a:srgbClr val="16212B"/>
                </a:solidFill>
                <a:latin typeface="Arial"/>
                <a:ea typeface="Arial"/>
                <a:cs typeface="Arial"/>
                <a:sym typeface="Arial"/>
              </a:rPr>
              <a:t>144 Mo · 284 807 lignes</a:t>
            </a:r>
            <a:endParaRPr/>
          </a:p>
          <a:p>
            <a:pPr indent="0" lvl="0" marL="0" marR="0" rtl="0" algn="l">
              <a:lnSpc>
                <a:spcPct val="110000"/>
              </a:lnSpc>
              <a:spcBef>
                <a:spcPts val="250"/>
              </a:spcBef>
              <a:spcAft>
                <a:spcPts val="0"/>
              </a:spcAft>
              <a:buClr>
                <a:srgbClr val="16212B"/>
              </a:buClr>
              <a:buSzPts val="1700"/>
              <a:buFont typeface="Arial"/>
              <a:buNone/>
            </a:pPr>
            <a:r>
              <a:rPr lang="en-US" sz="1700">
                <a:solidFill>
                  <a:srgbClr val="16212B"/>
                </a:solidFill>
                <a:latin typeface="Arial"/>
                <a:ea typeface="Arial"/>
                <a:cs typeface="Arial"/>
                <a:sym typeface="Arial"/>
              </a:rPr>
              <a:t>exclu de Git (.gitignore)</a:t>
            </a:r>
            <a:endParaRPr/>
          </a:p>
        </p:txBody>
      </p:sp>
      <p:sp>
        <p:nvSpPr>
          <p:cNvPr id="305" name="Google Shape;305;p15"/>
          <p:cNvSpPr/>
          <p:nvPr/>
        </p:nvSpPr>
        <p:spPr>
          <a:xfrm>
            <a:off x="6991502" y="2606040"/>
            <a:ext cx="4297680" cy="1828800"/>
          </a:xfrm>
          <a:prstGeom prst="roundRect">
            <a:avLst>
              <a:gd fmla="val 4000" name="adj"/>
            </a:avLst>
          </a:prstGeom>
          <a:solidFill>
            <a:srgbClr val="E3F1EE"/>
          </a:solidFill>
          <a:ln cap="flat" cmpd="sng" w="19050">
            <a:solidFill>
              <a:srgbClr val="0B7A6F"/>
            </a:solidFill>
            <a:prstDash val="solid"/>
            <a:round/>
            <a:headEnd len="sm" w="sm" type="none"/>
            <a:tailEnd len="sm" w="sm" type="none"/>
          </a:ln>
        </p:spPr>
        <p:txBody>
          <a:bodyPr anchorCtr="0" anchor="ctr" bIns="68575" lIns="137150" spcFirstLastPara="1" rIns="137150" wrap="square" tIns="68575">
            <a:noAutofit/>
          </a:bodyPr>
          <a:lstStyle/>
          <a:p>
            <a:pPr indent="0" lvl="0" marL="0" marR="0" rtl="0" algn="l">
              <a:spcBef>
                <a:spcPts val="0"/>
              </a:spcBef>
              <a:spcAft>
                <a:spcPts val="0"/>
              </a:spcAft>
              <a:buClr>
                <a:srgbClr val="0B5C4C"/>
              </a:buClr>
              <a:buSzPts val="2100"/>
              <a:buFont typeface="Arial"/>
              <a:buNone/>
            </a:pPr>
            <a:r>
              <a:rPr b="1" lang="en-US" sz="2100">
                <a:solidFill>
                  <a:srgbClr val="0B5C4C"/>
                </a:solidFill>
                <a:latin typeface="Arial"/>
                <a:ea typeface="Arial"/>
                <a:cs typeface="Arial"/>
                <a:sym typeface="Arial"/>
              </a:rPr>
              <a:t>Pointeur DVC</a:t>
            </a:r>
            <a:endParaRPr/>
          </a:p>
          <a:p>
            <a:pPr indent="0" lvl="0" marL="0" marR="0" rtl="0" algn="l">
              <a:lnSpc>
                <a:spcPct val="110000"/>
              </a:lnSpc>
              <a:spcBef>
                <a:spcPts val="500"/>
              </a:spcBef>
              <a:spcAft>
                <a:spcPts val="0"/>
              </a:spcAft>
              <a:buClr>
                <a:srgbClr val="0B7A6F"/>
              </a:buClr>
              <a:buSzPts val="1700"/>
              <a:buFont typeface="Courier New"/>
              <a:buNone/>
            </a:pPr>
            <a:r>
              <a:rPr lang="en-US" sz="1700">
                <a:solidFill>
                  <a:srgbClr val="0B7A6F"/>
                </a:solidFill>
                <a:latin typeface="Courier New"/>
                <a:ea typeface="Courier New"/>
                <a:cs typeface="Courier New"/>
                <a:sym typeface="Courier New"/>
              </a:rPr>
              <a:t>creditcard.csv.dvc</a:t>
            </a:r>
            <a:endParaRPr/>
          </a:p>
          <a:p>
            <a:pPr indent="0" lvl="0" marL="0" marR="0" rtl="0" algn="l">
              <a:lnSpc>
                <a:spcPct val="110000"/>
              </a:lnSpc>
              <a:spcBef>
                <a:spcPts val="250"/>
              </a:spcBef>
              <a:spcAft>
                <a:spcPts val="0"/>
              </a:spcAft>
              <a:buClr>
                <a:srgbClr val="16212B"/>
              </a:buClr>
              <a:buSzPts val="1700"/>
              <a:buFont typeface="Arial"/>
              <a:buNone/>
            </a:pPr>
            <a:r>
              <a:rPr lang="en-US" sz="1700">
                <a:solidFill>
                  <a:srgbClr val="16212B"/>
                </a:solidFill>
                <a:latin typeface="Arial"/>
                <a:ea typeface="Arial"/>
                <a:cs typeface="Arial"/>
                <a:sym typeface="Arial"/>
              </a:rPr>
              <a:t>md5 : e90efcb8…</a:t>
            </a:r>
            <a:endParaRPr/>
          </a:p>
          <a:p>
            <a:pPr indent="0" lvl="0" marL="0" marR="0" rtl="0" algn="l">
              <a:lnSpc>
                <a:spcPct val="110000"/>
              </a:lnSpc>
              <a:spcBef>
                <a:spcPts val="250"/>
              </a:spcBef>
              <a:spcAft>
                <a:spcPts val="0"/>
              </a:spcAft>
              <a:buClr>
                <a:srgbClr val="16212B"/>
              </a:buClr>
              <a:buSzPts val="1700"/>
              <a:buFont typeface="Arial"/>
              <a:buNone/>
            </a:pPr>
            <a:r>
              <a:rPr lang="en-US" sz="1700">
                <a:solidFill>
                  <a:srgbClr val="16212B"/>
                </a:solidFill>
                <a:latin typeface="Arial"/>
                <a:ea typeface="Arial"/>
                <a:cs typeface="Arial"/>
                <a:sym typeface="Arial"/>
              </a:rPr>
              <a:t>size : 150 828 752 octets</a:t>
            </a:r>
            <a:endParaRPr/>
          </a:p>
        </p:txBody>
      </p:sp>
      <p:sp>
        <p:nvSpPr>
          <p:cNvPr id="306" name="Google Shape;306;p15"/>
          <p:cNvSpPr/>
          <p:nvPr/>
        </p:nvSpPr>
        <p:spPr>
          <a:xfrm>
            <a:off x="12935102" y="2606040"/>
            <a:ext cx="4297680" cy="1828800"/>
          </a:xfrm>
          <a:prstGeom prst="roundRect">
            <a:avLst>
              <a:gd fmla="val 4000" name="adj"/>
            </a:avLst>
          </a:prstGeom>
          <a:solidFill>
            <a:srgbClr val="F5F7FA"/>
          </a:solidFill>
          <a:ln cap="flat" cmpd="sng" w="19050">
            <a:solidFill>
              <a:srgbClr val="8A97A6"/>
            </a:solidFill>
            <a:prstDash val="solid"/>
            <a:round/>
            <a:headEnd len="sm" w="sm" type="none"/>
            <a:tailEnd len="sm" w="sm" type="none"/>
          </a:ln>
        </p:spPr>
        <p:txBody>
          <a:bodyPr anchorCtr="0" anchor="ctr" bIns="68575" lIns="137150" spcFirstLastPara="1" rIns="137150" wrap="square" tIns="68575">
            <a:noAutofit/>
          </a:bodyPr>
          <a:lstStyle/>
          <a:p>
            <a:pPr indent="0" lvl="0" marL="0" marR="0" rtl="0" algn="l">
              <a:spcBef>
                <a:spcPts val="0"/>
              </a:spcBef>
              <a:spcAft>
                <a:spcPts val="0"/>
              </a:spcAft>
              <a:buClr>
                <a:srgbClr val="16212B"/>
              </a:buClr>
              <a:buSzPts val="2100"/>
              <a:buFont typeface="Arial"/>
              <a:buNone/>
            </a:pPr>
            <a:r>
              <a:rPr b="1" lang="en-US" sz="2100">
                <a:solidFill>
                  <a:srgbClr val="16212B"/>
                </a:solidFill>
                <a:latin typeface="Arial"/>
                <a:ea typeface="Arial"/>
                <a:cs typeface="Arial"/>
                <a:sym typeface="Arial"/>
              </a:rPr>
              <a:t>Dépôt GitHub</a:t>
            </a:r>
            <a:endParaRPr/>
          </a:p>
          <a:p>
            <a:pPr indent="0" lvl="0" marL="0" marR="0" rtl="0" algn="l">
              <a:lnSpc>
                <a:spcPct val="110000"/>
              </a:lnSpc>
              <a:spcBef>
                <a:spcPts val="500"/>
              </a:spcBef>
              <a:spcAft>
                <a:spcPts val="0"/>
              </a:spcAft>
              <a:buClr>
                <a:srgbClr val="16212B"/>
              </a:buClr>
              <a:buSzPts val="1700"/>
              <a:buFont typeface="Arial"/>
              <a:buNone/>
            </a:pPr>
            <a:r>
              <a:rPr lang="en-US" sz="1700">
                <a:solidFill>
                  <a:srgbClr val="16212B"/>
                </a:solidFill>
                <a:latin typeface="Arial"/>
                <a:ea typeface="Arial"/>
                <a:cs typeface="Arial"/>
                <a:sym typeface="Arial"/>
              </a:rPr>
              <a:t>kappa20/fraud-detection-mlops</a:t>
            </a:r>
            <a:endParaRPr/>
          </a:p>
          <a:p>
            <a:pPr indent="0" lvl="0" marL="0" marR="0" rtl="0" algn="l">
              <a:lnSpc>
                <a:spcPct val="110000"/>
              </a:lnSpc>
              <a:spcBef>
                <a:spcPts val="250"/>
              </a:spcBef>
              <a:spcAft>
                <a:spcPts val="0"/>
              </a:spcAft>
              <a:buClr>
                <a:srgbClr val="16212B"/>
              </a:buClr>
              <a:buSzPts val="1700"/>
              <a:buFont typeface="Arial"/>
              <a:buNone/>
            </a:pPr>
            <a:r>
              <a:rPr lang="en-US" sz="1700">
                <a:solidFill>
                  <a:srgbClr val="16212B"/>
                </a:solidFill>
                <a:latin typeface="Arial"/>
                <a:ea typeface="Arial"/>
                <a:cs typeface="Arial"/>
                <a:sym typeface="Arial"/>
              </a:rPr>
              <a:t>ne contient que le pointeur</a:t>
            </a:r>
            <a:endParaRPr/>
          </a:p>
          <a:p>
            <a:pPr indent="0" lvl="0" marL="0" marR="0" rtl="0" algn="l">
              <a:lnSpc>
                <a:spcPct val="110000"/>
              </a:lnSpc>
              <a:spcBef>
                <a:spcPts val="250"/>
              </a:spcBef>
              <a:spcAft>
                <a:spcPts val="0"/>
              </a:spcAft>
              <a:buClr>
                <a:srgbClr val="16212B"/>
              </a:buClr>
              <a:buSzPts val="1700"/>
              <a:buFont typeface="Arial"/>
              <a:buNone/>
            </a:pPr>
            <a:r>
              <a:rPr lang="en-US" sz="1700">
                <a:solidFill>
                  <a:srgbClr val="16212B"/>
                </a:solidFill>
                <a:latin typeface="Arial"/>
                <a:ea typeface="Arial"/>
                <a:cs typeface="Arial"/>
                <a:sym typeface="Arial"/>
              </a:rPr>
              <a:t>+ .dvc/config (déclare le remote)</a:t>
            </a:r>
            <a:endParaRPr/>
          </a:p>
        </p:txBody>
      </p:sp>
      <p:sp>
        <p:nvSpPr>
          <p:cNvPr id="307" name="Google Shape;307;p15"/>
          <p:cNvSpPr/>
          <p:nvPr/>
        </p:nvSpPr>
        <p:spPr>
          <a:xfrm>
            <a:off x="1047902" y="5074920"/>
            <a:ext cx="4297680" cy="1828800"/>
          </a:xfrm>
          <a:prstGeom prst="roundRect">
            <a:avLst>
              <a:gd fmla="val 4000" name="adj"/>
            </a:avLst>
          </a:prstGeom>
          <a:solidFill>
            <a:srgbClr val="FDF1E0"/>
          </a:solidFill>
          <a:ln cap="flat" cmpd="sng" w="19050">
            <a:solidFill>
              <a:srgbClr val="C9781B"/>
            </a:solidFill>
            <a:prstDash val="solid"/>
            <a:round/>
            <a:headEnd len="sm" w="sm" type="none"/>
            <a:tailEnd len="sm" w="sm" type="none"/>
          </a:ln>
        </p:spPr>
        <p:txBody>
          <a:bodyPr anchorCtr="0" anchor="ctr" bIns="68575" lIns="137150" spcFirstLastPara="1" rIns="137150" wrap="square" tIns="68575">
            <a:noAutofit/>
          </a:bodyPr>
          <a:lstStyle/>
          <a:p>
            <a:pPr indent="0" lvl="0" marL="0" marR="0" rtl="0" algn="l">
              <a:spcBef>
                <a:spcPts val="0"/>
              </a:spcBef>
              <a:spcAft>
                <a:spcPts val="0"/>
              </a:spcAft>
              <a:buClr>
                <a:srgbClr val="8A4E0D"/>
              </a:buClr>
              <a:buSzPts val="2100"/>
              <a:buFont typeface="Arial"/>
              <a:buNone/>
            </a:pPr>
            <a:r>
              <a:rPr b="1" lang="en-US" sz="2100">
                <a:solidFill>
                  <a:srgbClr val="8A4E0D"/>
                </a:solidFill>
                <a:latin typeface="Arial"/>
                <a:ea typeface="Arial"/>
                <a:cs typeface="Arial"/>
                <a:sym typeface="Arial"/>
              </a:rPr>
              <a:t>Remote MinIO — dvc-store</a:t>
            </a:r>
            <a:endParaRPr/>
          </a:p>
          <a:p>
            <a:pPr indent="0" lvl="0" marL="0" marR="0" rtl="0" algn="l">
              <a:lnSpc>
                <a:spcPct val="110000"/>
              </a:lnSpc>
              <a:spcBef>
                <a:spcPts val="500"/>
              </a:spcBef>
              <a:spcAft>
                <a:spcPts val="0"/>
              </a:spcAft>
              <a:buClr>
                <a:srgbClr val="16212B"/>
              </a:buClr>
              <a:buSzPts val="1700"/>
              <a:buFont typeface="Arial"/>
              <a:buNone/>
            </a:pPr>
            <a:r>
              <a:rPr lang="en-US" sz="1700">
                <a:solidFill>
                  <a:srgbClr val="16212B"/>
                </a:solidFill>
                <a:latin typeface="Arial"/>
                <a:ea typeface="Arial"/>
                <a:cs typeface="Arial"/>
                <a:sym typeface="Arial"/>
              </a:rPr>
              <a:t>service minio (docker-compose)</a:t>
            </a:r>
            <a:endParaRPr/>
          </a:p>
          <a:p>
            <a:pPr indent="0" lvl="0" marL="0" marR="0" rtl="0" algn="l">
              <a:lnSpc>
                <a:spcPct val="110000"/>
              </a:lnSpc>
              <a:spcBef>
                <a:spcPts val="250"/>
              </a:spcBef>
              <a:spcAft>
                <a:spcPts val="0"/>
              </a:spcAft>
              <a:buClr>
                <a:srgbClr val="16212B"/>
              </a:buClr>
              <a:buSzPts val="1700"/>
              <a:buFont typeface="Arial"/>
              <a:buNone/>
            </a:pPr>
            <a:r>
              <a:rPr lang="en-US" sz="1700">
                <a:solidFill>
                  <a:srgbClr val="16212B"/>
                </a:solidFill>
                <a:latin typeface="Arial"/>
                <a:ea typeface="Arial"/>
                <a:cs typeface="Arial"/>
                <a:sym typeface="Arial"/>
              </a:rPr>
              <a:t>API :4605 · console :4606</a:t>
            </a:r>
            <a:endParaRPr/>
          </a:p>
          <a:p>
            <a:pPr indent="0" lvl="0" marL="0" marR="0" rtl="0" algn="l">
              <a:lnSpc>
                <a:spcPct val="110000"/>
              </a:lnSpc>
              <a:spcBef>
                <a:spcPts val="250"/>
              </a:spcBef>
              <a:spcAft>
                <a:spcPts val="0"/>
              </a:spcAft>
              <a:buClr>
                <a:srgbClr val="16212B"/>
              </a:buClr>
              <a:buSzPts val="1700"/>
              <a:buFont typeface="Arial"/>
              <a:buNone/>
            </a:pPr>
            <a:r>
              <a:rPr lang="en-US" sz="1700">
                <a:solidFill>
                  <a:srgbClr val="16212B"/>
                </a:solidFill>
                <a:latin typeface="Arial"/>
                <a:ea typeface="Arial"/>
                <a:cs typeface="Arial"/>
                <a:sym typeface="Arial"/>
              </a:rPr>
              <a:t>S3-compatible, volume persistant</a:t>
            </a:r>
            <a:endParaRPr/>
          </a:p>
        </p:txBody>
      </p:sp>
      <p:sp>
        <p:nvSpPr>
          <p:cNvPr id="308" name="Google Shape;308;p15"/>
          <p:cNvSpPr/>
          <p:nvPr/>
        </p:nvSpPr>
        <p:spPr>
          <a:xfrm>
            <a:off x="6991502" y="5074920"/>
            <a:ext cx="4297680" cy="1828800"/>
          </a:xfrm>
          <a:prstGeom prst="roundRect">
            <a:avLst>
              <a:gd fmla="val 4000" name="adj"/>
            </a:avLst>
          </a:prstGeom>
          <a:solidFill>
            <a:srgbClr val="E8F0F9"/>
          </a:solidFill>
          <a:ln cap="flat" cmpd="sng" w="19050">
            <a:solidFill>
              <a:srgbClr val="2F6FA8"/>
            </a:solidFill>
            <a:prstDash val="solid"/>
            <a:round/>
            <a:headEnd len="sm" w="sm" type="none"/>
            <a:tailEnd len="sm" w="sm" type="none"/>
          </a:ln>
        </p:spPr>
        <p:txBody>
          <a:bodyPr anchorCtr="0" anchor="ctr" bIns="68575" lIns="137150" spcFirstLastPara="1" rIns="137150" wrap="square" tIns="68575">
            <a:noAutofit/>
          </a:bodyPr>
          <a:lstStyle/>
          <a:p>
            <a:pPr indent="0" lvl="0" marL="0" marR="0" rtl="0" algn="l">
              <a:spcBef>
                <a:spcPts val="0"/>
              </a:spcBef>
              <a:spcAft>
                <a:spcPts val="0"/>
              </a:spcAft>
              <a:buClr>
                <a:srgbClr val="1D4F7D"/>
              </a:buClr>
              <a:buSzPts val="2100"/>
              <a:buFont typeface="Arial"/>
              <a:buNone/>
            </a:pPr>
            <a:r>
              <a:rPr b="1" lang="en-US" sz="2100">
                <a:solidFill>
                  <a:srgbClr val="1D4F7D"/>
                </a:solidFill>
                <a:latin typeface="Arial"/>
                <a:ea typeface="Arial"/>
                <a:cs typeface="Arial"/>
                <a:sym typeface="Arial"/>
              </a:rPr>
              <a:t>Consommateurs</a:t>
            </a:r>
            <a:endParaRPr/>
          </a:p>
          <a:p>
            <a:pPr indent="0" lvl="0" marL="0" marR="0" rtl="0" algn="l">
              <a:lnSpc>
                <a:spcPct val="110000"/>
              </a:lnSpc>
              <a:spcBef>
                <a:spcPts val="500"/>
              </a:spcBef>
              <a:spcAft>
                <a:spcPts val="0"/>
              </a:spcAft>
              <a:buClr>
                <a:srgbClr val="16212B"/>
              </a:buClr>
              <a:buSzPts val="1700"/>
              <a:buFont typeface="Arial"/>
              <a:buNone/>
            </a:pPr>
            <a:r>
              <a:rPr lang="en-US" sz="1700">
                <a:solidFill>
                  <a:srgbClr val="16212B"/>
                </a:solidFill>
                <a:latin typeface="Arial"/>
                <a:ea typeface="Arial"/>
                <a:cs typeface="Arial"/>
                <a:sym typeface="Arial"/>
              </a:rPr>
              <a:t>poste coéquipier → :4605</a:t>
            </a:r>
            <a:endParaRPr/>
          </a:p>
          <a:p>
            <a:pPr indent="0" lvl="0" marL="0" marR="0" rtl="0" algn="l">
              <a:lnSpc>
                <a:spcPct val="110000"/>
              </a:lnSpc>
              <a:spcBef>
                <a:spcPts val="250"/>
              </a:spcBef>
              <a:spcAft>
                <a:spcPts val="0"/>
              </a:spcAft>
              <a:buClr>
                <a:srgbClr val="16212B"/>
              </a:buClr>
              <a:buSzPts val="1700"/>
              <a:buFont typeface="Arial"/>
              <a:buNone/>
            </a:pPr>
            <a:r>
              <a:rPr lang="en-US" sz="1700">
                <a:solidFill>
                  <a:srgbClr val="16212B"/>
                </a:solidFill>
                <a:latin typeface="Arial"/>
                <a:ea typeface="Arial"/>
                <a:cs typeface="Arial"/>
                <a:sym typeface="Arial"/>
              </a:rPr>
              <a:t>platform-api → minio:9000</a:t>
            </a:r>
            <a:endParaRPr/>
          </a:p>
          <a:p>
            <a:pPr indent="0" lvl="0" marL="0" marR="0" rtl="0" algn="l">
              <a:lnSpc>
                <a:spcPct val="110000"/>
              </a:lnSpc>
              <a:spcBef>
                <a:spcPts val="250"/>
              </a:spcBef>
              <a:spcAft>
                <a:spcPts val="0"/>
              </a:spcAft>
              <a:buClr>
                <a:srgbClr val="16212B"/>
              </a:buClr>
              <a:buSzPts val="1700"/>
              <a:buFont typeface="Arial"/>
              <a:buNone/>
            </a:pPr>
            <a:r>
              <a:rPr lang="en-US" sz="1700">
                <a:solidFill>
                  <a:srgbClr val="16212B"/>
                </a:solidFill>
                <a:latin typeface="Arial"/>
                <a:ea typeface="Arial"/>
                <a:cs typeface="Arial"/>
                <a:sym typeface="Arial"/>
              </a:rPr>
              <a:t>checkout frais sur Komodo</a:t>
            </a:r>
            <a:endParaRPr/>
          </a:p>
        </p:txBody>
      </p:sp>
      <p:sp>
        <p:nvSpPr>
          <p:cNvPr id="309" name="Google Shape;309;p15"/>
          <p:cNvSpPr/>
          <p:nvPr/>
        </p:nvSpPr>
        <p:spPr>
          <a:xfrm>
            <a:off x="12935102" y="5074920"/>
            <a:ext cx="4297680" cy="1828800"/>
          </a:xfrm>
          <a:prstGeom prst="roundRect">
            <a:avLst>
              <a:gd fmla="val 4000" name="adj"/>
            </a:avLst>
          </a:prstGeom>
          <a:solidFill>
            <a:srgbClr val="F5F7FA"/>
          </a:solidFill>
          <a:ln cap="flat" cmpd="sng" w="19050">
            <a:solidFill>
              <a:srgbClr val="8A97A6"/>
            </a:solidFill>
            <a:prstDash val="solid"/>
            <a:round/>
            <a:headEnd len="sm" w="sm" type="none"/>
            <a:tailEnd len="sm" w="sm" type="none"/>
          </a:ln>
        </p:spPr>
        <p:txBody>
          <a:bodyPr anchorCtr="0" anchor="ctr" bIns="68575" lIns="137150" spcFirstLastPara="1" rIns="137150" wrap="square" tIns="68575">
            <a:noAutofit/>
          </a:bodyPr>
          <a:lstStyle/>
          <a:p>
            <a:pPr indent="0" lvl="0" marL="0" marR="0" rtl="0" algn="l">
              <a:spcBef>
                <a:spcPts val="0"/>
              </a:spcBef>
              <a:spcAft>
                <a:spcPts val="0"/>
              </a:spcAft>
              <a:buClr>
                <a:srgbClr val="16212B"/>
              </a:buClr>
              <a:buSzPts val="2100"/>
              <a:buFont typeface="Arial"/>
              <a:buNone/>
            </a:pPr>
            <a:r>
              <a:rPr b="1" lang="en-US" sz="2100">
                <a:solidFill>
                  <a:srgbClr val="16212B"/>
                </a:solidFill>
                <a:latin typeface="Arial"/>
                <a:ea typeface="Arial"/>
                <a:cs typeface="Arial"/>
                <a:sym typeface="Arial"/>
              </a:rPr>
              <a:t>Sécurité</a:t>
            </a:r>
            <a:endParaRPr/>
          </a:p>
          <a:p>
            <a:pPr indent="0" lvl="0" marL="0" marR="0" rtl="0" algn="l">
              <a:lnSpc>
                <a:spcPct val="110000"/>
              </a:lnSpc>
              <a:spcBef>
                <a:spcPts val="500"/>
              </a:spcBef>
              <a:spcAft>
                <a:spcPts val="0"/>
              </a:spcAft>
              <a:buClr>
                <a:srgbClr val="16212B"/>
              </a:buClr>
              <a:buSzPts val="1700"/>
              <a:buFont typeface="Arial"/>
              <a:buNone/>
            </a:pPr>
            <a:r>
              <a:rPr lang="en-US" sz="1700">
                <a:solidFill>
                  <a:srgbClr val="16212B"/>
                </a:solidFill>
                <a:latin typeface="Arial"/>
                <a:ea typeface="Arial"/>
                <a:cs typeface="Arial"/>
                <a:sym typeface="Arial"/>
              </a:rPr>
              <a:t>identifiants jamais commités</a:t>
            </a:r>
            <a:endParaRPr/>
          </a:p>
          <a:p>
            <a:pPr indent="0" lvl="0" marL="0" marR="0" rtl="0" algn="l">
              <a:lnSpc>
                <a:spcPct val="110000"/>
              </a:lnSpc>
              <a:spcBef>
                <a:spcPts val="250"/>
              </a:spcBef>
              <a:spcAft>
                <a:spcPts val="0"/>
              </a:spcAft>
              <a:buClr>
                <a:srgbClr val="16212B"/>
              </a:buClr>
              <a:buSzPts val="1700"/>
              <a:buFont typeface="Arial"/>
              <a:buNone/>
            </a:pPr>
            <a:r>
              <a:rPr lang="en-US" sz="1700">
                <a:solidFill>
                  <a:srgbClr val="16212B"/>
                </a:solidFill>
                <a:latin typeface="Arial"/>
                <a:ea typeface="Arial"/>
                <a:cs typeface="Arial"/>
                <a:sym typeface="Arial"/>
              </a:rPr>
              <a:t>.dvc/config.local ignoré par Git</a:t>
            </a:r>
            <a:endParaRPr/>
          </a:p>
          <a:p>
            <a:pPr indent="0" lvl="0" marL="0" marR="0" rtl="0" algn="l">
              <a:lnSpc>
                <a:spcPct val="110000"/>
              </a:lnSpc>
              <a:spcBef>
                <a:spcPts val="250"/>
              </a:spcBef>
              <a:spcAft>
                <a:spcPts val="0"/>
              </a:spcAft>
              <a:buClr>
                <a:srgbClr val="16212B"/>
              </a:buClr>
              <a:buSzPts val="1700"/>
              <a:buFont typeface="Arial"/>
              <a:buNone/>
            </a:pPr>
            <a:r>
              <a:rPr lang="en-US" sz="1700">
                <a:solidFill>
                  <a:srgbClr val="16212B"/>
                </a:solidFill>
                <a:latin typeface="Arial"/>
                <a:ea typeface="Arial"/>
                <a:cs typeface="Arial"/>
                <a:sym typeface="Arial"/>
              </a:rPr>
              <a:t>modèle : .dvc/config.local.example</a:t>
            </a:r>
            <a:endParaRPr/>
          </a:p>
        </p:txBody>
      </p:sp>
      <p:cxnSp>
        <p:nvCxnSpPr>
          <p:cNvPr id="310" name="Google Shape;310;p15"/>
          <p:cNvCxnSpPr/>
          <p:nvPr/>
        </p:nvCxnSpPr>
        <p:spPr>
          <a:xfrm>
            <a:off x="5345582" y="3520440"/>
            <a:ext cx="1645920" cy="0"/>
          </a:xfrm>
          <a:prstGeom prst="straightConnector1">
            <a:avLst/>
          </a:prstGeom>
          <a:noFill/>
          <a:ln cap="flat" cmpd="sng" w="28575">
            <a:solidFill>
              <a:srgbClr val="0B7A6F"/>
            </a:solidFill>
            <a:prstDash val="solid"/>
            <a:round/>
            <a:headEnd len="sm" w="sm" type="none"/>
            <a:tailEnd len="med" w="med" type="triangle"/>
          </a:ln>
        </p:spPr>
      </p:cxnSp>
      <p:sp>
        <p:nvSpPr>
          <p:cNvPr id="311" name="Google Shape;311;p15"/>
          <p:cNvSpPr txBox="1"/>
          <p:nvPr/>
        </p:nvSpPr>
        <p:spPr>
          <a:xfrm>
            <a:off x="5345582" y="3063240"/>
            <a:ext cx="1645920" cy="36576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0B7A6F"/>
              </a:buClr>
              <a:buSzPts val="1800"/>
              <a:buFont typeface="Courier New"/>
              <a:buNone/>
            </a:pPr>
            <a:r>
              <a:rPr b="1" lang="en-US" sz="1800">
                <a:solidFill>
                  <a:srgbClr val="0B7A6F"/>
                </a:solidFill>
                <a:latin typeface="Courier New"/>
                <a:ea typeface="Courier New"/>
                <a:cs typeface="Courier New"/>
                <a:sym typeface="Courier New"/>
              </a:rPr>
              <a:t>dvc add</a:t>
            </a:r>
            <a:endParaRPr/>
          </a:p>
        </p:txBody>
      </p:sp>
      <p:cxnSp>
        <p:nvCxnSpPr>
          <p:cNvPr id="312" name="Google Shape;312;p15"/>
          <p:cNvCxnSpPr/>
          <p:nvPr/>
        </p:nvCxnSpPr>
        <p:spPr>
          <a:xfrm>
            <a:off x="11289182" y="3520440"/>
            <a:ext cx="1645920" cy="0"/>
          </a:xfrm>
          <a:prstGeom prst="straightConnector1">
            <a:avLst/>
          </a:prstGeom>
          <a:noFill/>
          <a:ln cap="flat" cmpd="sng" w="28575">
            <a:solidFill>
              <a:srgbClr val="5B6B80"/>
            </a:solidFill>
            <a:prstDash val="solid"/>
            <a:round/>
            <a:headEnd len="sm" w="sm" type="none"/>
            <a:tailEnd len="med" w="med" type="triangle"/>
          </a:ln>
        </p:spPr>
      </p:cxnSp>
      <p:sp>
        <p:nvSpPr>
          <p:cNvPr id="313" name="Google Shape;313;p15"/>
          <p:cNvSpPr txBox="1"/>
          <p:nvPr/>
        </p:nvSpPr>
        <p:spPr>
          <a:xfrm>
            <a:off x="11289182" y="3063240"/>
            <a:ext cx="1645920" cy="36576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5B6B80"/>
              </a:buClr>
              <a:buSzPts val="1800"/>
              <a:buFont typeface="Courier New"/>
              <a:buNone/>
            </a:pPr>
            <a:r>
              <a:rPr b="1" lang="en-US" sz="1800">
                <a:solidFill>
                  <a:srgbClr val="5B6B80"/>
                </a:solidFill>
                <a:latin typeface="Courier New"/>
                <a:ea typeface="Courier New"/>
                <a:cs typeface="Courier New"/>
                <a:sym typeface="Courier New"/>
              </a:rPr>
              <a:t>git commit</a:t>
            </a:r>
            <a:endParaRPr/>
          </a:p>
        </p:txBody>
      </p:sp>
      <p:cxnSp>
        <p:nvCxnSpPr>
          <p:cNvPr id="314" name="Google Shape;314;p15"/>
          <p:cNvCxnSpPr/>
          <p:nvPr/>
        </p:nvCxnSpPr>
        <p:spPr>
          <a:xfrm>
            <a:off x="3196742" y="4434840"/>
            <a:ext cx="0" cy="640080"/>
          </a:xfrm>
          <a:prstGeom prst="straightConnector1">
            <a:avLst/>
          </a:prstGeom>
          <a:noFill/>
          <a:ln cap="flat" cmpd="sng" w="28575">
            <a:solidFill>
              <a:srgbClr val="C9781B"/>
            </a:solidFill>
            <a:prstDash val="solid"/>
            <a:round/>
            <a:headEnd len="sm" w="sm" type="none"/>
            <a:tailEnd len="med" w="med" type="triangle"/>
          </a:ln>
        </p:spPr>
      </p:cxnSp>
      <p:sp>
        <p:nvSpPr>
          <p:cNvPr id="315" name="Google Shape;315;p15"/>
          <p:cNvSpPr txBox="1"/>
          <p:nvPr/>
        </p:nvSpPr>
        <p:spPr>
          <a:xfrm>
            <a:off x="3379622" y="4572000"/>
            <a:ext cx="2194560" cy="3657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C9781B"/>
              </a:buClr>
              <a:buSzPts val="1800"/>
              <a:buFont typeface="Courier New"/>
              <a:buNone/>
            </a:pPr>
            <a:r>
              <a:rPr b="1" lang="en-US" sz="1800">
                <a:solidFill>
                  <a:srgbClr val="C9781B"/>
                </a:solidFill>
                <a:latin typeface="Courier New"/>
                <a:ea typeface="Courier New"/>
                <a:cs typeface="Courier New"/>
                <a:sym typeface="Courier New"/>
              </a:rPr>
              <a:t>dvc push</a:t>
            </a:r>
            <a:endParaRPr/>
          </a:p>
        </p:txBody>
      </p:sp>
      <p:cxnSp>
        <p:nvCxnSpPr>
          <p:cNvPr id="316" name="Google Shape;316;p15"/>
          <p:cNvCxnSpPr/>
          <p:nvPr/>
        </p:nvCxnSpPr>
        <p:spPr>
          <a:xfrm rot="10800000">
            <a:off x="5345582" y="5989320"/>
            <a:ext cx="1645920" cy="0"/>
          </a:xfrm>
          <a:prstGeom prst="straightConnector1">
            <a:avLst/>
          </a:prstGeom>
          <a:noFill/>
          <a:ln cap="flat" cmpd="sng" w="28575">
            <a:solidFill>
              <a:srgbClr val="2F6FA8"/>
            </a:solidFill>
            <a:prstDash val="solid"/>
            <a:round/>
            <a:headEnd len="sm" w="sm" type="none"/>
            <a:tailEnd len="med" w="med" type="triangle"/>
          </a:ln>
        </p:spPr>
      </p:cxnSp>
      <p:sp>
        <p:nvSpPr>
          <p:cNvPr id="317" name="Google Shape;317;p15"/>
          <p:cNvSpPr txBox="1"/>
          <p:nvPr/>
        </p:nvSpPr>
        <p:spPr>
          <a:xfrm>
            <a:off x="5345582" y="5532120"/>
            <a:ext cx="1645920" cy="36576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2F6FA8"/>
              </a:buClr>
              <a:buSzPts val="1800"/>
              <a:buFont typeface="Courier New"/>
              <a:buNone/>
            </a:pPr>
            <a:r>
              <a:rPr b="1" lang="en-US" sz="1800">
                <a:solidFill>
                  <a:srgbClr val="2F6FA8"/>
                </a:solidFill>
                <a:latin typeface="Courier New"/>
                <a:ea typeface="Courier New"/>
                <a:cs typeface="Courier New"/>
                <a:sym typeface="Courier New"/>
              </a:rPr>
              <a:t>dvc pull</a:t>
            </a:r>
            <a:endParaRPr/>
          </a:p>
        </p:txBody>
      </p:sp>
      <p:sp>
        <p:nvSpPr>
          <p:cNvPr id="318" name="Google Shape;318;p15"/>
          <p:cNvSpPr/>
          <p:nvPr/>
        </p:nvSpPr>
        <p:spPr>
          <a:xfrm>
            <a:off x="1047902" y="7543800"/>
            <a:ext cx="16184880" cy="1417320"/>
          </a:xfrm>
          <a:prstGeom prst="roundRect">
            <a:avLst>
              <a:gd fmla="val 4000" name="adj"/>
            </a:avLst>
          </a:prstGeom>
          <a:solidFill>
            <a:srgbClr val="E3F1EE"/>
          </a:solidFill>
          <a:ln>
            <a:noFill/>
          </a:ln>
        </p:spPr>
        <p:txBody>
          <a:bodyPr anchorCtr="0" anchor="ctr" bIns="137150" lIns="274300" spcFirstLastPara="1" rIns="274300" wrap="square" tIns="137150">
            <a:noAutofit/>
          </a:bodyPr>
          <a:lstStyle/>
          <a:p>
            <a:pPr indent="0" lvl="0" marL="0" marR="0" rtl="0" algn="l">
              <a:spcBef>
                <a:spcPts val="0"/>
              </a:spcBef>
              <a:spcAft>
                <a:spcPts val="0"/>
              </a:spcAft>
              <a:buClr>
                <a:srgbClr val="0B7A6F"/>
              </a:buClr>
              <a:buSzPts val="2200"/>
              <a:buFont typeface="Arial"/>
              <a:buNone/>
            </a:pPr>
            <a:r>
              <a:rPr b="1" lang="en-US" sz="2200">
                <a:solidFill>
                  <a:srgbClr val="0B7A6F"/>
                </a:solidFill>
                <a:latin typeface="Arial"/>
                <a:ea typeface="Arial"/>
                <a:cs typeface="Arial"/>
                <a:sym typeface="Arial"/>
              </a:rPr>
              <a:t>Un commit Git = une version exacte du code ET des données.</a:t>
            </a:r>
            <a:endParaRPr/>
          </a:p>
          <a:p>
            <a:pPr indent="0" lvl="0" marL="0" marR="0" rtl="0" algn="l">
              <a:lnSpc>
                <a:spcPct val="115000"/>
              </a:lnSpc>
              <a:spcBef>
                <a:spcPts val="400"/>
              </a:spcBef>
              <a:spcAft>
                <a:spcPts val="0"/>
              </a:spcAft>
              <a:buClr>
                <a:srgbClr val="5B6B80"/>
              </a:buClr>
              <a:buSzPts val="1700"/>
              <a:buFont typeface="Arial"/>
              <a:buNone/>
            </a:pPr>
            <a:r>
              <a:rPr lang="en-US" sz="1700">
                <a:solidFill>
                  <a:srgbClr val="5B6B80"/>
                </a:solidFill>
                <a:latin typeface="Arial"/>
                <a:ea typeface="Arial"/>
                <a:cs typeface="Arial"/>
                <a:sym typeface="Arial"/>
              </a:rPr>
              <a:t>Chaque ajout de données par la plateforme produit un nouveau commit du fichier .dvc : le dataset de 144 Mo n’entre jamais dans Git, mais chaque état reste retrouvable.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3" name="Shape 323"/>
        <p:cNvGrpSpPr/>
        <p:nvPr/>
      </p:nvGrpSpPr>
      <p:grpSpPr>
        <a:xfrm>
          <a:off x="0" y="0"/>
          <a:ext cx="0" cy="0"/>
          <a:chOff x="0" y="0"/>
          <a:chExt cx="0" cy="0"/>
        </a:xfrm>
      </p:grpSpPr>
      <p:sp>
        <p:nvSpPr>
          <p:cNvPr id="324" name="Google Shape;324;p16"/>
          <p:cNvSpPr txBox="1"/>
          <p:nvPr/>
        </p:nvSpPr>
        <p:spPr>
          <a:xfrm>
            <a:off x="1047720" y="914400"/>
            <a:ext cx="17811598" cy="371246"/>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950"/>
              <a:buFont typeface="Courier New"/>
              <a:buNone/>
            </a:pPr>
            <a:r>
              <a:rPr b="1" lang="en-US" sz="1950">
                <a:solidFill>
                  <a:srgbClr val="0B7A6F"/>
                </a:solidFill>
                <a:latin typeface="Courier New"/>
                <a:ea typeface="Courier New"/>
                <a:cs typeface="Courier New"/>
                <a:sym typeface="Courier New"/>
              </a:rPr>
              <a:t>CHAPITRE 3 — §3 · PREUVE</a:t>
            </a:r>
            <a:endParaRPr/>
          </a:p>
        </p:txBody>
      </p:sp>
      <p:sp>
        <p:nvSpPr>
          <p:cNvPr id="325" name="Google Shape;325;p16"/>
          <p:cNvSpPr txBox="1"/>
          <p:nvPr/>
        </p:nvSpPr>
        <p:spPr>
          <a:xfrm>
            <a:off x="1047720" y="1419149"/>
            <a:ext cx="17811598" cy="55229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3450"/>
              <a:buFont typeface="Arial"/>
              <a:buNone/>
            </a:pPr>
            <a:r>
              <a:rPr b="1" lang="en-US" sz="3450">
                <a:solidFill>
                  <a:srgbClr val="16212B"/>
                </a:solidFill>
                <a:latin typeface="Arial"/>
                <a:ea typeface="Arial"/>
                <a:cs typeface="Arial"/>
                <a:sym typeface="Arial"/>
              </a:rPr>
              <a:t>DVC vérifié sur MinIO : deux versions du dataset</a:t>
            </a:r>
            <a:endParaRPr/>
          </a:p>
        </p:txBody>
      </p:sp>
      <p:sp>
        <p:nvSpPr>
          <p:cNvPr id="326" name="Google Shape;326;p16"/>
          <p:cNvSpPr txBox="1"/>
          <p:nvPr/>
        </p:nvSpPr>
        <p:spPr>
          <a:xfrm>
            <a:off x="16367760" y="9646920"/>
            <a:ext cx="914400" cy="333756"/>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B6B80"/>
              </a:buClr>
              <a:buSzPts val="1800"/>
              <a:buFont typeface="Courier New"/>
              <a:buNone/>
            </a:pPr>
            <a:r>
              <a:rPr lang="en-US" sz="1800">
                <a:solidFill>
                  <a:srgbClr val="5B6B80"/>
                </a:solidFill>
                <a:latin typeface="Courier New"/>
                <a:ea typeface="Courier New"/>
                <a:cs typeface="Courier New"/>
                <a:sym typeface="Courier New"/>
              </a:rPr>
              <a:t>14/41</a:t>
            </a:r>
            <a:endParaRPr/>
          </a:p>
        </p:txBody>
      </p:sp>
      <p:sp>
        <p:nvSpPr>
          <p:cNvPr id="327" name="Google Shape;327;p16"/>
          <p:cNvSpPr/>
          <p:nvPr/>
        </p:nvSpPr>
        <p:spPr>
          <a:xfrm>
            <a:off x="1047902" y="2331720"/>
            <a:ext cx="16184880" cy="2657109"/>
          </a:xfrm>
          <a:prstGeom prst="roundRect">
            <a:avLst>
              <a:gd fmla="val 4000"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Console MinIO dvc-store" id="328" name="Google Shape;328;p16"/>
          <p:cNvPicPr preferRelativeResize="0"/>
          <p:nvPr/>
        </p:nvPicPr>
        <p:blipFill rotWithShape="1">
          <a:blip r:embed="rId3">
            <a:alphaModFix/>
          </a:blip>
          <a:srcRect b="0" l="0" r="0" t="0"/>
          <a:stretch/>
        </p:blipFill>
        <p:spPr>
          <a:xfrm>
            <a:off x="1230782" y="2514600"/>
            <a:ext cx="15819120" cy="2291349"/>
          </a:xfrm>
          <a:prstGeom prst="rect">
            <a:avLst/>
          </a:prstGeom>
          <a:noFill/>
          <a:ln>
            <a:noFill/>
          </a:ln>
        </p:spPr>
      </p:pic>
      <p:sp>
        <p:nvSpPr>
          <p:cNvPr id="329" name="Google Shape;329;p16"/>
          <p:cNvSpPr txBox="1"/>
          <p:nvPr/>
        </p:nvSpPr>
        <p:spPr>
          <a:xfrm>
            <a:off x="1047902" y="5080269"/>
            <a:ext cx="16184880" cy="4572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5B6B80"/>
              </a:buClr>
              <a:buSzPts val="1500"/>
              <a:buFont typeface="Arial"/>
              <a:buNone/>
            </a:pPr>
            <a:r>
              <a:rPr lang="en-US" sz="1500">
                <a:solidFill>
                  <a:srgbClr val="5B6B80"/>
                </a:solidFill>
                <a:latin typeface="Arial"/>
                <a:ea typeface="Arial"/>
                <a:cs typeface="Arial"/>
                <a:sym typeface="Arial"/>
              </a:rPr>
              <a:t>Figure 37 — console MinIO (exp.s3.fsbm.ma:4606), bucket dvc-store, dossier files/md5/</a:t>
            </a:r>
            <a:endParaRPr/>
          </a:p>
        </p:txBody>
      </p:sp>
      <p:sp>
        <p:nvSpPr>
          <p:cNvPr id="330" name="Google Shape;330;p16"/>
          <p:cNvSpPr/>
          <p:nvPr/>
        </p:nvSpPr>
        <p:spPr>
          <a:xfrm>
            <a:off x="1047902" y="5811789"/>
            <a:ext cx="7955280" cy="2103120"/>
          </a:xfrm>
          <a:prstGeom prst="roundRect">
            <a:avLst>
              <a:gd fmla="val 4000" name="adj"/>
            </a:avLst>
          </a:prstGeom>
          <a:solidFill>
            <a:srgbClr val="E8F0F9"/>
          </a:solidFill>
          <a:ln cap="flat" cmpd="sng" w="19050">
            <a:solidFill>
              <a:srgbClr val="2F6FA8"/>
            </a:solidFill>
            <a:prstDash val="solid"/>
            <a:round/>
            <a:headEnd len="sm" w="sm" type="none"/>
            <a:tailEnd len="sm" w="sm" type="none"/>
          </a:ln>
        </p:spPr>
        <p:txBody>
          <a:bodyPr anchorCtr="0" anchor="ctr" bIns="68575" lIns="137150" spcFirstLastPara="1" rIns="137150" wrap="square" tIns="68575">
            <a:noAutofit/>
          </a:bodyPr>
          <a:lstStyle/>
          <a:p>
            <a:pPr indent="0" lvl="0" marL="0" marR="0" rtl="0" algn="l">
              <a:spcBef>
                <a:spcPts val="0"/>
              </a:spcBef>
              <a:spcAft>
                <a:spcPts val="0"/>
              </a:spcAft>
              <a:buClr>
                <a:srgbClr val="1D4F7D"/>
              </a:buClr>
              <a:buSzPts val="2200"/>
              <a:buFont typeface="Arial"/>
              <a:buNone/>
            </a:pPr>
            <a:r>
              <a:rPr b="1" lang="en-US" sz="2200">
                <a:solidFill>
                  <a:srgbClr val="1D4F7D"/>
                </a:solidFill>
                <a:latin typeface="Arial"/>
                <a:ea typeface="Arial"/>
                <a:cs typeface="Arial"/>
                <a:sym typeface="Arial"/>
              </a:rPr>
              <a:t>e9… — dataset d’origine</a:t>
            </a:r>
            <a:endParaRPr/>
          </a:p>
          <a:p>
            <a:pPr indent="0" lvl="0" marL="0" marR="0" rtl="0" algn="l">
              <a:lnSpc>
                <a:spcPct val="110000"/>
              </a:lnSpc>
              <a:spcBef>
                <a:spcPts val="500"/>
              </a:spcBef>
              <a:spcAft>
                <a:spcPts val="0"/>
              </a:spcAft>
              <a:buClr>
                <a:srgbClr val="0B7A6F"/>
              </a:buClr>
              <a:buSzPts val="1800"/>
              <a:buFont typeface="Courier New"/>
              <a:buNone/>
            </a:pPr>
            <a:r>
              <a:rPr lang="en-US" sz="1800">
                <a:solidFill>
                  <a:srgbClr val="0B7A6F"/>
                </a:solidFill>
                <a:latin typeface="Courier New"/>
                <a:ea typeface="Courier New"/>
                <a:cs typeface="Courier New"/>
                <a:sym typeface="Courier New"/>
              </a:rPr>
              <a:t>md5 e90efcb8…</a:t>
            </a:r>
            <a:endParaRPr/>
          </a:p>
          <a:p>
            <a:pPr indent="0" lvl="0" marL="0" marR="0" rtl="0" algn="l">
              <a:lnSpc>
                <a:spcPct val="110000"/>
              </a:lnSpc>
              <a:spcBef>
                <a:spcPts val="250"/>
              </a:spcBef>
              <a:spcAft>
                <a:spcPts val="0"/>
              </a:spcAft>
              <a:buClr>
                <a:srgbClr val="16212B"/>
              </a:buClr>
              <a:buSzPts val="1800"/>
              <a:buFont typeface="Arial"/>
              <a:buNone/>
            </a:pPr>
            <a:r>
              <a:rPr lang="en-US" sz="1800">
                <a:solidFill>
                  <a:srgbClr val="16212B"/>
                </a:solidFill>
                <a:latin typeface="Arial"/>
                <a:ea typeface="Arial"/>
                <a:cs typeface="Arial"/>
                <a:sym typeface="Arial"/>
              </a:rPr>
              <a:t>284 807 lignes · 150 828 752 octets</a:t>
            </a:r>
            <a:endParaRPr/>
          </a:p>
        </p:txBody>
      </p:sp>
      <p:sp>
        <p:nvSpPr>
          <p:cNvPr id="331" name="Google Shape;331;p16"/>
          <p:cNvSpPr/>
          <p:nvPr/>
        </p:nvSpPr>
        <p:spPr>
          <a:xfrm>
            <a:off x="9281160" y="5811789"/>
            <a:ext cx="7955280" cy="2103120"/>
          </a:xfrm>
          <a:prstGeom prst="roundRect">
            <a:avLst>
              <a:gd fmla="val 4000" name="adj"/>
            </a:avLst>
          </a:prstGeom>
          <a:solidFill>
            <a:srgbClr val="E3F1EE"/>
          </a:solidFill>
          <a:ln cap="flat" cmpd="sng" w="19050">
            <a:solidFill>
              <a:srgbClr val="0B7A6F"/>
            </a:solidFill>
            <a:prstDash val="solid"/>
            <a:round/>
            <a:headEnd len="sm" w="sm" type="none"/>
            <a:tailEnd len="sm" w="sm" type="none"/>
          </a:ln>
        </p:spPr>
        <p:txBody>
          <a:bodyPr anchorCtr="0" anchor="ctr" bIns="68575" lIns="137150" spcFirstLastPara="1" rIns="137150" wrap="square" tIns="68575">
            <a:noAutofit/>
          </a:bodyPr>
          <a:lstStyle/>
          <a:p>
            <a:pPr indent="0" lvl="0" marL="0" marR="0" rtl="0" algn="l">
              <a:spcBef>
                <a:spcPts val="0"/>
              </a:spcBef>
              <a:spcAft>
                <a:spcPts val="0"/>
              </a:spcAft>
              <a:buClr>
                <a:srgbClr val="0B5C4C"/>
              </a:buClr>
              <a:buSzPts val="2200"/>
              <a:buFont typeface="Arial"/>
              <a:buNone/>
            </a:pPr>
            <a:r>
              <a:rPr b="1" lang="en-US" sz="2200">
                <a:solidFill>
                  <a:srgbClr val="0B5C4C"/>
                </a:solidFill>
                <a:latin typeface="Arial"/>
                <a:ea typeface="Arial"/>
                <a:cs typeface="Arial"/>
                <a:sym typeface="Arial"/>
              </a:rPr>
              <a:t>91… — version du run de démonstration</a:t>
            </a:r>
            <a:endParaRPr/>
          </a:p>
          <a:p>
            <a:pPr indent="0" lvl="0" marL="0" marR="0" rtl="0" algn="l">
              <a:lnSpc>
                <a:spcPct val="110000"/>
              </a:lnSpc>
              <a:spcBef>
                <a:spcPts val="500"/>
              </a:spcBef>
              <a:spcAft>
                <a:spcPts val="0"/>
              </a:spcAft>
              <a:buClr>
                <a:srgbClr val="0B7A6F"/>
              </a:buClr>
              <a:buSzPts val="1800"/>
              <a:buFont typeface="Courier New"/>
              <a:buNone/>
            </a:pPr>
            <a:r>
              <a:rPr lang="en-US" sz="1800">
                <a:solidFill>
                  <a:srgbClr val="0B7A6F"/>
                </a:solidFill>
                <a:latin typeface="Courier New"/>
                <a:ea typeface="Courier New"/>
                <a:cs typeface="Courier New"/>
                <a:sym typeface="Courier New"/>
              </a:rPr>
              <a:t>md5 9199c2c9…</a:t>
            </a:r>
            <a:endParaRPr/>
          </a:p>
          <a:p>
            <a:pPr indent="0" lvl="0" marL="0" marR="0" rtl="0" algn="l">
              <a:lnSpc>
                <a:spcPct val="110000"/>
              </a:lnSpc>
              <a:spcBef>
                <a:spcPts val="250"/>
              </a:spcBef>
              <a:spcAft>
                <a:spcPts val="0"/>
              </a:spcAft>
              <a:buClr>
                <a:srgbClr val="16212B"/>
              </a:buClr>
              <a:buSzPts val="1800"/>
              <a:buFont typeface="Arial"/>
              <a:buNone/>
            </a:pPr>
            <a:r>
              <a:rPr lang="en-US" sz="1800">
                <a:solidFill>
                  <a:srgbClr val="16212B"/>
                </a:solidFill>
                <a:latin typeface="Arial"/>
                <a:ea typeface="Arial"/>
                <a:cs typeface="Arial"/>
                <a:sym typeface="Arial"/>
              </a:rPr>
              <a:t>+ 3 000 lignes simulées · commit bot fbd34a96</a:t>
            </a:r>
            <a:endParaRPr/>
          </a:p>
        </p:txBody>
      </p:sp>
      <p:sp>
        <p:nvSpPr>
          <p:cNvPr id="332" name="Google Shape;332;p16"/>
          <p:cNvSpPr/>
          <p:nvPr/>
        </p:nvSpPr>
        <p:spPr>
          <a:xfrm>
            <a:off x="1047902" y="8189229"/>
            <a:ext cx="16184880" cy="1005840"/>
          </a:xfrm>
          <a:prstGeom prst="roundRect">
            <a:avLst>
              <a:gd fmla="val 4000" name="adj"/>
            </a:avLst>
          </a:prstGeom>
          <a:solidFill>
            <a:srgbClr val="E3F1EE"/>
          </a:solidFill>
          <a:ln>
            <a:noFill/>
          </a:ln>
        </p:spPr>
        <p:txBody>
          <a:bodyPr anchorCtr="0" anchor="ctr" bIns="137150" lIns="274300" spcFirstLastPara="1" rIns="274300" wrap="square" tIns="137150">
            <a:noAutofit/>
          </a:bodyPr>
          <a:lstStyle/>
          <a:p>
            <a:pPr indent="0" lvl="0" marL="0" marR="0" rtl="0" algn="l">
              <a:spcBef>
                <a:spcPts val="0"/>
              </a:spcBef>
              <a:spcAft>
                <a:spcPts val="0"/>
              </a:spcAft>
              <a:buClr>
                <a:srgbClr val="0B7A6F"/>
              </a:buClr>
              <a:buSzPts val="2000"/>
              <a:buFont typeface="Arial"/>
              <a:buNone/>
            </a:pPr>
            <a:r>
              <a:rPr b="1" lang="en-US" sz="2000">
                <a:solidFill>
                  <a:srgbClr val="0B7A6F"/>
                </a:solidFill>
                <a:latin typeface="Arial"/>
                <a:ea typeface="Arial"/>
                <a:cs typeface="Arial"/>
                <a:sym typeface="Arial"/>
              </a:rPr>
              <a:t>Chaque version du dataset = un préfixe md5 dans le remote MinIO, et un commit du pointeur .dvc dans Git.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7" name="Shape 337"/>
        <p:cNvGrpSpPr/>
        <p:nvPr/>
      </p:nvGrpSpPr>
      <p:grpSpPr>
        <a:xfrm>
          <a:off x="0" y="0"/>
          <a:ext cx="0" cy="0"/>
          <a:chOff x="0" y="0"/>
          <a:chExt cx="0" cy="0"/>
        </a:xfrm>
      </p:grpSpPr>
      <p:sp>
        <p:nvSpPr>
          <p:cNvPr id="338" name="Google Shape;338;p17"/>
          <p:cNvSpPr txBox="1"/>
          <p:nvPr/>
        </p:nvSpPr>
        <p:spPr>
          <a:xfrm>
            <a:off x="1047720" y="914400"/>
            <a:ext cx="17811598" cy="371246"/>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950"/>
              <a:buFont typeface="Courier New"/>
              <a:buNone/>
            </a:pPr>
            <a:r>
              <a:rPr b="1" lang="en-US" sz="1950">
                <a:solidFill>
                  <a:srgbClr val="0B7A6F"/>
                </a:solidFill>
                <a:latin typeface="Courier New"/>
                <a:ea typeface="Courier New"/>
                <a:cs typeface="Courier New"/>
                <a:sym typeface="Courier New"/>
              </a:rPr>
              <a:t>CHAPITRE 3 — §5 · VERSIONS ET ÉCOSYSTÈME</a:t>
            </a:r>
            <a:endParaRPr/>
          </a:p>
        </p:txBody>
      </p:sp>
      <p:sp>
        <p:nvSpPr>
          <p:cNvPr id="339" name="Google Shape;339;p17"/>
          <p:cNvSpPr txBox="1"/>
          <p:nvPr/>
        </p:nvSpPr>
        <p:spPr>
          <a:xfrm>
            <a:off x="1047720" y="1419149"/>
            <a:ext cx="17811598" cy="55229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3450"/>
              <a:buFont typeface="Arial"/>
              <a:buNone/>
            </a:pPr>
            <a:r>
              <a:rPr b="1" lang="en-US" sz="3450">
                <a:solidFill>
                  <a:srgbClr val="16212B"/>
                </a:solidFill>
                <a:latin typeface="Arial"/>
                <a:ea typeface="Arial"/>
                <a:cs typeface="Arial"/>
                <a:sym typeface="Arial"/>
              </a:rPr>
              <a:t>Rollback sans réécrire l’historique</a:t>
            </a:r>
            <a:endParaRPr/>
          </a:p>
        </p:txBody>
      </p:sp>
      <p:sp>
        <p:nvSpPr>
          <p:cNvPr id="340" name="Google Shape;340;p17"/>
          <p:cNvSpPr txBox="1"/>
          <p:nvPr/>
        </p:nvSpPr>
        <p:spPr>
          <a:xfrm>
            <a:off x="16367760" y="9646920"/>
            <a:ext cx="914400" cy="333756"/>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B6B80"/>
              </a:buClr>
              <a:buSzPts val="1800"/>
              <a:buFont typeface="Courier New"/>
              <a:buNone/>
            </a:pPr>
            <a:r>
              <a:rPr lang="en-US" sz="1800">
                <a:solidFill>
                  <a:srgbClr val="5B6B80"/>
                </a:solidFill>
                <a:latin typeface="Courier New"/>
                <a:ea typeface="Courier New"/>
                <a:cs typeface="Courier New"/>
                <a:sym typeface="Courier New"/>
              </a:rPr>
              <a:t>15/41</a:t>
            </a:r>
            <a:endParaRPr/>
          </a:p>
        </p:txBody>
      </p:sp>
      <p:sp>
        <p:nvSpPr>
          <p:cNvPr id="341" name="Google Shape;341;p17"/>
          <p:cNvSpPr/>
          <p:nvPr/>
        </p:nvSpPr>
        <p:spPr>
          <a:xfrm>
            <a:off x="1047902" y="2331720"/>
            <a:ext cx="9144000" cy="5978513"/>
          </a:xfrm>
          <a:prstGeom prst="roundRect">
            <a:avLst>
              <a:gd fmla="val 4000"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2" name="Google Shape;342;p17"/>
          <p:cNvSpPr txBox="1"/>
          <p:nvPr/>
        </p:nvSpPr>
        <p:spPr>
          <a:xfrm>
            <a:off x="1047902" y="8401673"/>
            <a:ext cx="9144000" cy="822960"/>
          </a:xfrm>
          <a:prstGeom prst="rect">
            <a:avLst/>
          </a:prstGeom>
          <a:noFill/>
          <a:ln>
            <a:noFill/>
          </a:ln>
        </p:spPr>
        <p:txBody>
          <a:bodyPr anchorCtr="0" anchor="t" bIns="25400" lIns="25400" spcFirstLastPara="1" rIns="25400" wrap="square" tIns="25400">
            <a:normAutofit/>
          </a:bodyPr>
          <a:lstStyle/>
          <a:p>
            <a:pPr indent="0" lvl="0" marL="0" marR="0" rtl="0" algn="ctr">
              <a:lnSpc>
                <a:spcPct val="115000"/>
              </a:lnSpc>
              <a:spcBef>
                <a:spcPts val="0"/>
              </a:spcBef>
              <a:spcAft>
                <a:spcPts val="0"/>
              </a:spcAft>
              <a:buClr>
                <a:srgbClr val="5B6B80"/>
              </a:buClr>
              <a:buSzPts val="1500"/>
              <a:buFont typeface="Arial"/>
              <a:buNone/>
            </a:pPr>
            <a:r>
              <a:rPr lang="en-US" sz="1500">
                <a:solidFill>
                  <a:srgbClr val="5B6B80"/>
                </a:solidFill>
                <a:latin typeface="Arial"/>
                <a:ea typeface="Arial"/>
                <a:cs typeface="Arial"/>
                <a:sym typeface="Arial"/>
              </a:rPr>
              <a:t>Figures 51 et 53 — versions après rollback (instance locale) ; écosystème sur Komodo (lecture seule)</a:t>
            </a:r>
            <a:endParaRPr/>
          </a:p>
        </p:txBody>
      </p:sp>
      <p:sp>
        <p:nvSpPr>
          <p:cNvPr id="343" name="Google Shape;343;p17"/>
          <p:cNvSpPr txBox="1"/>
          <p:nvPr/>
        </p:nvSpPr>
        <p:spPr>
          <a:xfrm>
            <a:off x="10515600" y="2331720"/>
            <a:ext cx="6720840" cy="310896"/>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800"/>
              <a:buFont typeface="Courier New"/>
              <a:buNone/>
            </a:pPr>
            <a:r>
              <a:rPr b="1" lang="en-US" sz="1800">
                <a:solidFill>
                  <a:srgbClr val="0B7A6F"/>
                </a:solidFill>
                <a:latin typeface="Courier New"/>
                <a:ea typeface="Courier New"/>
                <a:cs typeface="Courier New"/>
                <a:sym typeface="Courier New"/>
              </a:rPr>
              <a:t>CE QU’IL FAUT RETENIR</a:t>
            </a:r>
            <a:endParaRPr/>
          </a:p>
        </p:txBody>
      </p:sp>
      <p:sp>
        <p:nvSpPr>
          <p:cNvPr id="344" name="Google Shape;344;p17"/>
          <p:cNvSpPr/>
          <p:nvPr/>
        </p:nvSpPr>
        <p:spPr>
          <a:xfrm>
            <a:off x="10515600" y="2788920"/>
            <a:ext cx="6720840" cy="1051560"/>
          </a:xfrm>
          <a:prstGeom prst="roundRect">
            <a:avLst>
              <a:gd fmla="val 4000" name="adj"/>
            </a:avLst>
          </a:prstGeom>
          <a:solidFill>
            <a:srgbClr val="F5F7FA"/>
          </a:solidFill>
          <a:ln>
            <a:noFill/>
          </a:ln>
        </p:spPr>
        <p:txBody>
          <a:bodyPr anchorCtr="0" anchor="ctr" bIns="91425" lIns="182875" spcFirstLastPara="1" rIns="182875" wrap="square" tIns="91425">
            <a:noAutofit/>
          </a:bodyPr>
          <a:lstStyle/>
          <a:p>
            <a:pPr indent="0" lvl="0" marL="0" marR="0" rtl="0" algn="l">
              <a:spcBef>
                <a:spcPts val="0"/>
              </a:spcBef>
              <a:spcAft>
                <a:spcPts val="0"/>
              </a:spcAft>
              <a:buClr>
                <a:srgbClr val="0B7A6F"/>
              </a:buClr>
              <a:buSzPts val="1800"/>
              <a:buFont typeface="Arial"/>
              <a:buNone/>
            </a:pPr>
            <a:r>
              <a:rPr b="1" lang="en-US" sz="1800">
                <a:solidFill>
                  <a:srgbClr val="0B7A6F"/>
                </a:solidFill>
                <a:latin typeface="Arial"/>
                <a:ea typeface="Arial"/>
                <a:cs typeface="Arial"/>
                <a:sym typeface="Arial"/>
              </a:rPr>
              <a:t>Une version = un commit git</a:t>
            </a:r>
            <a:endParaRPr/>
          </a:p>
          <a:p>
            <a:pPr indent="0" lvl="0" marL="0" marR="0" rtl="0" algn="l">
              <a:spcBef>
                <a:spcPts val="200"/>
              </a:spcBef>
              <a:spcAft>
                <a:spcPts val="0"/>
              </a:spcAft>
              <a:buClr>
                <a:srgbClr val="16212B"/>
              </a:buClr>
              <a:buSzPts val="1600"/>
              <a:buFont typeface="Arial"/>
              <a:buNone/>
            </a:pPr>
            <a:r>
              <a:rPr lang="en-US" sz="1600">
                <a:solidFill>
                  <a:srgbClr val="16212B"/>
                </a:solidFill>
                <a:latin typeface="Arial"/>
                <a:ea typeface="Arial"/>
                <a:cs typeface="Arial"/>
                <a:sym typeface="Arial"/>
              </a:rPr>
              <a:t>sur le pointeur .dvc du dataset</a:t>
            </a:r>
            <a:endParaRPr/>
          </a:p>
        </p:txBody>
      </p:sp>
      <p:sp>
        <p:nvSpPr>
          <p:cNvPr id="345" name="Google Shape;345;p17"/>
          <p:cNvSpPr/>
          <p:nvPr/>
        </p:nvSpPr>
        <p:spPr>
          <a:xfrm>
            <a:off x="10515600" y="3977640"/>
            <a:ext cx="6720840" cy="1051560"/>
          </a:xfrm>
          <a:prstGeom prst="roundRect">
            <a:avLst>
              <a:gd fmla="val 4000" name="adj"/>
            </a:avLst>
          </a:prstGeom>
          <a:solidFill>
            <a:srgbClr val="F5F7FA"/>
          </a:solidFill>
          <a:ln>
            <a:noFill/>
          </a:ln>
        </p:spPr>
        <p:txBody>
          <a:bodyPr anchorCtr="0" anchor="ctr" bIns="91425" lIns="182875" spcFirstLastPara="1" rIns="182875" wrap="square" tIns="91425">
            <a:noAutofit/>
          </a:bodyPr>
          <a:lstStyle/>
          <a:p>
            <a:pPr indent="0" lvl="0" marL="0" marR="0" rtl="0" algn="l">
              <a:spcBef>
                <a:spcPts val="0"/>
              </a:spcBef>
              <a:spcAft>
                <a:spcPts val="0"/>
              </a:spcAft>
              <a:buClr>
                <a:srgbClr val="0B7A6F"/>
              </a:buClr>
              <a:buSzPts val="1800"/>
              <a:buFont typeface="Arial"/>
              <a:buNone/>
            </a:pPr>
            <a:r>
              <a:rPr b="1" lang="en-US" sz="1800">
                <a:solidFill>
                  <a:srgbClr val="0B7A6F"/>
                </a:solidFill>
                <a:latin typeface="Arial"/>
                <a:ea typeface="Arial"/>
                <a:cs typeface="Arial"/>
                <a:sym typeface="Arial"/>
              </a:rPr>
              <a:t>Rollback = nouveau commit</a:t>
            </a:r>
            <a:endParaRPr/>
          </a:p>
          <a:p>
            <a:pPr indent="0" lvl="0" marL="0" marR="0" rtl="0" algn="l">
              <a:spcBef>
                <a:spcPts val="200"/>
              </a:spcBef>
              <a:spcAft>
                <a:spcPts val="0"/>
              </a:spcAft>
              <a:buClr>
                <a:srgbClr val="16212B"/>
              </a:buClr>
              <a:buSzPts val="1600"/>
              <a:buFont typeface="Arial"/>
              <a:buNone/>
            </a:pPr>
            <a:r>
              <a:rPr lang="en-US" sz="1600">
                <a:solidFill>
                  <a:srgbClr val="16212B"/>
                </a:solidFill>
                <a:latin typeface="Arial"/>
                <a:ea typeface="Arial"/>
                <a:cs typeface="Arial"/>
                <a:sym typeface="Arial"/>
              </a:rPr>
              <a:t>historique jamais réécrit, rien poussé vers GitHub</a:t>
            </a:r>
            <a:endParaRPr/>
          </a:p>
        </p:txBody>
      </p:sp>
      <p:sp>
        <p:nvSpPr>
          <p:cNvPr id="346" name="Google Shape;346;p17"/>
          <p:cNvSpPr/>
          <p:nvPr/>
        </p:nvSpPr>
        <p:spPr>
          <a:xfrm>
            <a:off x="10515600" y="5166360"/>
            <a:ext cx="6720840" cy="1051560"/>
          </a:xfrm>
          <a:prstGeom prst="roundRect">
            <a:avLst>
              <a:gd fmla="val 4000" name="adj"/>
            </a:avLst>
          </a:prstGeom>
          <a:solidFill>
            <a:srgbClr val="F5F7FA"/>
          </a:solidFill>
          <a:ln>
            <a:noFill/>
          </a:ln>
        </p:spPr>
        <p:txBody>
          <a:bodyPr anchorCtr="0" anchor="ctr" bIns="91425" lIns="182875" spcFirstLastPara="1" rIns="182875" wrap="square" tIns="91425">
            <a:noAutofit/>
          </a:bodyPr>
          <a:lstStyle/>
          <a:p>
            <a:pPr indent="0" lvl="0" marL="0" marR="0" rtl="0" algn="l">
              <a:spcBef>
                <a:spcPts val="0"/>
              </a:spcBef>
              <a:spcAft>
                <a:spcPts val="0"/>
              </a:spcAft>
              <a:buClr>
                <a:srgbClr val="0B7A6F"/>
              </a:buClr>
              <a:buSzPts val="1800"/>
              <a:buFont typeface="Arial"/>
              <a:buNone/>
            </a:pPr>
            <a:r>
              <a:rPr b="1" lang="en-US" sz="1800">
                <a:solidFill>
                  <a:srgbClr val="0B7A6F"/>
                </a:solidFill>
                <a:latin typeface="Arial"/>
                <a:ea typeface="Arial"/>
                <a:cs typeface="Arial"/>
                <a:sym typeface="Arial"/>
              </a:rPr>
              <a:t>Refusé pendant un job</a:t>
            </a:r>
            <a:endParaRPr/>
          </a:p>
          <a:p>
            <a:pPr indent="0" lvl="0" marL="0" marR="0" rtl="0" algn="l">
              <a:spcBef>
                <a:spcPts val="200"/>
              </a:spcBef>
              <a:spcAft>
                <a:spcPts val="0"/>
              </a:spcAft>
              <a:buClr>
                <a:srgbClr val="16212B"/>
              </a:buClr>
              <a:buSzPts val="1600"/>
              <a:buFont typeface="Arial"/>
              <a:buNone/>
            </a:pPr>
            <a:r>
              <a:rPr lang="en-US" sz="1600">
                <a:solidFill>
                  <a:srgbClr val="16212B"/>
                </a:solidFill>
                <a:latin typeface="Arial"/>
                <a:ea typeface="Arial"/>
                <a:cs typeface="Arial"/>
                <a:sym typeface="Arial"/>
              </a:rPr>
              <a:t>HTTP 409 : réessayer à la fin de l’exécution</a:t>
            </a:r>
            <a:endParaRPr/>
          </a:p>
        </p:txBody>
      </p:sp>
      <p:sp>
        <p:nvSpPr>
          <p:cNvPr id="347" name="Google Shape;347;p17"/>
          <p:cNvSpPr/>
          <p:nvPr/>
        </p:nvSpPr>
        <p:spPr>
          <a:xfrm>
            <a:off x="10515600" y="6355080"/>
            <a:ext cx="6720840" cy="1051560"/>
          </a:xfrm>
          <a:prstGeom prst="roundRect">
            <a:avLst>
              <a:gd fmla="val 4000" name="adj"/>
            </a:avLst>
          </a:prstGeom>
          <a:solidFill>
            <a:srgbClr val="F5F7FA"/>
          </a:solidFill>
          <a:ln>
            <a:noFill/>
          </a:ln>
        </p:spPr>
        <p:txBody>
          <a:bodyPr anchorCtr="0" anchor="ctr" bIns="91425" lIns="182875" spcFirstLastPara="1" rIns="182875" wrap="square" tIns="91425">
            <a:noAutofit/>
          </a:bodyPr>
          <a:lstStyle/>
          <a:p>
            <a:pPr indent="0" lvl="0" marL="0" marR="0" rtl="0" algn="l">
              <a:spcBef>
                <a:spcPts val="0"/>
              </a:spcBef>
              <a:spcAft>
                <a:spcPts val="0"/>
              </a:spcAft>
              <a:buClr>
                <a:srgbClr val="0B7A6F"/>
              </a:buClr>
              <a:buSzPts val="1800"/>
              <a:buFont typeface="Arial"/>
              <a:buNone/>
            </a:pPr>
            <a:r>
              <a:rPr b="1" lang="en-US" sz="1800">
                <a:solidFill>
                  <a:srgbClr val="0B7A6F"/>
                </a:solidFill>
                <a:latin typeface="Arial"/>
                <a:ea typeface="Arial"/>
                <a:cs typeface="Arial"/>
                <a:sym typeface="Arial"/>
              </a:rPr>
              <a:t>Komodo : 7 services disponibles</a:t>
            </a:r>
            <a:endParaRPr/>
          </a:p>
          <a:p>
            <a:pPr indent="0" lvl="0" marL="0" marR="0" rtl="0" algn="l">
              <a:spcBef>
                <a:spcPts val="200"/>
              </a:spcBef>
              <a:spcAft>
                <a:spcPts val="0"/>
              </a:spcAft>
              <a:buClr>
                <a:srgbClr val="16212B"/>
              </a:buClr>
              <a:buSzPts val="1600"/>
              <a:buFont typeface="Arial"/>
              <a:buNone/>
            </a:pPr>
            <a:r>
              <a:rPr lang="en-US" sz="1600">
                <a:solidFill>
                  <a:srgbClr val="16212B"/>
                </a:solidFill>
                <a:latin typeface="Arial"/>
                <a:ea typeface="Arial"/>
                <a:cs typeface="Arial"/>
                <a:sym typeface="Arial"/>
              </a:rPr>
              <a:t>MLflow, Grafana, Prometheus, API, Dagster, MinIO, Swagger · 4 à 9 ms</a:t>
            </a:r>
            <a:endParaRPr/>
          </a:p>
        </p:txBody>
      </p:sp>
      <p:sp>
        <p:nvSpPr>
          <p:cNvPr id="348" name="Google Shape;348;p17"/>
          <p:cNvSpPr/>
          <p:nvPr/>
        </p:nvSpPr>
        <p:spPr>
          <a:xfrm>
            <a:off x="10515600" y="7589520"/>
            <a:ext cx="6720840" cy="1463040"/>
          </a:xfrm>
          <a:prstGeom prst="roundRect">
            <a:avLst>
              <a:gd fmla="val 4000" name="adj"/>
            </a:avLst>
          </a:prstGeom>
          <a:solidFill>
            <a:srgbClr val="FBEAEA"/>
          </a:solidFill>
          <a:ln>
            <a:noFill/>
          </a:ln>
        </p:spPr>
        <p:txBody>
          <a:bodyPr anchorCtr="0" anchor="ctr" bIns="114300" lIns="228600" spcFirstLastPara="1" rIns="228600" wrap="square" tIns="114300">
            <a:noAutofit/>
          </a:bodyPr>
          <a:lstStyle/>
          <a:p>
            <a:pPr indent="0" lvl="0" marL="0" marR="0" rtl="0" algn="l">
              <a:lnSpc>
                <a:spcPct val="115000"/>
              </a:lnSpc>
              <a:spcBef>
                <a:spcPts val="0"/>
              </a:spcBef>
              <a:spcAft>
                <a:spcPts val="0"/>
              </a:spcAft>
              <a:buClr>
                <a:srgbClr val="B03A2E"/>
              </a:buClr>
              <a:buSzPts val="1600"/>
              <a:buFont typeface="Arial"/>
              <a:buNone/>
            </a:pPr>
            <a:r>
              <a:rPr b="1" lang="en-US" sz="1600">
                <a:solidFill>
                  <a:srgbClr val="B03A2E"/>
                </a:solidFill>
                <a:latin typeface="Arial"/>
                <a:ea typeface="Arial"/>
                <a:cs typeface="Arial"/>
                <a:sym typeface="Arial"/>
              </a:rPr>
              <a:t>Limite : </a:t>
            </a:r>
            <a:r>
              <a:rPr lang="en-US" sz="1600">
                <a:solidFill>
                  <a:srgbClr val="16212B"/>
                </a:solidFill>
                <a:latin typeface="Arial"/>
                <a:ea typeface="Arial"/>
                <a:cs typeface="Arial"/>
                <a:sym typeface="Arial"/>
              </a:rPr>
              <a:t>le redémarrage de fraud-api après approbation (RestartStack) n’a pas pu être testé hors Komodo.</a:t>
            </a:r>
            <a:endParaRPr/>
          </a:p>
        </p:txBody>
      </p:sp>
      <p:pic>
        <p:nvPicPr>
          <p:cNvPr descr="f51_versions.png" id="349" name="Google Shape;349;p17"/>
          <p:cNvPicPr preferRelativeResize="0"/>
          <p:nvPr/>
        </p:nvPicPr>
        <p:blipFill rotWithShape="1">
          <a:blip r:embed="rId3">
            <a:alphaModFix/>
          </a:blip>
          <a:srcRect b="0" l="0" r="0" t="0"/>
          <a:stretch/>
        </p:blipFill>
        <p:spPr>
          <a:xfrm>
            <a:off x="1234440" y="2905816"/>
            <a:ext cx="8778240" cy="2965094"/>
          </a:xfrm>
          <a:prstGeom prst="rect">
            <a:avLst/>
          </a:prstGeom>
          <a:noFill/>
          <a:ln>
            <a:noFill/>
          </a:ln>
        </p:spPr>
      </p:pic>
      <p:pic>
        <p:nvPicPr>
          <p:cNvPr descr="f53_ecosysteme.png" id="350" name="Google Shape;350;p17"/>
          <p:cNvPicPr preferRelativeResize="0"/>
          <p:nvPr/>
        </p:nvPicPr>
        <p:blipFill rotWithShape="1">
          <a:blip r:embed="rId4">
            <a:alphaModFix/>
          </a:blip>
          <a:srcRect b="0" l="0" r="0" t="0"/>
          <a:stretch/>
        </p:blipFill>
        <p:spPr>
          <a:xfrm>
            <a:off x="1234440" y="6144768"/>
            <a:ext cx="8778240" cy="218336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5" name="Shape 355"/>
        <p:cNvGrpSpPr/>
        <p:nvPr/>
      </p:nvGrpSpPr>
      <p:grpSpPr>
        <a:xfrm>
          <a:off x="0" y="0"/>
          <a:ext cx="0" cy="0"/>
          <a:chOff x="0" y="0"/>
          <a:chExt cx="0" cy="0"/>
        </a:xfrm>
      </p:grpSpPr>
      <p:sp>
        <p:nvSpPr>
          <p:cNvPr id="356" name="Google Shape;356;p18"/>
          <p:cNvSpPr txBox="1"/>
          <p:nvPr/>
        </p:nvSpPr>
        <p:spPr>
          <a:xfrm>
            <a:off x="1047720" y="914400"/>
            <a:ext cx="17811598" cy="371246"/>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950"/>
              <a:buFont typeface="Courier New"/>
              <a:buNone/>
            </a:pPr>
            <a:r>
              <a:rPr b="1" lang="en-US" sz="1950">
                <a:solidFill>
                  <a:srgbClr val="0B7A6F"/>
                </a:solidFill>
                <a:latin typeface="Courier New"/>
                <a:ea typeface="Courier New"/>
                <a:cs typeface="Courier New"/>
                <a:sym typeface="Courier New"/>
              </a:rPr>
              <a:t>DÉMONSTRATION</a:t>
            </a:r>
            <a:endParaRPr/>
          </a:p>
        </p:txBody>
      </p:sp>
      <p:sp>
        <p:nvSpPr>
          <p:cNvPr id="357" name="Google Shape;357;p18"/>
          <p:cNvSpPr txBox="1"/>
          <p:nvPr/>
        </p:nvSpPr>
        <p:spPr>
          <a:xfrm>
            <a:off x="1047720" y="1419149"/>
            <a:ext cx="17811598" cy="55229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3450"/>
              <a:buFont typeface="Arial"/>
              <a:buNone/>
            </a:pPr>
            <a:r>
              <a:rPr b="1" lang="en-US" sz="3450">
                <a:solidFill>
                  <a:srgbClr val="16212B"/>
                </a:solidFill>
                <a:latin typeface="Arial"/>
                <a:ea typeface="Arial"/>
                <a:cs typeface="Arial"/>
                <a:sym typeface="Arial"/>
              </a:rPr>
              <a:t>Un run réel sur Komodo (19/09/2026)</a:t>
            </a:r>
            <a:endParaRPr/>
          </a:p>
        </p:txBody>
      </p:sp>
      <p:sp>
        <p:nvSpPr>
          <p:cNvPr id="358" name="Google Shape;358;p18"/>
          <p:cNvSpPr txBox="1"/>
          <p:nvPr/>
        </p:nvSpPr>
        <p:spPr>
          <a:xfrm>
            <a:off x="16367760" y="9646920"/>
            <a:ext cx="914400" cy="333756"/>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B6B80"/>
              </a:buClr>
              <a:buSzPts val="1800"/>
              <a:buFont typeface="Courier New"/>
              <a:buNone/>
            </a:pPr>
            <a:r>
              <a:rPr lang="en-US" sz="1800">
                <a:solidFill>
                  <a:srgbClr val="5B6B80"/>
                </a:solidFill>
                <a:latin typeface="Courier New"/>
                <a:ea typeface="Courier New"/>
                <a:cs typeface="Courier New"/>
                <a:sym typeface="Courier New"/>
              </a:rPr>
              <a:t>16/41</a:t>
            </a:r>
            <a:endParaRPr/>
          </a:p>
        </p:txBody>
      </p:sp>
      <p:sp>
        <p:nvSpPr>
          <p:cNvPr id="359" name="Google Shape;359;p18"/>
          <p:cNvSpPr/>
          <p:nvPr/>
        </p:nvSpPr>
        <p:spPr>
          <a:xfrm>
            <a:off x="1047902" y="2331720"/>
            <a:ext cx="9144000" cy="5978513"/>
          </a:xfrm>
          <a:prstGeom prst="roundRect">
            <a:avLst>
              <a:gd fmla="val 4000"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0" name="Google Shape;360;p18"/>
          <p:cNvSpPr txBox="1"/>
          <p:nvPr/>
        </p:nvSpPr>
        <p:spPr>
          <a:xfrm>
            <a:off x="1047902" y="8401673"/>
            <a:ext cx="9144000" cy="822960"/>
          </a:xfrm>
          <a:prstGeom prst="rect">
            <a:avLst/>
          </a:prstGeom>
          <a:noFill/>
          <a:ln>
            <a:noFill/>
          </a:ln>
        </p:spPr>
        <p:txBody>
          <a:bodyPr anchorCtr="0" anchor="t" bIns="25400" lIns="25400" spcFirstLastPara="1" rIns="25400" wrap="square" tIns="25400">
            <a:normAutofit/>
          </a:bodyPr>
          <a:lstStyle/>
          <a:p>
            <a:pPr indent="0" lvl="0" marL="0" marR="0" rtl="0" algn="ctr">
              <a:lnSpc>
                <a:spcPct val="115000"/>
              </a:lnSpc>
              <a:spcBef>
                <a:spcPts val="0"/>
              </a:spcBef>
              <a:spcAft>
                <a:spcPts val="0"/>
              </a:spcAft>
              <a:buClr>
                <a:srgbClr val="5B6B80"/>
              </a:buClr>
              <a:buSzPts val="1500"/>
              <a:buFont typeface="Arial"/>
              <a:buNone/>
            </a:pPr>
            <a:r>
              <a:rPr lang="en-US" sz="1500">
                <a:solidFill>
                  <a:srgbClr val="5B6B80"/>
                </a:solidFill>
                <a:latin typeface="Arial"/>
                <a:ea typeface="Arial"/>
                <a:cs typeface="Arial"/>
                <a:sym typeface="Arial"/>
              </a:rPr>
              <a:t>Figure 34 — interface sur Komodo (lecture seule) : historique du run, écosystème, dérive actuelle</a:t>
            </a:r>
            <a:endParaRPr/>
          </a:p>
        </p:txBody>
      </p:sp>
      <p:sp>
        <p:nvSpPr>
          <p:cNvPr id="361" name="Google Shape;361;p18"/>
          <p:cNvSpPr txBox="1"/>
          <p:nvPr/>
        </p:nvSpPr>
        <p:spPr>
          <a:xfrm>
            <a:off x="10515600" y="2331720"/>
            <a:ext cx="6720840" cy="310896"/>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800"/>
              <a:buFont typeface="Courier New"/>
              <a:buNone/>
            </a:pPr>
            <a:r>
              <a:rPr b="1" lang="en-US" sz="1800">
                <a:solidFill>
                  <a:srgbClr val="0B7A6F"/>
                </a:solidFill>
                <a:latin typeface="Courier New"/>
                <a:ea typeface="Courier New"/>
                <a:cs typeface="Courier New"/>
                <a:sym typeface="Courier New"/>
              </a:rPr>
              <a:t>CE QUE LE RUN A MONTRÉ</a:t>
            </a:r>
            <a:endParaRPr/>
          </a:p>
        </p:txBody>
      </p:sp>
      <p:sp>
        <p:nvSpPr>
          <p:cNvPr id="362" name="Google Shape;362;p18"/>
          <p:cNvSpPr/>
          <p:nvPr/>
        </p:nvSpPr>
        <p:spPr>
          <a:xfrm>
            <a:off x="10515600" y="2788920"/>
            <a:ext cx="6720840" cy="1051560"/>
          </a:xfrm>
          <a:prstGeom prst="roundRect">
            <a:avLst>
              <a:gd fmla="val 4000" name="adj"/>
            </a:avLst>
          </a:prstGeom>
          <a:solidFill>
            <a:srgbClr val="F5F7FA"/>
          </a:solidFill>
          <a:ln>
            <a:noFill/>
          </a:ln>
        </p:spPr>
        <p:txBody>
          <a:bodyPr anchorCtr="0" anchor="ctr" bIns="91425" lIns="182875" spcFirstLastPara="1" rIns="182875" wrap="square" tIns="91425">
            <a:noAutofit/>
          </a:bodyPr>
          <a:lstStyle/>
          <a:p>
            <a:pPr indent="0" lvl="0" marL="0" marR="0" rtl="0" algn="l">
              <a:spcBef>
                <a:spcPts val="0"/>
              </a:spcBef>
              <a:spcAft>
                <a:spcPts val="0"/>
              </a:spcAft>
              <a:buClr>
                <a:srgbClr val="0B7A6F"/>
              </a:buClr>
              <a:buSzPts val="1800"/>
              <a:buFont typeface="Arial"/>
              <a:buNone/>
            </a:pPr>
            <a:r>
              <a:rPr b="1" lang="en-US" sz="1800">
                <a:solidFill>
                  <a:srgbClr val="0B7A6F"/>
                </a:solidFill>
                <a:latin typeface="Arial"/>
                <a:ea typeface="Arial"/>
                <a:cs typeface="Arial"/>
                <a:sym typeface="Arial"/>
              </a:rPr>
              <a:t>3 000 lignes simulées (dérive strong)</a:t>
            </a:r>
            <a:endParaRPr/>
          </a:p>
          <a:p>
            <a:pPr indent="0" lvl="0" marL="0" marR="0" rtl="0" algn="l">
              <a:spcBef>
                <a:spcPts val="200"/>
              </a:spcBef>
              <a:spcAft>
                <a:spcPts val="0"/>
              </a:spcAft>
              <a:buClr>
                <a:srgbClr val="16212B"/>
              </a:buClr>
              <a:buSzPts val="1600"/>
              <a:buFont typeface="Arial"/>
              <a:buNone/>
            </a:pPr>
            <a:r>
              <a:rPr lang="en-US" sz="1600">
                <a:solidFill>
                  <a:srgbClr val="16212B"/>
                </a:solidFill>
                <a:latin typeface="Arial"/>
                <a:ea typeface="Arial"/>
                <a:cs typeface="Arial"/>
                <a:sym typeface="Arial"/>
              </a:rPr>
              <a:t>dataset : 284 807 → 287 807 lignes</a:t>
            </a:r>
            <a:endParaRPr/>
          </a:p>
        </p:txBody>
      </p:sp>
      <p:sp>
        <p:nvSpPr>
          <p:cNvPr id="363" name="Google Shape;363;p18"/>
          <p:cNvSpPr/>
          <p:nvPr/>
        </p:nvSpPr>
        <p:spPr>
          <a:xfrm>
            <a:off x="10515600" y="3977640"/>
            <a:ext cx="6720840" cy="1051560"/>
          </a:xfrm>
          <a:prstGeom prst="roundRect">
            <a:avLst>
              <a:gd fmla="val 4000" name="adj"/>
            </a:avLst>
          </a:prstGeom>
          <a:solidFill>
            <a:srgbClr val="F5F7FA"/>
          </a:solidFill>
          <a:ln>
            <a:noFill/>
          </a:ln>
        </p:spPr>
        <p:txBody>
          <a:bodyPr anchorCtr="0" anchor="ctr" bIns="91425" lIns="182875" spcFirstLastPara="1" rIns="182875" wrap="square" tIns="91425">
            <a:noAutofit/>
          </a:bodyPr>
          <a:lstStyle/>
          <a:p>
            <a:pPr indent="0" lvl="0" marL="0" marR="0" rtl="0" algn="l">
              <a:spcBef>
                <a:spcPts val="0"/>
              </a:spcBef>
              <a:spcAft>
                <a:spcPts val="0"/>
              </a:spcAft>
              <a:buClr>
                <a:srgbClr val="0B7A6F"/>
              </a:buClr>
              <a:buSzPts val="1800"/>
              <a:buFont typeface="Arial"/>
              <a:buNone/>
            </a:pPr>
            <a:r>
              <a:rPr b="1" lang="en-US" sz="1800">
                <a:solidFill>
                  <a:srgbClr val="0B7A6F"/>
                </a:solidFill>
                <a:latin typeface="Arial"/>
                <a:ea typeface="Arial"/>
                <a:cs typeface="Arial"/>
                <a:sym typeface="Arial"/>
              </a:rPr>
              <a:t>Versioning DVC + commit bot</a:t>
            </a:r>
            <a:endParaRPr/>
          </a:p>
          <a:p>
            <a:pPr indent="0" lvl="0" marL="0" marR="0" rtl="0" algn="l">
              <a:spcBef>
                <a:spcPts val="200"/>
              </a:spcBef>
              <a:spcAft>
                <a:spcPts val="0"/>
              </a:spcAft>
              <a:buClr>
                <a:srgbClr val="16212B"/>
              </a:buClr>
              <a:buSzPts val="1600"/>
              <a:buFont typeface="Arial"/>
              <a:buNone/>
            </a:pPr>
            <a:r>
              <a:rPr lang="en-US" sz="1600">
                <a:solidFill>
                  <a:srgbClr val="16212B"/>
                </a:solidFill>
                <a:latin typeface="Arial"/>
                <a:ea typeface="Arial"/>
                <a:cs typeface="Arial"/>
                <a:sym typeface="Arial"/>
              </a:rPr>
              <a:t>nouvelle empreinte 9199c2c9…, commit fbd34a96</a:t>
            </a:r>
            <a:endParaRPr/>
          </a:p>
        </p:txBody>
      </p:sp>
      <p:sp>
        <p:nvSpPr>
          <p:cNvPr id="364" name="Google Shape;364;p18"/>
          <p:cNvSpPr/>
          <p:nvPr/>
        </p:nvSpPr>
        <p:spPr>
          <a:xfrm>
            <a:off x="10515600" y="5166360"/>
            <a:ext cx="6720840" cy="1051560"/>
          </a:xfrm>
          <a:prstGeom prst="roundRect">
            <a:avLst>
              <a:gd fmla="val 4000" name="adj"/>
            </a:avLst>
          </a:prstGeom>
          <a:solidFill>
            <a:srgbClr val="F5F7FA"/>
          </a:solidFill>
          <a:ln>
            <a:noFill/>
          </a:ln>
        </p:spPr>
        <p:txBody>
          <a:bodyPr anchorCtr="0" anchor="ctr" bIns="91425" lIns="182875" spcFirstLastPara="1" rIns="182875" wrap="square" tIns="91425">
            <a:noAutofit/>
          </a:bodyPr>
          <a:lstStyle/>
          <a:p>
            <a:pPr indent="0" lvl="0" marL="0" marR="0" rtl="0" algn="l">
              <a:spcBef>
                <a:spcPts val="0"/>
              </a:spcBef>
              <a:spcAft>
                <a:spcPts val="0"/>
              </a:spcAft>
              <a:buClr>
                <a:srgbClr val="0B7A6F"/>
              </a:buClr>
              <a:buSzPts val="1800"/>
              <a:buFont typeface="Arial"/>
              <a:buNone/>
            </a:pPr>
            <a:r>
              <a:rPr b="1" lang="en-US" sz="1800">
                <a:solidFill>
                  <a:srgbClr val="0B7A6F"/>
                </a:solidFill>
                <a:latin typeface="Arial"/>
                <a:ea typeface="Arial"/>
                <a:cs typeface="Arial"/>
                <a:sym typeface="Arial"/>
              </a:rPr>
              <a:t>Job Dagster complet</a:t>
            </a:r>
            <a:endParaRPr/>
          </a:p>
          <a:p>
            <a:pPr indent="0" lvl="0" marL="0" marR="0" rtl="0" algn="l">
              <a:spcBef>
                <a:spcPts val="200"/>
              </a:spcBef>
              <a:spcAft>
                <a:spcPts val="0"/>
              </a:spcAft>
              <a:buClr>
                <a:srgbClr val="16212B"/>
              </a:buClr>
              <a:buSzPts val="1600"/>
              <a:buFont typeface="Arial"/>
              <a:buNone/>
            </a:pPr>
            <a:r>
              <a:rPr lang="en-US" sz="1600">
                <a:solidFill>
                  <a:srgbClr val="16212B"/>
                </a:solidFill>
                <a:latin typeface="Arial"/>
                <a:ea typeface="Arial"/>
                <a:cs typeface="Arial"/>
                <a:sym typeface="Arial"/>
              </a:rPr>
              <a:t>statut completed en ~4 min 40 s</a:t>
            </a:r>
            <a:endParaRPr/>
          </a:p>
        </p:txBody>
      </p:sp>
      <p:sp>
        <p:nvSpPr>
          <p:cNvPr id="365" name="Google Shape;365;p18"/>
          <p:cNvSpPr/>
          <p:nvPr/>
        </p:nvSpPr>
        <p:spPr>
          <a:xfrm>
            <a:off x="10515600" y="6355080"/>
            <a:ext cx="6720840" cy="1051560"/>
          </a:xfrm>
          <a:prstGeom prst="roundRect">
            <a:avLst>
              <a:gd fmla="val 4000" name="adj"/>
            </a:avLst>
          </a:prstGeom>
          <a:solidFill>
            <a:srgbClr val="F5F7FA"/>
          </a:solidFill>
          <a:ln>
            <a:noFill/>
          </a:ln>
        </p:spPr>
        <p:txBody>
          <a:bodyPr anchorCtr="0" anchor="ctr" bIns="91425" lIns="182875" spcFirstLastPara="1" rIns="182875" wrap="square" tIns="91425">
            <a:noAutofit/>
          </a:bodyPr>
          <a:lstStyle/>
          <a:p>
            <a:pPr indent="0" lvl="0" marL="0" marR="0" rtl="0" algn="l">
              <a:spcBef>
                <a:spcPts val="0"/>
              </a:spcBef>
              <a:spcAft>
                <a:spcPts val="0"/>
              </a:spcAft>
              <a:buClr>
                <a:srgbClr val="0B7A6F"/>
              </a:buClr>
              <a:buSzPts val="1800"/>
              <a:buFont typeface="Arial"/>
              <a:buNone/>
            </a:pPr>
            <a:r>
              <a:rPr b="1" lang="en-US" sz="1800">
                <a:solidFill>
                  <a:srgbClr val="0B7A6F"/>
                </a:solidFill>
                <a:latin typeface="Arial"/>
                <a:ea typeface="Arial"/>
                <a:cs typeface="Arial"/>
                <a:sym typeface="Arial"/>
              </a:rPr>
              <a:t>Porte de promotion</a:t>
            </a:r>
            <a:endParaRPr/>
          </a:p>
          <a:p>
            <a:pPr indent="0" lvl="0" marL="0" marR="0" rtl="0" algn="l">
              <a:spcBef>
                <a:spcPts val="200"/>
              </a:spcBef>
              <a:spcAft>
                <a:spcPts val="0"/>
              </a:spcAft>
              <a:buClr>
                <a:srgbClr val="16212B"/>
              </a:buClr>
              <a:buSzPts val="1600"/>
              <a:buFont typeface="Arial"/>
              <a:buNone/>
            </a:pPr>
            <a:r>
              <a:rPr lang="en-US" sz="1600">
                <a:solidFill>
                  <a:srgbClr val="16212B"/>
                </a:solidFill>
                <a:latin typeface="Arial"/>
                <a:ea typeface="Arial"/>
                <a:cs typeface="Arial"/>
                <a:sym typeface="Arial"/>
              </a:rPr>
              <a:t>registre Komodo vide → v1 promue automatiquement (PR-AUC 0,7592)</a:t>
            </a:r>
            <a:endParaRPr/>
          </a:p>
        </p:txBody>
      </p:sp>
      <p:sp>
        <p:nvSpPr>
          <p:cNvPr id="366" name="Google Shape;366;p18"/>
          <p:cNvSpPr/>
          <p:nvPr/>
        </p:nvSpPr>
        <p:spPr>
          <a:xfrm>
            <a:off x="10515600" y="7589520"/>
            <a:ext cx="6720840" cy="1463040"/>
          </a:xfrm>
          <a:prstGeom prst="roundRect">
            <a:avLst>
              <a:gd fmla="val 4000" name="adj"/>
            </a:avLst>
          </a:prstGeom>
          <a:solidFill>
            <a:srgbClr val="FBEAEA"/>
          </a:solidFill>
          <a:ln>
            <a:noFill/>
          </a:ln>
        </p:spPr>
        <p:txBody>
          <a:bodyPr anchorCtr="0" anchor="ctr" bIns="114300" lIns="228600" spcFirstLastPara="1" rIns="228600" wrap="square" tIns="114300">
            <a:noAutofit/>
          </a:bodyPr>
          <a:lstStyle/>
          <a:p>
            <a:pPr indent="0" lvl="0" marL="0" marR="0" rtl="0" algn="l">
              <a:lnSpc>
                <a:spcPct val="115000"/>
              </a:lnSpc>
              <a:spcBef>
                <a:spcPts val="0"/>
              </a:spcBef>
              <a:spcAft>
                <a:spcPts val="0"/>
              </a:spcAft>
              <a:buClr>
                <a:srgbClr val="B03A2E"/>
              </a:buClr>
              <a:buSzPts val="1600"/>
              <a:buFont typeface="Arial"/>
              <a:buNone/>
            </a:pPr>
            <a:r>
              <a:rPr b="1" lang="en-US" sz="1600">
                <a:solidFill>
                  <a:srgbClr val="B03A2E"/>
                </a:solidFill>
                <a:latin typeface="Arial"/>
                <a:ea typeface="Arial"/>
                <a:cs typeface="Arial"/>
                <a:sym typeface="Arial"/>
              </a:rPr>
              <a:t>Limite constatée : </a:t>
            </a:r>
            <a:r>
              <a:rPr lang="en-US" sz="1600">
                <a:solidFill>
                  <a:srgbClr val="16212B"/>
                </a:solidFill>
                <a:latin typeface="Arial"/>
                <a:ea typeface="Arial"/>
                <a:cs typeface="Arial"/>
                <a:sym typeface="Arial"/>
              </a:rPr>
              <a:t>mlflow.db n’est pas versionné, donc le registre du conteneur démarre vide. À initialiser depuis l’instantané publié.</a:t>
            </a:r>
            <a:endParaRPr/>
          </a:p>
        </p:txBody>
      </p:sp>
      <p:pic>
        <p:nvPicPr>
          <p:cNvPr descr="deck_composite_komodo.png" id="367" name="Google Shape;367;p18"/>
          <p:cNvPicPr preferRelativeResize="0"/>
          <p:nvPr/>
        </p:nvPicPr>
        <p:blipFill rotWithShape="1">
          <a:blip r:embed="rId3">
            <a:alphaModFix/>
          </a:blip>
          <a:srcRect b="0" l="0" r="0" t="0"/>
          <a:stretch/>
        </p:blipFill>
        <p:spPr>
          <a:xfrm>
            <a:off x="1838498" y="2514600"/>
            <a:ext cx="7570124" cy="561000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2" name="Shape 372"/>
        <p:cNvGrpSpPr/>
        <p:nvPr/>
      </p:nvGrpSpPr>
      <p:grpSpPr>
        <a:xfrm>
          <a:off x="0" y="0"/>
          <a:ext cx="0" cy="0"/>
          <a:chOff x="0" y="0"/>
          <a:chExt cx="0" cy="0"/>
        </a:xfrm>
      </p:grpSpPr>
      <p:sp>
        <p:nvSpPr>
          <p:cNvPr id="373" name="Google Shape;373;p19"/>
          <p:cNvSpPr/>
          <p:nvPr/>
        </p:nvSpPr>
        <p:spPr>
          <a:xfrm>
            <a:off x="1047750" y="914400"/>
            <a:ext cx="17811750"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1950"/>
              <a:buFont typeface="Courier New"/>
              <a:buNone/>
            </a:pPr>
            <a:r>
              <a:rPr b="1" lang="en-US" sz="1950">
                <a:solidFill>
                  <a:srgbClr val="0B7A6F"/>
                </a:solidFill>
                <a:latin typeface="Courier New"/>
                <a:ea typeface="Courier New"/>
                <a:cs typeface="Courier New"/>
                <a:sym typeface="Courier New"/>
              </a:rPr>
              <a:t>DÉMONSTRATION</a:t>
            </a:r>
            <a:endParaRPr sz="1950">
              <a:solidFill>
                <a:schemeClr val="dk1"/>
              </a:solidFill>
              <a:latin typeface="Calibri"/>
              <a:ea typeface="Calibri"/>
              <a:cs typeface="Calibri"/>
              <a:sym typeface="Calibri"/>
            </a:endParaRPr>
          </a:p>
        </p:txBody>
      </p:sp>
      <p:sp>
        <p:nvSpPr>
          <p:cNvPr id="374" name="Google Shape;374;p19"/>
          <p:cNvSpPr/>
          <p:nvPr/>
        </p:nvSpPr>
        <p:spPr>
          <a:xfrm>
            <a:off x="1047750" y="1419225"/>
            <a:ext cx="17811750" cy="5524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3450"/>
              <a:buFont typeface="Arial"/>
              <a:buNone/>
            </a:pPr>
            <a:r>
              <a:rPr b="1" lang="en-US" sz="3450">
                <a:solidFill>
                  <a:srgbClr val="16212B"/>
                </a:solidFill>
                <a:latin typeface="Arial"/>
                <a:ea typeface="Arial"/>
                <a:cs typeface="Arial"/>
                <a:sym typeface="Arial"/>
              </a:rPr>
              <a:t>Orchestration Dagster</a:t>
            </a:r>
            <a:endParaRPr sz="3450">
              <a:solidFill>
                <a:schemeClr val="dk1"/>
              </a:solidFill>
              <a:latin typeface="Calibri"/>
              <a:ea typeface="Calibri"/>
              <a:cs typeface="Calibri"/>
              <a:sym typeface="Calibri"/>
            </a:endParaRPr>
          </a:p>
        </p:txBody>
      </p:sp>
      <p:sp>
        <p:nvSpPr>
          <p:cNvPr id="375" name="Google Shape;375;p19"/>
          <p:cNvSpPr/>
          <p:nvPr/>
        </p:nvSpPr>
        <p:spPr>
          <a:xfrm>
            <a:off x="1047750" y="2616547"/>
            <a:ext cx="16192500" cy="5943600"/>
          </a:xfrm>
          <a:prstGeom prst="roundRect">
            <a:avLst>
              <a:gd fmla="val 3205"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76" name="Google Shape;376;p19"/>
          <p:cNvPicPr preferRelativeResize="0"/>
          <p:nvPr/>
        </p:nvPicPr>
        <p:blipFill rotWithShape="1">
          <a:blip r:embed="rId3">
            <a:alphaModFix/>
          </a:blip>
          <a:srcRect b="0" l="-1" r="-1" t="0"/>
          <a:stretch/>
        </p:blipFill>
        <p:spPr>
          <a:xfrm>
            <a:off x="5285482" y="2921347"/>
            <a:ext cx="7717036" cy="5333851"/>
          </a:xfrm>
          <a:prstGeom prst="rect">
            <a:avLst/>
          </a:prstGeom>
          <a:noFill/>
          <a:ln>
            <a:noFill/>
          </a:ln>
        </p:spPr>
      </p:pic>
      <p:sp>
        <p:nvSpPr>
          <p:cNvPr id="377" name="Google Shape;377;p19"/>
          <p:cNvSpPr/>
          <p:nvPr/>
        </p:nvSpPr>
        <p:spPr>
          <a:xfrm>
            <a:off x="238125" y="8750647"/>
            <a:ext cx="17811750" cy="358080"/>
          </a:xfrm>
          <a:prstGeom prst="rect">
            <a:avLst/>
          </a:prstGeom>
          <a:noFill/>
          <a:ln>
            <a:noFill/>
          </a:ln>
        </p:spPr>
        <p:txBody>
          <a:bodyPr anchorCtr="0" anchor="t" bIns="25400" lIns="25400" spcFirstLastPara="1" rIns="25400" wrap="square" tIns="25400">
            <a:noAutofit/>
          </a:bodyPr>
          <a:lstStyle/>
          <a:p>
            <a:pPr indent="0" lvl="0" marL="0" marR="0" rtl="0" algn="ctr">
              <a:lnSpc>
                <a:spcPct val="120000"/>
              </a:lnSpc>
              <a:spcBef>
                <a:spcPts val="0"/>
              </a:spcBef>
              <a:spcAft>
                <a:spcPts val="0"/>
              </a:spcAft>
              <a:buClr>
                <a:srgbClr val="5B6B80"/>
              </a:buClr>
              <a:buSzPts val="1800"/>
              <a:buFont typeface="Arial"/>
              <a:buNone/>
            </a:pPr>
            <a:r>
              <a:rPr lang="en-US" sz="1800">
                <a:solidFill>
                  <a:srgbClr val="5B6B80"/>
                </a:solidFill>
                <a:latin typeface="Arial"/>
                <a:ea typeface="Arial"/>
                <a:cs typeface="Arial"/>
                <a:sym typeface="Arial"/>
              </a:rPr>
              <a:t>Figure 10 — graphe complet du job </a:t>
            </a:r>
            <a:r>
              <a:rPr lang="en-US" sz="1800">
                <a:solidFill>
                  <a:srgbClr val="0B7A6F"/>
                </a:solidFill>
                <a:latin typeface="Courier New"/>
                <a:ea typeface="Courier New"/>
                <a:cs typeface="Courier New"/>
                <a:sym typeface="Courier New"/>
              </a:rPr>
              <a:t>fraud_pipeline_job </a:t>
            </a:r>
            <a:r>
              <a:rPr lang="en-US" sz="1800">
                <a:solidFill>
                  <a:srgbClr val="5B6B80"/>
                </a:solidFill>
                <a:latin typeface="Arial"/>
                <a:ea typeface="Arial"/>
                <a:cs typeface="Arial"/>
                <a:sym typeface="Arial"/>
              </a:rPr>
              <a:t>: ingestion → validation → dbt run → dbt test, tous les nœuds en succès</a:t>
            </a:r>
            <a:endParaRPr sz="1800">
              <a:solidFill>
                <a:schemeClr val="dk1"/>
              </a:solidFill>
              <a:latin typeface="Calibri"/>
              <a:ea typeface="Calibri"/>
              <a:cs typeface="Calibri"/>
              <a:sym typeface="Calibri"/>
            </a:endParaRPr>
          </a:p>
        </p:txBody>
      </p:sp>
      <p:sp>
        <p:nvSpPr>
          <p:cNvPr id="378" name="Google Shape;378;p19"/>
          <p:cNvSpPr/>
          <p:nvPr/>
        </p:nvSpPr>
        <p:spPr>
          <a:xfrm>
            <a:off x="16367760" y="9648825"/>
            <a:ext cx="914400"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5B6B80"/>
              </a:buClr>
              <a:buSzPts val="1800"/>
              <a:buFont typeface="Courier New"/>
              <a:buNone/>
            </a:pPr>
            <a:r>
              <a:rPr lang="en-US" sz="1800">
                <a:solidFill>
                  <a:srgbClr val="5B6B80"/>
                </a:solidFill>
                <a:latin typeface="Courier New"/>
                <a:ea typeface="Courier New"/>
                <a:cs typeface="Courier New"/>
                <a:sym typeface="Courier New"/>
              </a:rPr>
              <a:t>17/41</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3" name="Shape 383"/>
        <p:cNvGrpSpPr/>
        <p:nvPr/>
      </p:nvGrpSpPr>
      <p:grpSpPr>
        <a:xfrm>
          <a:off x="0" y="0"/>
          <a:ext cx="0" cy="0"/>
          <a:chOff x="0" y="0"/>
          <a:chExt cx="0" cy="0"/>
        </a:xfrm>
      </p:grpSpPr>
      <p:sp>
        <p:nvSpPr>
          <p:cNvPr id="384" name="Google Shape;384;p20"/>
          <p:cNvSpPr/>
          <p:nvPr/>
        </p:nvSpPr>
        <p:spPr>
          <a:xfrm>
            <a:off x="1047750" y="914400"/>
            <a:ext cx="17811750"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1950">
                <a:solidFill>
                  <a:srgbClr val="0B7A6F"/>
                </a:solidFill>
                <a:latin typeface="Courier New"/>
                <a:ea typeface="Courier New"/>
                <a:cs typeface="Courier New"/>
                <a:sym typeface="Courier New"/>
              </a:rPr>
              <a:t>CHAPITRE 3 — MA CONTRIBUTION</a:t>
            </a:r>
            <a:endParaRPr sz="1950">
              <a:solidFill>
                <a:schemeClr val="dk1"/>
              </a:solidFill>
              <a:latin typeface="Calibri"/>
              <a:ea typeface="Calibri"/>
              <a:cs typeface="Calibri"/>
              <a:sym typeface="Calibri"/>
            </a:endParaRPr>
          </a:p>
        </p:txBody>
      </p:sp>
      <p:sp>
        <p:nvSpPr>
          <p:cNvPr id="385" name="Google Shape;385;p20"/>
          <p:cNvSpPr/>
          <p:nvPr/>
        </p:nvSpPr>
        <p:spPr>
          <a:xfrm>
            <a:off x="1047750" y="1419225"/>
            <a:ext cx="17811750" cy="5524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3450">
                <a:solidFill>
                  <a:srgbClr val="16212B"/>
                </a:solidFill>
                <a:latin typeface="Arial"/>
                <a:ea typeface="Arial"/>
                <a:cs typeface="Arial"/>
                <a:sym typeface="Arial"/>
              </a:rPr>
              <a:t>Sifeddine Legnioui — Orchestration &amp; conteneurisation</a:t>
            </a:r>
            <a:endParaRPr sz="3450">
              <a:solidFill>
                <a:schemeClr val="dk1"/>
              </a:solidFill>
              <a:latin typeface="Calibri"/>
              <a:ea typeface="Calibri"/>
              <a:cs typeface="Calibri"/>
              <a:sym typeface="Calibri"/>
            </a:endParaRPr>
          </a:p>
        </p:txBody>
      </p:sp>
      <p:sp>
        <p:nvSpPr>
          <p:cNvPr id="386" name="Google Shape;386;p20"/>
          <p:cNvSpPr/>
          <p:nvPr/>
        </p:nvSpPr>
        <p:spPr>
          <a:xfrm>
            <a:off x="1047750" y="3300000"/>
            <a:ext cx="9880283" cy="38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2000">
                <a:solidFill>
                  <a:srgbClr val="0B7A6F"/>
                </a:solidFill>
                <a:latin typeface="Arial"/>
                <a:ea typeface="Arial"/>
                <a:cs typeface="Arial"/>
                <a:sym typeface="Arial"/>
              </a:rPr>
              <a:t>MA CONTRIBUTION PERSONNELLE</a:t>
            </a:r>
            <a:endParaRPr sz="2000">
              <a:solidFill>
                <a:schemeClr val="dk1"/>
              </a:solidFill>
              <a:latin typeface="Calibri"/>
              <a:ea typeface="Calibri"/>
              <a:cs typeface="Calibri"/>
              <a:sym typeface="Calibri"/>
            </a:endParaRPr>
          </a:p>
        </p:txBody>
      </p:sp>
      <p:sp>
        <p:nvSpPr>
          <p:cNvPr id="387" name="Google Shape;387;p20"/>
          <p:cNvSpPr/>
          <p:nvPr/>
        </p:nvSpPr>
        <p:spPr>
          <a:xfrm>
            <a:off x="1047750" y="3700000"/>
            <a:ext cx="9251537" cy="190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0" lang="en-US" sz="2000">
                <a:solidFill>
                  <a:srgbClr val="16212B"/>
                </a:solidFill>
                <a:latin typeface="Arial"/>
                <a:ea typeface="Arial"/>
                <a:cs typeface="Arial"/>
                <a:sym typeface="Arial"/>
              </a:rPr>
              <a:t>Job Dagster (orchestration_dagster/fraud_dagster/job.py) : fraud_pipeline_job et continuous_training_job (train_model, check_drift, register_and_promote), Dockerfile, docker-compose.yml (8 services, désormais avec dagster et mlflow-db) et déploiement continu sur Komodo.</a:t>
            </a:r>
            <a:endParaRPr/>
          </a:p>
        </p:txBody>
      </p:sp>
      <p:sp>
        <p:nvSpPr>
          <p:cNvPr id="388" name="Google Shape;388;p20"/>
          <p:cNvSpPr/>
          <p:nvPr/>
        </p:nvSpPr>
        <p:spPr>
          <a:xfrm>
            <a:off x="1047750" y="5900000"/>
            <a:ext cx="9880283" cy="38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2000">
                <a:solidFill>
                  <a:srgbClr val="0B7A6F"/>
                </a:solidFill>
                <a:latin typeface="Arial"/>
                <a:ea typeface="Arial"/>
                <a:cs typeface="Arial"/>
                <a:sym typeface="Arial"/>
              </a:rPr>
              <a:t>RÔLE DANS LE PIPELINE GLOBAL</a:t>
            </a:r>
            <a:endParaRPr sz="2000">
              <a:solidFill>
                <a:schemeClr val="dk1"/>
              </a:solidFill>
              <a:latin typeface="Calibri"/>
              <a:ea typeface="Calibri"/>
              <a:cs typeface="Calibri"/>
              <a:sym typeface="Calibri"/>
            </a:endParaRPr>
          </a:p>
        </p:txBody>
      </p:sp>
      <p:sp>
        <p:nvSpPr>
          <p:cNvPr id="389" name="Google Shape;389;p20"/>
          <p:cNvSpPr/>
          <p:nvPr/>
        </p:nvSpPr>
        <p:spPr>
          <a:xfrm>
            <a:off x="1047750" y="6300000"/>
            <a:ext cx="9251537" cy="110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0" lang="en-US" sz="2000">
                <a:solidFill>
                  <a:srgbClr val="16212B"/>
                </a:solidFill>
                <a:latin typeface="Arial"/>
                <a:ea typeface="Arial"/>
                <a:cs typeface="Arial"/>
                <a:sym typeface="Arial"/>
              </a:rPr>
              <a:t>Enchaîne ingestion → validation → dbt run → dbt test, puis entraînement → dérive → promotion pour l’entraînement continu ; empaquette les 8 services pour qu’ils tournent à l’identique en local et sur Komodo.</a:t>
            </a:r>
            <a:endParaRPr/>
          </a:p>
        </p:txBody>
      </p:sp>
      <p:sp>
        <p:nvSpPr>
          <p:cNvPr id="390" name="Google Shape;390;p20"/>
          <p:cNvSpPr/>
          <p:nvPr/>
        </p:nvSpPr>
        <p:spPr>
          <a:xfrm>
            <a:off x="10601325" y="3300000"/>
            <a:ext cx="7302818" cy="38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2000">
                <a:solidFill>
                  <a:srgbClr val="0B7A6F"/>
                </a:solidFill>
                <a:latin typeface="Arial"/>
                <a:ea typeface="Arial"/>
                <a:cs typeface="Arial"/>
                <a:sym typeface="Arial"/>
              </a:rPr>
              <a:t>DÉCISION TECHNIQUE CLÉ</a:t>
            </a:r>
            <a:endParaRPr sz="2000">
              <a:solidFill>
                <a:schemeClr val="dk1"/>
              </a:solidFill>
              <a:latin typeface="Calibri"/>
              <a:ea typeface="Calibri"/>
              <a:cs typeface="Calibri"/>
              <a:sym typeface="Calibri"/>
            </a:endParaRPr>
          </a:p>
        </p:txBody>
      </p:sp>
      <p:sp>
        <p:nvSpPr>
          <p:cNvPr id="391" name="Google Shape;391;p20"/>
          <p:cNvSpPr/>
          <p:nvPr/>
        </p:nvSpPr>
        <p:spPr>
          <a:xfrm>
            <a:off x="10601325" y="3700000"/>
            <a:ext cx="7302818" cy="190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0" lang="en-US" sz="2000">
                <a:solidFill>
                  <a:srgbClr val="16212B"/>
                </a:solidFill>
                <a:latin typeface="Arial"/>
                <a:ea typeface="Arial"/>
                <a:cs typeface="Arial"/>
                <a:sym typeface="Arial"/>
              </a:rPr>
              <a:t>Vérification explicite du code retour à chaque étape (fail-fast) et dépendances typées Nothing ; réseau fraud_net et restart: unless-stopped ; ports fixes 4601–4608 après un conflit « port is already allocated » sur le 8000 du serveur partagé.</a:t>
            </a:r>
            <a:endParaRPr/>
          </a:p>
        </p:txBody>
      </p:sp>
      <p:sp>
        <p:nvSpPr>
          <p:cNvPr id="392" name="Google Shape;392;p20"/>
          <p:cNvSpPr/>
          <p:nvPr/>
        </p:nvSpPr>
        <p:spPr>
          <a:xfrm>
            <a:off x="10601325" y="5900000"/>
            <a:ext cx="7302818" cy="38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2000">
                <a:solidFill>
                  <a:srgbClr val="0B7A6F"/>
                </a:solidFill>
                <a:latin typeface="Arial"/>
                <a:ea typeface="Arial"/>
                <a:cs typeface="Arial"/>
                <a:sym typeface="Arial"/>
              </a:rPr>
              <a:t>RÔLE AGILE</a:t>
            </a:r>
            <a:endParaRPr sz="2000">
              <a:solidFill>
                <a:schemeClr val="dk1"/>
              </a:solidFill>
              <a:latin typeface="Calibri"/>
              <a:ea typeface="Calibri"/>
              <a:cs typeface="Calibri"/>
              <a:sym typeface="Calibri"/>
            </a:endParaRPr>
          </a:p>
        </p:txBody>
      </p:sp>
      <p:sp>
        <p:nvSpPr>
          <p:cNvPr id="393" name="Google Shape;393;p20"/>
          <p:cNvSpPr/>
          <p:nvPr/>
        </p:nvSpPr>
        <p:spPr>
          <a:xfrm>
            <a:off x="10601325" y="6300000"/>
            <a:ext cx="7302818" cy="110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0" lang="en-US" sz="2000">
                <a:solidFill>
                  <a:srgbClr val="16212B"/>
                </a:solidFill>
                <a:latin typeface="Arial"/>
                <a:ea typeface="Arial"/>
                <a:cs typeface="Arial"/>
                <a:sym typeface="Arial"/>
              </a:rPr>
              <a:t>Data Engineer — Orchestration &amp; Conteneurisation, propriétaire du déploiement continu sur Komodo, désormais gardé par la CI plutôt que par un simple webhook.</a:t>
            </a:r>
            <a:endParaRPr/>
          </a:p>
        </p:txBody>
      </p:sp>
      <p:sp>
        <p:nvSpPr>
          <p:cNvPr id="394" name="Google Shape;394;p20"/>
          <p:cNvSpPr/>
          <p:nvPr/>
        </p:nvSpPr>
        <p:spPr>
          <a:xfrm>
            <a:off x="16367760" y="9648825"/>
            <a:ext cx="914400"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0" lang="en-US" sz="1800">
                <a:solidFill>
                  <a:srgbClr val="5B6B80"/>
                </a:solidFill>
                <a:latin typeface="Courier New"/>
                <a:ea typeface="Courier New"/>
                <a:cs typeface="Courier New"/>
                <a:sym typeface="Courier New"/>
              </a:rPr>
              <a:t>18/41</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9" name="Shape 399"/>
        <p:cNvGrpSpPr/>
        <p:nvPr/>
      </p:nvGrpSpPr>
      <p:grpSpPr>
        <a:xfrm>
          <a:off x="0" y="0"/>
          <a:ext cx="0" cy="0"/>
          <a:chOff x="0" y="0"/>
          <a:chExt cx="0" cy="0"/>
        </a:xfrm>
      </p:grpSpPr>
      <p:sp>
        <p:nvSpPr>
          <p:cNvPr id="400" name="Google Shape;400;p21"/>
          <p:cNvSpPr/>
          <p:nvPr/>
        </p:nvSpPr>
        <p:spPr>
          <a:xfrm>
            <a:off x="1047750" y="914400"/>
            <a:ext cx="17811750"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1950"/>
              <a:buFont typeface="Courier New"/>
              <a:buNone/>
            </a:pPr>
            <a:r>
              <a:rPr b="1" lang="en-US" sz="1950">
                <a:solidFill>
                  <a:srgbClr val="0B7A6F"/>
                </a:solidFill>
                <a:latin typeface="Courier New"/>
                <a:ea typeface="Courier New"/>
                <a:cs typeface="Courier New"/>
                <a:sym typeface="Courier New"/>
              </a:rPr>
              <a:t>DÉMONSTRATION</a:t>
            </a:r>
            <a:endParaRPr sz="1950">
              <a:solidFill>
                <a:schemeClr val="dk1"/>
              </a:solidFill>
              <a:latin typeface="Calibri"/>
              <a:ea typeface="Calibri"/>
              <a:cs typeface="Calibri"/>
              <a:sym typeface="Calibri"/>
            </a:endParaRPr>
          </a:p>
        </p:txBody>
      </p:sp>
      <p:sp>
        <p:nvSpPr>
          <p:cNvPr id="401" name="Google Shape;401;p21"/>
          <p:cNvSpPr/>
          <p:nvPr/>
        </p:nvSpPr>
        <p:spPr>
          <a:xfrm>
            <a:off x="1047750" y="1419225"/>
            <a:ext cx="17811750" cy="5524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3450"/>
              <a:buFont typeface="Arial"/>
              <a:buNone/>
            </a:pPr>
            <a:r>
              <a:rPr b="1" lang="en-US" sz="3450">
                <a:solidFill>
                  <a:srgbClr val="16212B"/>
                </a:solidFill>
                <a:latin typeface="Arial"/>
                <a:ea typeface="Arial"/>
                <a:cs typeface="Arial"/>
                <a:sym typeface="Arial"/>
              </a:rPr>
              <a:t>Conteneurisation et CI/CD</a:t>
            </a:r>
            <a:endParaRPr sz="3450">
              <a:solidFill>
                <a:schemeClr val="dk1"/>
              </a:solidFill>
              <a:latin typeface="Calibri"/>
              <a:ea typeface="Calibri"/>
              <a:cs typeface="Calibri"/>
              <a:sym typeface="Calibri"/>
            </a:endParaRPr>
          </a:p>
        </p:txBody>
      </p:sp>
      <p:sp>
        <p:nvSpPr>
          <p:cNvPr id="402" name="Google Shape;402;p21"/>
          <p:cNvSpPr/>
          <p:nvPr/>
        </p:nvSpPr>
        <p:spPr>
          <a:xfrm>
            <a:off x="1047750" y="3902422"/>
            <a:ext cx="5194250" cy="3581400"/>
          </a:xfrm>
          <a:prstGeom prst="roundRect">
            <a:avLst>
              <a:gd fmla="val 4255"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403" name="Google Shape;403;p21"/>
          <p:cNvPicPr preferRelativeResize="0"/>
          <p:nvPr/>
        </p:nvPicPr>
        <p:blipFill rotWithShape="1">
          <a:blip r:embed="rId3">
            <a:alphaModFix/>
          </a:blip>
          <a:srcRect b="0" l="-1" r="-1" t="0"/>
          <a:stretch/>
        </p:blipFill>
        <p:spPr>
          <a:xfrm>
            <a:off x="1219200" y="4811613"/>
            <a:ext cx="4851350" cy="1762869"/>
          </a:xfrm>
          <a:prstGeom prst="rect">
            <a:avLst/>
          </a:prstGeom>
          <a:noFill/>
          <a:ln>
            <a:noFill/>
          </a:ln>
        </p:spPr>
      </p:pic>
      <p:sp>
        <p:nvSpPr>
          <p:cNvPr id="404" name="Google Shape;404;p21"/>
          <p:cNvSpPr/>
          <p:nvPr/>
        </p:nvSpPr>
        <p:spPr>
          <a:xfrm>
            <a:off x="788037" y="7617172"/>
            <a:ext cx="5713675" cy="358080"/>
          </a:xfrm>
          <a:prstGeom prst="rect">
            <a:avLst/>
          </a:prstGeom>
          <a:noFill/>
          <a:ln>
            <a:noFill/>
          </a:ln>
        </p:spPr>
        <p:txBody>
          <a:bodyPr anchorCtr="0" anchor="t" bIns="25400" lIns="25400" spcFirstLastPara="1" rIns="25400" wrap="square" tIns="25400">
            <a:noAutofit/>
          </a:bodyPr>
          <a:lstStyle/>
          <a:p>
            <a:pPr indent="0" lvl="0" marL="0" marR="0" rtl="0" algn="ctr">
              <a:lnSpc>
                <a:spcPct val="120000"/>
              </a:lnSpc>
              <a:spcBef>
                <a:spcPts val="0"/>
              </a:spcBef>
              <a:spcAft>
                <a:spcPts val="0"/>
              </a:spcAft>
              <a:buClr>
                <a:srgbClr val="5B6B80"/>
              </a:buClr>
              <a:buSzPts val="1800"/>
              <a:buFont typeface="Arial"/>
              <a:buNone/>
            </a:pPr>
            <a:r>
              <a:rPr lang="en-US" sz="1800">
                <a:solidFill>
                  <a:srgbClr val="5B6B80"/>
                </a:solidFill>
                <a:latin typeface="Arial"/>
                <a:ea typeface="Arial"/>
                <a:cs typeface="Arial"/>
                <a:sym typeface="Arial"/>
              </a:rPr>
              <a:t>Figure 24 — fin du build Docker</a:t>
            </a:r>
            <a:endParaRPr sz="1800">
              <a:solidFill>
                <a:schemeClr val="dk1"/>
              </a:solidFill>
              <a:latin typeface="Calibri"/>
              <a:ea typeface="Calibri"/>
              <a:cs typeface="Calibri"/>
              <a:sym typeface="Calibri"/>
            </a:endParaRPr>
          </a:p>
        </p:txBody>
      </p:sp>
      <p:sp>
        <p:nvSpPr>
          <p:cNvPr id="405" name="Google Shape;405;p21"/>
          <p:cNvSpPr/>
          <p:nvPr/>
        </p:nvSpPr>
        <p:spPr>
          <a:xfrm>
            <a:off x="6546800" y="3902422"/>
            <a:ext cx="5194250" cy="3581400"/>
          </a:xfrm>
          <a:prstGeom prst="roundRect">
            <a:avLst>
              <a:gd fmla="val 4255"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406" name="Google Shape;406;p21"/>
          <p:cNvPicPr preferRelativeResize="0"/>
          <p:nvPr/>
        </p:nvPicPr>
        <p:blipFill rotWithShape="1">
          <a:blip r:embed="rId4">
            <a:alphaModFix/>
          </a:blip>
          <a:srcRect b="0" l="-2" r="-2" t="0"/>
          <a:stretch/>
        </p:blipFill>
        <p:spPr>
          <a:xfrm>
            <a:off x="6718250" y="5125492"/>
            <a:ext cx="4851350" cy="1135112"/>
          </a:xfrm>
          <a:prstGeom prst="rect">
            <a:avLst/>
          </a:prstGeom>
          <a:noFill/>
          <a:ln>
            <a:noFill/>
          </a:ln>
        </p:spPr>
      </p:pic>
      <p:sp>
        <p:nvSpPr>
          <p:cNvPr id="407" name="Google Shape;407;p21"/>
          <p:cNvSpPr/>
          <p:nvPr/>
        </p:nvSpPr>
        <p:spPr>
          <a:xfrm>
            <a:off x="6287088" y="7617172"/>
            <a:ext cx="5713675" cy="358080"/>
          </a:xfrm>
          <a:prstGeom prst="rect">
            <a:avLst/>
          </a:prstGeom>
          <a:noFill/>
          <a:ln>
            <a:noFill/>
          </a:ln>
        </p:spPr>
        <p:txBody>
          <a:bodyPr anchorCtr="0" anchor="t" bIns="25400" lIns="25400" spcFirstLastPara="1" rIns="25400" wrap="square" tIns="25400">
            <a:noAutofit/>
          </a:bodyPr>
          <a:lstStyle/>
          <a:p>
            <a:pPr indent="0" lvl="0" marL="0" marR="0" rtl="0" algn="ctr">
              <a:lnSpc>
                <a:spcPct val="120000"/>
              </a:lnSpc>
              <a:spcBef>
                <a:spcPts val="0"/>
              </a:spcBef>
              <a:spcAft>
                <a:spcPts val="0"/>
              </a:spcAft>
              <a:buClr>
                <a:srgbClr val="5B6B80"/>
              </a:buClr>
              <a:buSzPts val="1800"/>
              <a:buFont typeface="Arial"/>
              <a:buNone/>
            </a:pPr>
            <a:r>
              <a:rPr lang="en-US" sz="1800">
                <a:solidFill>
                  <a:srgbClr val="5B6B80"/>
                </a:solidFill>
                <a:latin typeface="Arial"/>
                <a:ea typeface="Arial"/>
                <a:cs typeface="Arial"/>
                <a:sym typeface="Arial"/>
              </a:rPr>
              <a:t>Figure 25 — portabilité confirmée hors dev</a:t>
            </a:r>
            <a:endParaRPr sz="1800">
              <a:solidFill>
                <a:schemeClr val="dk1"/>
              </a:solidFill>
              <a:latin typeface="Calibri"/>
              <a:ea typeface="Calibri"/>
              <a:cs typeface="Calibri"/>
              <a:sym typeface="Calibri"/>
            </a:endParaRPr>
          </a:p>
        </p:txBody>
      </p:sp>
      <p:sp>
        <p:nvSpPr>
          <p:cNvPr id="408" name="Google Shape;408;p21"/>
          <p:cNvSpPr/>
          <p:nvPr/>
        </p:nvSpPr>
        <p:spPr>
          <a:xfrm>
            <a:off x="12045851" y="3742432"/>
            <a:ext cx="5194250" cy="3581400"/>
          </a:xfrm>
          <a:prstGeom prst="roundRect">
            <a:avLst>
              <a:gd fmla="val 4255"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409" name="Google Shape;409;p21"/>
          <p:cNvPicPr preferRelativeResize="0"/>
          <p:nvPr/>
        </p:nvPicPr>
        <p:blipFill rotWithShape="1">
          <a:blip r:embed="rId5">
            <a:alphaModFix/>
          </a:blip>
          <a:srcRect b="0" l="-1" r="-1" t="0"/>
          <a:stretch/>
        </p:blipFill>
        <p:spPr>
          <a:xfrm>
            <a:off x="12819013" y="3913882"/>
            <a:ext cx="3647926" cy="3238351"/>
          </a:xfrm>
          <a:prstGeom prst="rect">
            <a:avLst/>
          </a:prstGeom>
          <a:noFill/>
          <a:ln>
            <a:noFill/>
          </a:ln>
        </p:spPr>
      </p:pic>
      <p:sp>
        <p:nvSpPr>
          <p:cNvPr id="410" name="Google Shape;410;p21"/>
          <p:cNvSpPr/>
          <p:nvPr/>
        </p:nvSpPr>
        <p:spPr>
          <a:xfrm>
            <a:off x="11967937" y="7457182"/>
            <a:ext cx="5350078" cy="678061"/>
          </a:xfrm>
          <a:prstGeom prst="rect">
            <a:avLst/>
          </a:prstGeom>
          <a:noFill/>
          <a:ln>
            <a:noFill/>
          </a:ln>
        </p:spPr>
        <p:txBody>
          <a:bodyPr anchorCtr="0" anchor="t" bIns="25400" lIns="25400" spcFirstLastPara="1" rIns="25400" wrap="square" tIns="25400">
            <a:noAutofit/>
          </a:bodyPr>
          <a:lstStyle/>
          <a:p>
            <a:pPr indent="0" lvl="0" marL="0" marR="0" rtl="0" algn="ctr">
              <a:lnSpc>
                <a:spcPct val="120000"/>
              </a:lnSpc>
              <a:spcBef>
                <a:spcPts val="0"/>
              </a:spcBef>
              <a:spcAft>
                <a:spcPts val="0"/>
              </a:spcAft>
              <a:buClr>
                <a:srgbClr val="5B6B80"/>
              </a:buClr>
              <a:buSzPts val="1800"/>
              <a:buFont typeface="Arial"/>
              <a:buNone/>
            </a:pPr>
            <a:r>
              <a:rPr lang="en-US" sz="1800">
                <a:solidFill>
                  <a:srgbClr val="5B6B80"/>
                </a:solidFill>
                <a:latin typeface="Arial"/>
                <a:ea typeface="Arial"/>
                <a:cs typeface="Arial"/>
                <a:sym typeface="Arial"/>
              </a:rPr>
              <a:t>Figure 26 — pipeline complet validé dans un clone isolé</a:t>
            </a:r>
            <a:endParaRPr sz="1800">
              <a:solidFill>
                <a:schemeClr val="dk1"/>
              </a:solidFill>
              <a:latin typeface="Calibri"/>
              <a:ea typeface="Calibri"/>
              <a:cs typeface="Calibri"/>
              <a:sym typeface="Calibri"/>
            </a:endParaRPr>
          </a:p>
        </p:txBody>
      </p:sp>
      <p:sp>
        <p:nvSpPr>
          <p:cNvPr id="411" name="Google Shape;411;p21"/>
          <p:cNvSpPr/>
          <p:nvPr/>
        </p:nvSpPr>
        <p:spPr>
          <a:xfrm>
            <a:off x="16367760" y="9648825"/>
            <a:ext cx="914400"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5B6B80"/>
              </a:buClr>
              <a:buSzPts val="1800"/>
              <a:buFont typeface="Courier New"/>
              <a:buNone/>
            </a:pPr>
            <a:r>
              <a:rPr lang="en-US" sz="1800">
                <a:solidFill>
                  <a:srgbClr val="5B6B80"/>
                </a:solidFill>
                <a:latin typeface="Courier New"/>
                <a:ea typeface="Courier New"/>
                <a:cs typeface="Courier New"/>
                <a:sym typeface="Courier New"/>
              </a:rPr>
              <a:t>19/41</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6" name="Shape 416"/>
        <p:cNvGrpSpPr/>
        <p:nvPr/>
      </p:nvGrpSpPr>
      <p:grpSpPr>
        <a:xfrm>
          <a:off x="0" y="0"/>
          <a:ext cx="0" cy="0"/>
          <a:chOff x="0" y="0"/>
          <a:chExt cx="0" cy="0"/>
        </a:xfrm>
      </p:grpSpPr>
      <p:sp>
        <p:nvSpPr>
          <p:cNvPr id="417" name="Google Shape;417;p22"/>
          <p:cNvSpPr txBox="1"/>
          <p:nvPr/>
        </p:nvSpPr>
        <p:spPr>
          <a:xfrm>
            <a:off x="1047720" y="914400"/>
            <a:ext cx="17811598" cy="371246"/>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950"/>
              <a:buFont typeface="Courier New"/>
              <a:buNone/>
            </a:pPr>
            <a:r>
              <a:rPr b="1" lang="en-US" sz="1950">
                <a:solidFill>
                  <a:srgbClr val="0B7A6F"/>
                </a:solidFill>
                <a:latin typeface="Courier New"/>
                <a:ea typeface="Courier New"/>
                <a:cs typeface="Courier New"/>
                <a:sym typeface="Courier New"/>
              </a:rPr>
              <a:t>DÉMONSTRATION</a:t>
            </a:r>
            <a:endParaRPr/>
          </a:p>
        </p:txBody>
      </p:sp>
      <p:sp>
        <p:nvSpPr>
          <p:cNvPr id="418" name="Google Shape;418;p22"/>
          <p:cNvSpPr txBox="1"/>
          <p:nvPr/>
        </p:nvSpPr>
        <p:spPr>
          <a:xfrm>
            <a:off x="1047720" y="1419149"/>
            <a:ext cx="17811598" cy="55229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3450"/>
              <a:buFont typeface="Arial"/>
              <a:buNone/>
            </a:pPr>
            <a:r>
              <a:rPr b="1" lang="en-US" sz="3450">
                <a:solidFill>
                  <a:srgbClr val="16212B"/>
                </a:solidFill>
                <a:latin typeface="Arial"/>
                <a:ea typeface="Arial"/>
                <a:cs typeface="Arial"/>
                <a:sym typeface="Arial"/>
              </a:rPr>
              <a:t>Déploiement continu sur Komodo</a:t>
            </a:r>
            <a:endParaRPr/>
          </a:p>
        </p:txBody>
      </p:sp>
      <p:sp>
        <p:nvSpPr>
          <p:cNvPr id="419" name="Google Shape;419;p22"/>
          <p:cNvSpPr txBox="1"/>
          <p:nvPr/>
        </p:nvSpPr>
        <p:spPr>
          <a:xfrm>
            <a:off x="16367760" y="9646920"/>
            <a:ext cx="914400" cy="333756"/>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B6B80"/>
              </a:buClr>
              <a:buSzPts val="1800"/>
              <a:buFont typeface="Courier New"/>
              <a:buNone/>
            </a:pPr>
            <a:r>
              <a:rPr lang="en-US" sz="1800">
                <a:solidFill>
                  <a:srgbClr val="5B6B80"/>
                </a:solidFill>
                <a:latin typeface="Courier New"/>
                <a:ea typeface="Courier New"/>
                <a:cs typeface="Courier New"/>
                <a:sym typeface="Courier New"/>
              </a:rPr>
              <a:t>20/41</a:t>
            </a:r>
            <a:endParaRPr/>
          </a:p>
        </p:txBody>
      </p:sp>
      <p:sp>
        <p:nvSpPr>
          <p:cNvPr id="420" name="Google Shape;420;p22"/>
          <p:cNvSpPr txBox="1"/>
          <p:nvPr/>
        </p:nvSpPr>
        <p:spPr>
          <a:xfrm>
            <a:off x="1276502" y="2331720"/>
            <a:ext cx="2743200" cy="30175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800"/>
              <a:buFont typeface="Courier New"/>
              <a:buNone/>
            </a:pPr>
            <a:r>
              <a:rPr b="1" lang="en-US" sz="1800">
                <a:solidFill>
                  <a:srgbClr val="0B7A6F"/>
                </a:solidFill>
                <a:latin typeface="Courier New"/>
                <a:ea typeface="Courier New"/>
                <a:cs typeface="Courier New"/>
                <a:sym typeface="Courier New"/>
              </a:rPr>
              <a:t>SERVICE</a:t>
            </a:r>
            <a:endParaRPr/>
          </a:p>
        </p:txBody>
      </p:sp>
      <p:sp>
        <p:nvSpPr>
          <p:cNvPr id="421" name="Google Shape;421;p22"/>
          <p:cNvSpPr txBox="1"/>
          <p:nvPr/>
        </p:nvSpPr>
        <p:spPr>
          <a:xfrm>
            <a:off x="3973982" y="2331720"/>
            <a:ext cx="4572000" cy="30175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800"/>
              <a:buFont typeface="Courier New"/>
              <a:buNone/>
            </a:pPr>
            <a:r>
              <a:rPr b="1" lang="en-US" sz="1800">
                <a:solidFill>
                  <a:srgbClr val="0B7A6F"/>
                </a:solidFill>
                <a:latin typeface="Courier New"/>
                <a:ea typeface="Courier New"/>
                <a:cs typeface="Courier New"/>
                <a:sym typeface="Courier New"/>
              </a:rPr>
              <a:t>RÔLE</a:t>
            </a:r>
            <a:endParaRPr/>
          </a:p>
        </p:txBody>
      </p:sp>
      <p:sp>
        <p:nvSpPr>
          <p:cNvPr id="422" name="Google Shape;422;p22"/>
          <p:cNvSpPr txBox="1"/>
          <p:nvPr/>
        </p:nvSpPr>
        <p:spPr>
          <a:xfrm>
            <a:off x="9826142" y="2331720"/>
            <a:ext cx="1828800" cy="30175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800"/>
              <a:buFont typeface="Courier New"/>
              <a:buNone/>
            </a:pPr>
            <a:r>
              <a:rPr b="1" lang="en-US" sz="1800">
                <a:solidFill>
                  <a:srgbClr val="0B7A6F"/>
                </a:solidFill>
                <a:latin typeface="Courier New"/>
                <a:ea typeface="Courier New"/>
                <a:cs typeface="Courier New"/>
                <a:sym typeface="Courier New"/>
              </a:rPr>
              <a:t>PORT</a:t>
            </a:r>
            <a:endParaRPr/>
          </a:p>
        </p:txBody>
      </p:sp>
      <p:sp>
        <p:nvSpPr>
          <p:cNvPr id="423" name="Google Shape;423;p22"/>
          <p:cNvSpPr/>
          <p:nvPr/>
        </p:nvSpPr>
        <p:spPr>
          <a:xfrm>
            <a:off x="1047902" y="2743200"/>
            <a:ext cx="10332720" cy="685800"/>
          </a:xfrm>
          <a:prstGeom prst="rect">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4" name="Google Shape;424;p22"/>
          <p:cNvSpPr txBox="1"/>
          <p:nvPr/>
        </p:nvSpPr>
        <p:spPr>
          <a:xfrm>
            <a:off x="1276502" y="2898648"/>
            <a:ext cx="2743200" cy="3657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800"/>
              <a:buFont typeface="Courier New"/>
              <a:buNone/>
            </a:pPr>
            <a:r>
              <a:rPr b="1" lang="en-US" sz="1800">
                <a:solidFill>
                  <a:srgbClr val="0B7A6F"/>
                </a:solidFill>
                <a:latin typeface="Courier New"/>
                <a:ea typeface="Courier New"/>
                <a:cs typeface="Courier New"/>
                <a:sym typeface="Courier New"/>
              </a:rPr>
              <a:t>api</a:t>
            </a:r>
            <a:endParaRPr/>
          </a:p>
        </p:txBody>
      </p:sp>
      <p:sp>
        <p:nvSpPr>
          <p:cNvPr id="425" name="Google Shape;425;p22"/>
          <p:cNvSpPr txBox="1"/>
          <p:nvPr/>
        </p:nvSpPr>
        <p:spPr>
          <a:xfrm>
            <a:off x="3973982" y="2898648"/>
            <a:ext cx="5852160" cy="3657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700"/>
              <a:buFont typeface="Arial"/>
              <a:buNone/>
            </a:pPr>
            <a:r>
              <a:rPr lang="en-US" sz="1700">
                <a:solidFill>
                  <a:srgbClr val="16212B"/>
                </a:solidFill>
                <a:latin typeface="Arial"/>
                <a:ea typeface="Arial"/>
                <a:cs typeface="Arial"/>
                <a:sym typeface="Arial"/>
              </a:rPr>
              <a:t>API de scoring FastAPI</a:t>
            </a:r>
            <a:endParaRPr/>
          </a:p>
        </p:txBody>
      </p:sp>
      <p:sp>
        <p:nvSpPr>
          <p:cNvPr id="426" name="Google Shape;426;p22"/>
          <p:cNvSpPr txBox="1"/>
          <p:nvPr/>
        </p:nvSpPr>
        <p:spPr>
          <a:xfrm>
            <a:off x="9826142" y="2898648"/>
            <a:ext cx="1463040" cy="3657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800"/>
              <a:buFont typeface="Courier New"/>
              <a:buNone/>
            </a:pPr>
            <a:r>
              <a:rPr b="1" lang="en-US" sz="1800">
                <a:solidFill>
                  <a:srgbClr val="16212B"/>
                </a:solidFill>
                <a:latin typeface="Courier New"/>
                <a:ea typeface="Courier New"/>
                <a:cs typeface="Courier New"/>
                <a:sym typeface="Courier New"/>
              </a:rPr>
              <a:t>4601</a:t>
            </a:r>
            <a:endParaRPr/>
          </a:p>
        </p:txBody>
      </p:sp>
      <p:sp>
        <p:nvSpPr>
          <p:cNvPr id="427" name="Google Shape;427;p22"/>
          <p:cNvSpPr txBox="1"/>
          <p:nvPr/>
        </p:nvSpPr>
        <p:spPr>
          <a:xfrm>
            <a:off x="1276502" y="3584448"/>
            <a:ext cx="2743200" cy="3657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800"/>
              <a:buFont typeface="Courier New"/>
              <a:buNone/>
            </a:pPr>
            <a:r>
              <a:rPr b="1" lang="en-US" sz="1800">
                <a:solidFill>
                  <a:srgbClr val="0B7A6F"/>
                </a:solidFill>
                <a:latin typeface="Courier New"/>
                <a:ea typeface="Courier New"/>
                <a:cs typeface="Courier New"/>
                <a:sym typeface="Courier New"/>
              </a:rPr>
              <a:t>mlflow</a:t>
            </a:r>
            <a:endParaRPr/>
          </a:p>
        </p:txBody>
      </p:sp>
      <p:sp>
        <p:nvSpPr>
          <p:cNvPr id="428" name="Google Shape;428;p22"/>
          <p:cNvSpPr txBox="1"/>
          <p:nvPr/>
        </p:nvSpPr>
        <p:spPr>
          <a:xfrm>
            <a:off x="3973982" y="3584448"/>
            <a:ext cx="5852160" cy="3657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700"/>
              <a:buFont typeface="Arial"/>
              <a:buNone/>
            </a:pPr>
            <a:r>
              <a:rPr lang="en-US" sz="1700">
                <a:solidFill>
                  <a:srgbClr val="16212B"/>
                </a:solidFill>
                <a:latin typeface="Arial"/>
                <a:ea typeface="Arial"/>
                <a:cs typeface="Arial"/>
                <a:sym typeface="Arial"/>
              </a:rPr>
              <a:t>Serveur vivant : PostgreSQL + artefacts MinIO</a:t>
            </a:r>
            <a:endParaRPr/>
          </a:p>
        </p:txBody>
      </p:sp>
      <p:sp>
        <p:nvSpPr>
          <p:cNvPr id="429" name="Google Shape;429;p22"/>
          <p:cNvSpPr txBox="1"/>
          <p:nvPr/>
        </p:nvSpPr>
        <p:spPr>
          <a:xfrm>
            <a:off x="9826142" y="3584448"/>
            <a:ext cx="1463040" cy="3657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800"/>
              <a:buFont typeface="Courier New"/>
              <a:buNone/>
            </a:pPr>
            <a:r>
              <a:rPr b="1" lang="en-US" sz="1800">
                <a:solidFill>
                  <a:srgbClr val="16212B"/>
                </a:solidFill>
                <a:latin typeface="Courier New"/>
                <a:ea typeface="Courier New"/>
                <a:cs typeface="Courier New"/>
                <a:sym typeface="Courier New"/>
              </a:rPr>
              <a:t>4602</a:t>
            </a:r>
            <a:endParaRPr/>
          </a:p>
        </p:txBody>
      </p:sp>
      <p:sp>
        <p:nvSpPr>
          <p:cNvPr id="430" name="Google Shape;430;p22"/>
          <p:cNvSpPr/>
          <p:nvPr/>
        </p:nvSpPr>
        <p:spPr>
          <a:xfrm>
            <a:off x="1047902" y="4114800"/>
            <a:ext cx="10332720" cy="685800"/>
          </a:xfrm>
          <a:prstGeom prst="rect">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1" name="Google Shape;431;p22"/>
          <p:cNvSpPr txBox="1"/>
          <p:nvPr/>
        </p:nvSpPr>
        <p:spPr>
          <a:xfrm>
            <a:off x="1276502" y="4270248"/>
            <a:ext cx="2743200" cy="3657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800"/>
              <a:buFont typeface="Courier New"/>
              <a:buNone/>
            </a:pPr>
            <a:r>
              <a:rPr b="1" lang="en-US" sz="1800">
                <a:solidFill>
                  <a:srgbClr val="0B7A6F"/>
                </a:solidFill>
                <a:latin typeface="Courier New"/>
                <a:ea typeface="Courier New"/>
                <a:cs typeface="Courier New"/>
                <a:sym typeface="Courier New"/>
              </a:rPr>
              <a:t>grafana</a:t>
            </a:r>
            <a:endParaRPr/>
          </a:p>
        </p:txBody>
      </p:sp>
      <p:sp>
        <p:nvSpPr>
          <p:cNvPr id="432" name="Google Shape;432;p22"/>
          <p:cNvSpPr txBox="1"/>
          <p:nvPr/>
        </p:nvSpPr>
        <p:spPr>
          <a:xfrm>
            <a:off x="3973982" y="4270248"/>
            <a:ext cx="5852160" cy="3657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700"/>
              <a:buFont typeface="Arial"/>
              <a:buNone/>
            </a:pPr>
            <a:r>
              <a:rPr lang="en-US" sz="1700">
                <a:solidFill>
                  <a:srgbClr val="16212B"/>
                </a:solidFill>
                <a:latin typeface="Arial"/>
                <a:ea typeface="Arial"/>
                <a:cs typeface="Arial"/>
                <a:sym typeface="Arial"/>
              </a:rPr>
              <a:t>Tableaux de bord</a:t>
            </a:r>
            <a:endParaRPr/>
          </a:p>
        </p:txBody>
      </p:sp>
      <p:sp>
        <p:nvSpPr>
          <p:cNvPr id="433" name="Google Shape;433;p22"/>
          <p:cNvSpPr txBox="1"/>
          <p:nvPr/>
        </p:nvSpPr>
        <p:spPr>
          <a:xfrm>
            <a:off x="9826142" y="4270248"/>
            <a:ext cx="1463040" cy="3657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800"/>
              <a:buFont typeface="Courier New"/>
              <a:buNone/>
            </a:pPr>
            <a:r>
              <a:rPr b="1" lang="en-US" sz="1800">
                <a:solidFill>
                  <a:srgbClr val="16212B"/>
                </a:solidFill>
                <a:latin typeface="Courier New"/>
                <a:ea typeface="Courier New"/>
                <a:cs typeface="Courier New"/>
                <a:sym typeface="Courier New"/>
              </a:rPr>
              <a:t>4603</a:t>
            </a:r>
            <a:endParaRPr/>
          </a:p>
        </p:txBody>
      </p:sp>
      <p:sp>
        <p:nvSpPr>
          <p:cNvPr id="434" name="Google Shape;434;p22"/>
          <p:cNvSpPr txBox="1"/>
          <p:nvPr/>
        </p:nvSpPr>
        <p:spPr>
          <a:xfrm>
            <a:off x="1276502" y="4956048"/>
            <a:ext cx="2743200" cy="3657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800"/>
              <a:buFont typeface="Courier New"/>
              <a:buNone/>
            </a:pPr>
            <a:r>
              <a:rPr b="1" lang="en-US" sz="1800">
                <a:solidFill>
                  <a:srgbClr val="0B7A6F"/>
                </a:solidFill>
                <a:latin typeface="Courier New"/>
                <a:ea typeface="Courier New"/>
                <a:cs typeface="Courier New"/>
                <a:sym typeface="Courier New"/>
              </a:rPr>
              <a:t>prometheus</a:t>
            </a:r>
            <a:endParaRPr/>
          </a:p>
        </p:txBody>
      </p:sp>
      <p:sp>
        <p:nvSpPr>
          <p:cNvPr id="435" name="Google Shape;435;p22"/>
          <p:cNvSpPr txBox="1"/>
          <p:nvPr/>
        </p:nvSpPr>
        <p:spPr>
          <a:xfrm>
            <a:off x="3973982" y="4956048"/>
            <a:ext cx="5852160" cy="3657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700"/>
              <a:buFont typeface="Arial"/>
              <a:buNone/>
            </a:pPr>
            <a:r>
              <a:rPr lang="en-US" sz="1700">
                <a:solidFill>
                  <a:srgbClr val="16212B"/>
                </a:solidFill>
                <a:latin typeface="Arial"/>
                <a:ea typeface="Arial"/>
                <a:cs typeface="Arial"/>
                <a:sym typeface="Arial"/>
              </a:rPr>
              <a:t>Collecte de /metrics</a:t>
            </a:r>
            <a:endParaRPr/>
          </a:p>
        </p:txBody>
      </p:sp>
      <p:sp>
        <p:nvSpPr>
          <p:cNvPr id="436" name="Google Shape;436;p22"/>
          <p:cNvSpPr txBox="1"/>
          <p:nvPr/>
        </p:nvSpPr>
        <p:spPr>
          <a:xfrm>
            <a:off x="9826142" y="4956048"/>
            <a:ext cx="1463040" cy="3657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800"/>
              <a:buFont typeface="Courier New"/>
              <a:buNone/>
            </a:pPr>
            <a:r>
              <a:rPr b="1" lang="en-US" sz="1800">
                <a:solidFill>
                  <a:srgbClr val="16212B"/>
                </a:solidFill>
                <a:latin typeface="Courier New"/>
                <a:ea typeface="Courier New"/>
                <a:cs typeface="Courier New"/>
                <a:sym typeface="Courier New"/>
              </a:rPr>
              <a:t>4604</a:t>
            </a:r>
            <a:endParaRPr/>
          </a:p>
        </p:txBody>
      </p:sp>
      <p:sp>
        <p:nvSpPr>
          <p:cNvPr id="437" name="Google Shape;437;p22"/>
          <p:cNvSpPr/>
          <p:nvPr/>
        </p:nvSpPr>
        <p:spPr>
          <a:xfrm>
            <a:off x="1047902" y="5486400"/>
            <a:ext cx="10332720" cy="685800"/>
          </a:xfrm>
          <a:prstGeom prst="rect">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8" name="Google Shape;438;p22"/>
          <p:cNvSpPr txBox="1"/>
          <p:nvPr/>
        </p:nvSpPr>
        <p:spPr>
          <a:xfrm>
            <a:off x="1276502" y="5641848"/>
            <a:ext cx="2743200" cy="3657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800"/>
              <a:buFont typeface="Courier New"/>
              <a:buNone/>
            </a:pPr>
            <a:r>
              <a:rPr b="1" lang="en-US" sz="1800">
                <a:solidFill>
                  <a:srgbClr val="0B7A6F"/>
                </a:solidFill>
                <a:latin typeface="Courier New"/>
                <a:ea typeface="Courier New"/>
                <a:cs typeface="Courier New"/>
                <a:sym typeface="Courier New"/>
              </a:rPr>
              <a:t>minio</a:t>
            </a:r>
            <a:endParaRPr/>
          </a:p>
        </p:txBody>
      </p:sp>
      <p:sp>
        <p:nvSpPr>
          <p:cNvPr id="439" name="Google Shape;439;p22"/>
          <p:cNvSpPr txBox="1"/>
          <p:nvPr/>
        </p:nvSpPr>
        <p:spPr>
          <a:xfrm>
            <a:off x="3973982" y="5641848"/>
            <a:ext cx="5852160" cy="3657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700"/>
              <a:buFont typeface="Arial"/>
              <a:buNone/>
            </a:pPr>
            <a:r>
              <a:rPr lang="en-US" sz="1700">
                <a:solidFill>
                  <a:srgbClr val="16212B"/>
                </a:solidFill>
                <a:latin typeface="Arial"/>
                <a:ea typeface="Arial"/>
                <a:cs typeface="Arial"/>
                <a:sym typeface="Arial"/>
              </a:rPr>
              <a:t>Remote DVC (S3) · console 4606</a:t>
            </a:r>
            <a:endParaRPr/>
          </a:p>
        </p:txBody>
      </p:sp>
      <p:sp>
        <p:nvSpPr>
          <p:cNvPr id="440" name="Google Shape;440;p22"/>
          <p:cNvSpPr txBox="1"/>
          <p:nvPr/>
        </p:nvSpPr>
        <p:spPr>
          <a:xfrm>
            <a:off x="9826142" y="5641848"/>
            <a:ext cx="1463040" cy="3657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800"/>
              <a:buFont typeface="Courier New"/>
              <a:buNone/>
            </a:pPr>
            <a:r>
              <a:rPr b="1" lang="en-US" sz="1800">
                <a:solidFill>
                  <a:srgbClr val="16212B"/>
                </a:solidFill>
                <a:latin typeface="Courier New"/>
                <a:ea typeface="Courier New"/>
                <a:cs typeface="Courier New"/>
                <a:sym typeface="Courier New"/>
              </a:rPr>
              <a:t>4605</a:t>
            </a:r>
            <a:endParaRPr/>
          </a:p>
        </p:txBody>
      </p:sp>
      <p:sp>
        <p:nvSpPr>
          <p:cNvPr id="441" name="Google Shape;441;p22"/>
          <p:cNvSpPr txBox="1"/>
          <p:nvPr/>
        </p:nvSpPr>
        <p:spPr>
          <a:xfrm>
            <a:off x="1276502" y="6327648"/>
            <a:ext cx="2743200" cy="3657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800"/>
              <a:buFont typeface="Courier New"/>
              <a:buNone/>
            </a:pPr>
            <a:r>
              <a:rPr b="1" lang="en-US" sz="1800">
                <a:solidFill>
                  <a:srgbClr val="0B7A6F"/>
                </a:solidFill>
                <a:latin typeface="Courier New"/>
                <a:ea typeface="Courier New"/>
                <a:cs typeface="Courier New"/>
                <a:sym typeface="Courier New"/>
              </a:rPr>
              <a:t>platform-api</a:t>
            </a:r>
            <a:endParaRPr/>
          </a:p>
        </p:txBody>
      </p:sp>
      <p:sp>
        <p:nvSpPr>
          <p:cNvPr id="442" name="Google Shape;442;p22"/>
          <p:cNvSpPr txBox="1"/>
          <p:nvPr/>
        </p:nvSpPr>
        <p:spPr>
          <a:xfrm>
            <a:off x="3973982" y="6327648"/>
            <a:ext cx="5852160" cy="3657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700"/>
              <a:buFont typeface="Arial"/>
              <a:buNone/>
            </a:pPr>
            <a:r>
              <a:rPr lang="en-US" sz="1700">
                <a:solidFill>
                  <a:srgbClr val="16212B"/>
                </a:solidFill>
                <a:latin typeface="Arial"/>
                <a:ea typeface="Arial"/>
                <a:cs typeface="Arial"/>
                <a:sym typeface="Arial"/>
              </a:rPr>
              <a:t>Entraînement continu + interface d’opérations</a:t>
            </a:r>
            <a:endParaRPr/>
          </a:p>
        </p:txBody>
      </p:sp>
      <p:sp>
        <p:nvSpPr>
          <p:cNvPr id="443" name="Google Shape;443;p22"/>
          <p:cNvSpPr txBox="1"/>
          <p:nvPr/>
        </p:nvSpPr>
        <p:spPr>
          <a:xfrm>
            <a:off x="9826142" y="6327648"/>
            <a:ext cx="1463040" cy="3657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800"/>
              <a:buFont typeface="Courier New"/>
              <a:buNone/>
            </a:pPr>
            <a:r>
              <a:rPr b="1" lang="en-US" sz="1800">
                <a:solidFill>
                  <a:srgbClr val="16212B"/>
                </a:solidFill>
                <a:latin typeface="Courier New"/>
                <a:ea typeface="Courier New"/>
                <a:cs typeface="Courier New"/>
                <a:sym typeface="Courier New"/>
              </a:rPr>
              <a:t>4607</a:t>
            </a:r>
            <a:endParaRPr/>
          </a:p>
        </p:txBody>
      </p:sp>
      <p:sp>
        <p:nvSpPr>
          <p:cNvPr id="444" name="Google Shape;444;p22"/>
          <p:cNvSpPr/>
          <p:nvPr/>
        </p:nvSpPr>
        <p:spPr>
          <a:xfrm>
            <a:off x="1047902" y="7178040"/>
            <a:ext cx="3337560" cy="1828800"/>
          </a:xfrm>
          <a:prstGeom prst="roundRect">
            <a:avLst>
              <a:gd fmla="val 4000" name="adj"/>
            </a:avLst>
          </a:prstGeom>
          <a:solidFill>
            <a:srgbClr val="E3F1EE"/>
          </a:solidFill>
          <a:ln>
            <a:noFill/>
          </a:ln>
        </p:spPr>
        <p:txBody>
          <a:bodyPr anchorCtr="0" anchor="ctr" bIns="91425" lIns="182875" spcFirstLastPara="1" rIns="182875" wrap="square" tIns="91425">
            <a:noAutofit/>
          </a:bodyPr>
          <a:lstStyle/>
          <a:p>
            <a:pPr indent="0" lvl="0" marL="0" marR="0" rtl="0" algn="l">
              <a:spcBef>
                <a:spcPts val="0"/>
              </a:spcBef>
              <a:spcAft>
                <a:spcPts val="0"/>
              </a:spcAft>
              <a:buClr>
                <a:srgbClr val="0B7A6F"/>
              </a:buClr>
              <a:buSzPts val="1700"/>
              <a:buFont typeface="Arial"/>
              <a:buNone/>
            </a:pPr>
            <a:r>
              <a:rPr b="1" lang="en-US" sz="1700">
                <a:solidFill>
                  <a:srgbClr val="0B7A6F"/>
                </a:solidFill>
                <a:latin typeface="Arial"/>
                <a:ea typeface="Arial"/>
                <a:cs typeface="Arial"/>
                <a:sym typeface="Arial"/>
              </a:rPr>
              <a:t>Webhook GitHub</a:t>
            </a:r>
            <a:endParaRPr/>
          </a:p>
          <a:p>
            <a:pPr indent="0" lvl="0" marL="0" marR="0" rtl="0" algn="l">
              <a:lnSpc>
                <a:spcPct val="112000"/>
              </a:lnSpc>
              <a:spcBef>
                <a:spcPts val="400"/>
              </a:spcBef>
              <a:spcAft>
                <a:spcPts val="0"/>
              </a:spcAft>
              <a:buClr>
                <a:srgbClr val="16212B"/>
              </a:buClr>
              <a:buSzPts val="1450"/>
              <a:buFont typeface="Arial"/>
              <a:buNone/>
            </a:pPr>
            <a:r>
              <a:rPr lang="en-US" sz="1450">
                <a:solidFill>
                  <a:srgbClr val="16212B"/>
                </a:solidFill>
                <a:latin typeface="Arial"/>
                <a:ea typeface="Arial"/>
                <a:cs typeface="Arial"/>
                <a:sym typeface="Arial"/>
              </a:rPr>
              <a:t>gardé par la CI : job deploy après le job test, retries sur les échecs réseau transitoires</a:t>
            </a:r>
            <a:endParaRPr/>
          </a:p>
        </p:txBody>
      </p:sp>
      <p:sp>
        <p:nvSpPr>
          <p:cNvPr id="445" name="Google Shape;445;p22"/>
          <p:cNvSpPr/>
          <p:nvPr/>
        </p:nvSpPr>
        <p:spPr>
          <a:xfrm>
            <a:off x="4568342" y="7178040"/>
            <a:ext cx="3337560" cy="1828800"/>
          </a:xfrm>
          <a:prstGeom prst="roundRect">
            <a:avLst>
              <a:gd fmla="val 4000" name="adj"/>
            </a:avLst>
          </a:prstGeom>
          <a:solidFill>
            <a:srgbClr val="E3F1EE"/>
          </a:solidFill>
          <a:ln>
            <a:noFill/>
          </a:ln>
        </p:spPr>
        <p:txBody>
          <a:bodyPr anchorCtr="0" anchor="ctr" bIns="91425" lIns="182875" spcFirstLastPara="1" rIns="182875" wrap="square" tIns="91425">
            <a:noAutofit/>
          </a:bodyPr>
          <a:lstStyle/>
          <a:p>
            <a:pPr indent="0" lvl="0" marL="0" marR="0" rtl="0" algn="l">
              <a:spcBef>
                <a:spcPts val="0"/>
              </a:spcBef>
              <a:spcAft>
                <a:spcPts val="0"/>
              </a:spcAft>
              <a:buClr>
                <a:srgbClr val="0B7A6F"/>
              </a:buClr>
              <a:buSzPts val="1700"/>
              <a:buFont typeface="Arial"/>
              <a:buNone/>
            </a:pPr>
            <a:r>
              <a:rPr b="1" lang="en-US" sz="1700">
                <a:solidFill>
                  <a:srgbClr val="0B7A6F"/>
                </a:solidFill>
                <a:latin typeface="Arial"/>
                <a:ea typeface="Arial"/>
                <a:cs typeface="Arial"/>
                <a:sym typeface="Arial"/>
              </a:rPr>
              <a:t>Réseau fraud_net</a:t>
            </a:r>
            <a:endParaRPr/>
          </a:p>
          <a:p>
            <a:pPr indent="0" lvl="0" marL="0" marR="0" rtl="0" algn="l">
              <a:lnSpc>
                <a:spcPct val="112000"/>
              </a:lnSpc>
              <a:spcBef>
                <a:spcPts val="400"/>
              </a:spcBef>
              <a:spcAft>
                <a:spcPts val="0"/>
              </a:spcAft>
              <a:buClr>
                <a:srgbClr val="16212B"/>
              </a:buClr>
              <a:buSzPts val="1450"/>
              <a:buFont typeface="Arial"/>
              <a:buNone/>
            </a:pPr>
            <a:r>
              <a:rPr lang="en-US" sz="1450">
                <a:solidFill>
                  <a:srgbClr val="16212B"/>
                </a:solidFill>
                <a:latin typeface="Arial"/>
                <a:ea typeface="Arial"/>
                <a:cs typeface="Arial"/>
                <a:sym typeface="Arial"/>
              </a:rPr>
              <a:t>restart: unless-stopped · volumes persistants</a:t>
            </a:r>
            <a:endParaRPr/>
          </a:p>
        </p:txBody>
      </p:sp>
      <p:sp>
        <p:nvSpPr>
          <p:cNvPr id="446" name="Google Shape;446;p22"/>
          <p:cNvSpPr/>
          <p:nvPr/>
        </p:nvSpPr>
        <p:spPr>
          <a:xfrm>
            <a:off x="8088782" y="7178040"/>
            <a:ext cx="3337560" cy="1828800"/>
          </a:xfrm>
          <a:prstGeom prst="roundRect">
            <a:avLst>
              <a:gd fmla="val 4000" name="adj"/>
            </a:avLst>
          </a:prstGeom>
          <a:solidFill>
            <a:srgbClr val="E3F1EE"/>
          </a:solidFill>
          <a:ln>
            <a:noFill/>
          </a:ln>
        </p:spPr>
        <p:txBody>
          <a:bodyPr anchorCtr="0" anchor="ctr" bIns="91425" lIns="182875" spcFirstLastPara="1" rIns="182875" wrap="square" tIns="91425">
            <a:noAutofit/>
          </a:bodyPr>
          <a:lstStyle/>
          <a:p>
            <a:pPr indent="0" lvl="0" marL="0" marR="0" rtl="0" algn="l">
              <a:spcBef>
                <a:spcPts val="0"/>
              </a:spcBef>
              <a:spcAft>
                <a:spcPts val="0"/>
              </a:spcAft>
              <a:buClr>
                <a:srgbClr val="0B7A6F"/>
              </a:buClr>
              <a:buSzPts val="1700"/>
              <a:buFont typeface="Arial"/>
              <a:buNone/>
            </a:pPr>
            <a:r>
              <a:rPr b="1" lang="en-US" sz="1700">
                <a:solidFill>
                  <a:srgbClr val="0B7A6F"/>
                </a:solidFill>
                <a:latin typeface="Arial"/>
                <a:ea typeface="Arial"/>
                <a:cs typeface="Arial"/>
                <a:sym typeface="Arial"/>
              </a:rPr>
              <a:t>Domaine exp.s3.fsbm.ma</a:t>
            </a:r>
            <a:endParaRPr/>
          </a:p>
          <a:p>
            <a:pPr indent="0" lvl="0" marL="0" marR="0" rtl="0" algn="l">
              <a:lnSpc>
                <a:spcPct val="112000"/>
              </a:lnSpc>
              <a:spcBef>
                <a:spcPts val="400"/>
              </a:spcBef>
              <a:spcAft>
                <a:spcPts val="0"/>
              </a:spcAft>
              <a:buClr>
                <a:srgbClr val="16212B"/>
              </a:buClr>
              <a:buSzPts val="1450"/>
              <a:buFont typeface="Arial"/>
              <a:buNone/>
            </a:pPr>
            <a:r>
              <a:rPr lang="en-US" sz="1450">
                <a:solidFill>
                  <a:srgbClr val="16212B"/>
                </a:solidFill>
                <a:latin typeface="Arial"/>
                <a:ea typeface="Arial"/>
                <a:cs typeface="Arial"/>
                <a:sym typeface="Arial"/>
              </a:rPr>
              <a:t>ports fixes 4601–4608, + dagster et mlflow-db (huit services, serveur partagé vh3)</a:t>
            </a:r>
            <a:endParaRPr/>
          </a:p>
        </p:txBody>
      </p:sp>
      <p:sp>
        <p:nvSpPr>
          <p:cNvPr id="447" name="Google Shape;447;p22"/>
          <p:cNvSpPr/>
          <p:nvPr/>
        </p:nvSpPr>
        <p:spPr>
          <a:xfrm>
            <a:off x="11841480" y="2331720"/>
            <a:ext cx="5394960" cy="5120640"/>
          </a:xfrm>
          <a:prstGeom prst="roundRect">
            <a:avLst>
              <a:gd fmla="val 4000"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Interface Komodo" id="448" name="Google Shape;448;p22"/>
          <p:cNvPicPr preferRelativeResize="0"/>
          <p:nvPr/>
        </p:nvPicPr>
        <p:blipFill rotWithShape="1">
          <a:blip r:embed="rId3">
            <a:alphaModFix/>
          </a:blip>
          <a:srcRect b="0" l="0" r="0" t="0"/>
          <a:stretch/>
        </p:blipFill>
        <p:spPr>
          <a:xfrm>
            <a:off x="12024360" y="2606040"/>
            <a:ext cx="5029200" cy="3584643"/>
          </a:xfrm>
          <a:prstGeom prst="rect">
            <a:avLst/>
          </a:prstGeom>
          <a:noFill/>
          <a:ln>
            <a:noFill/>
          </a:ln>
        </p:spPr>
      </p:pic>
      <p:sp>
        <p:nvSpPr>
          <p:cNvPr id="449" name="Google Shape;449;p22"/>
          <p:cNvSpPr txBox="1"/>
          <p:nvPr/>
        </p:nvSpPr>
        <p:spPr>
          <a:xfrm>
            <a:off x="11841480" y="6465003"/>
            <a:ext cx="5394960" cy="1280160"/>
          </a:xfrm>
          <a:prstGeom prst="rect">
            <a:avLst/>
          </a:prstGeom>
          <a:noFill/>
          <a:ln>
            <a:noFill/>
          </a:ln>
        </p:spPr>
        <p:txBody>
          <a:bodyPr anchorCtr="0" anchor="t" bIns="25400" lIns="25400" spcFirstLastPara="1" rIns="25400" wrap="square" tIns="25400">
            <a:normAutofit/>
          </a:bodyPr>
          <a:lstStyle/>
          <a:p>
            <a:pPr indent="0" lvl="0" marL="0" marR="0" rtl="0" algn="ctr">
              <a:lnSpc>
                <a:spcPct val="115000"/>
              </a:lnSpc>
              <a:spcBef>
                <a:spcPts val="0"/>
              </a:spcBef>
              <a:spcAft>
                <a:spcPts val="0"/>
              </a:spcAft>
              <a:buClr>
                <a:srgbClr val="5B6B80"/>
              </a:buClr>
              <a:buSzPts val="1500"/>
              <a:buFont typeface="Arial"/>
              <a:buNone/>
            </a:pPr>
            <a:r>
              <a:rPr lang="en-US" sz="1500">
                <a:solidFill>
                  <a:srgbClr val="5B6B80"/>
                </a:solidFill>
                <a:latin typeface="Arial"/>
                <a:ea typeface="Arial"/>
                <a:cs typeface="Arial"/>
                <a:sym typeface="Arial"/>
              </a:rPr>
              <a:t>Figure 31 — Komodo, stack detection_de_fraude_bancaire : 6 services RUNNING (capture du 19/09/2026)</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4" name="Shape 454"/>
        <p:cNvGrpSpPr/>
        <p:nvPr/>
      </p:nvGrpSpPr>
      <p:grpSpPr>
        <a:xfrm>
          <a:off x="0" y="0"/>
          <a:ext cx="0" cy="0"/>
          <a:chOff x="0" y="0"/>
          <a:chExt cx="0" cy="0"/>
        </a:xfrm>
      </p:grpSpPr>
      <p:sp>
        <p:nvSpPr>
          <p:cNvPr id="455" name="Google Shape;455;p23"/>
          <p:cNvSpPr txBox="1"/>
          <p:nvPr/>
        </p:nvSpPr>
        <p:spPr>
          <a:xfrm>
            <a:off x="1047720" y="914400"/>
            <a:ext cx="17811598" cy="371246"/>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950"/>
              <a:buFont typeface="Courier New"/>
              <a:buNone/>
            </a:pPr>
            <a:r>
              <a:rPr b="1" lang="en-US" sz="1950">
                <a:solidFill>
                  <a:srgbClr val="0B7A6F"/>
                </a:solidFill>
                <a:latin typeface="Courier New"/>
                <a:ea typeface="Courier New"/>
                <a:cs typeface="Courier New"/>
                <a:sym typeface="Courier New"/>
              </a:rPr>
              <a:t>CHAPITRE 3 — §6 · ORCHESTRATION DAGSTER</a:t>
            </a:r>
            <a:endParaRPr/>
          </a:p>
        </p:txBody>
      </p:sp>
      <p:sp>
        <p:nvSpPr>
          <p:cNvPr id="456" name="Google Shape;456;p23"/>
          <p:cNvSpPr txBox="1"/>
          <p:nvPr/>
        </p:nvSpPr>
        <p:spPr>
          <a:xfrm>
            <a:off x="1047720" y="1419149"/>
            <a:ext cx="17811598" cy="55229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3450"/>
              <a:buFont typeface="Arial"/>
              <a:buNone/>
            </a:pPr>
            <a:r>
              <a:rPr b="1" lang="en-US" sz="3450">
                <a:solidFill>
                  <a:srgbClr val="16212B"/>
                </a:solidFill>
                <a:latin typeface="Arial"/>
                <a:ea typeface="Arial"/>
                <a:cs typeface="Arial"/>
                <a:sym typeface="Arial"/>
              </a:rPr>
              <a:t>Dagster en fonctionnement, et un déploiement gardé par la CI</a:t>
            </a:r>
            <a:endParaRPr/>
          </a:p>
        </p:txBody>
      </p:sp>
      <p:sp>
        <p:nvSpPr>
          <p:cNvPr id="457" name="Google Shape;457;p23"/>
          <p:cNvSpPr txBox="1"/>
          <p:nvPr/>
        </p:nvSpPr>
        <p:spPr>
          <a:xfrm>
            <a:off x="16367760" y="9646920"/>
            <a:ext cx="914400" cy="333756"/>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B6B80"/>
              </a:buClr>
              <a:buSzPts val="1800"/>
              <a:buFont typeface="Courier New"/>
              <a:buNone/>
            </a:pPr>
            <a:r>
              <a:rPr lang="en-US" sz="1800">
                <a:solidFill>
                  <a:srgbClr val="5B6B80"/>
                </a:solidFill>
                <a:latin typeface="Courier New"/>
                <a:ea typeface="Courier New"/>
                <a:cs typeface="Courier New"/>
                <a:sym typeface="Courier New"/>
              </a:rPr>
              <a:t>22/41</a:t>
            </a:r>
            <a:endParaRPr/>
          </a:p>
        </p:txBody>
      </p:sp>
      <p:sp>
        <p:nvSpPr>
          <p:cNvPr id="458" name="Google Shape;458;p23"/>
          <p:cNvSpPr/>
          <p:nvPr/>
        </p:nvSpPr>
        <p:spPr>
          <a:xfrm>
            <a:off x="1047902" y="2331720"/>
            <a:ext cx="9144000" cy="5978513"/>
          </a:xfrm>
          <a:prstGeom prst="roundRect">
            <a:avLst>
              <a:gd fmla="val 4000"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9" name="Google Shape;459;p23"/>
          <p:cNvSpPr txBox="1"/>
          <p:nvPr/>
        </p:nvSpPr>
        <p:spPr>
          <a:xfrm>
            <a:off x="1047902" y="8401673"/>
            <a:ext cx="9144000" cy="822960"/>
          </a:xfrm>
          <a:prstGeom prst="rect">
            <a:avLst/>
          </a:prstGeom>
          <a:noFill/>
          <a:ln>
            <a:noFill/>
          </a:ln>
        </p:spPr>
        <p:txBody>
          <a:bodyPr anchorCtr="0" anchor="t" bIns="25400" lIns="25400" spcFirstLastPara="1" rIns="25400" wrap="square" tIns="25400">
            <a:normAutofit/>
          </a:bodyPr>
          <a:lstStyle/>
          <a:p>
            <a:pPr indent="0" lvl="0" marL="0" marR="0" rtl="0" algn="ctr">
              <a:lnSpc>
                <a:spcPct val="115000"/>
              </a:lnSpc>
              <a:spcBef>
                <a:spcPts val="0"/>
              </a:spcBef>
              <a:spcAft>
                <a:spcPts val="0"/>
              </a:spcAft>
              <a:buClr>
                <a:srgbClr val="5B6B80"/>
              </a:buClr>
              <a:buSzPts val="1500"/>
              <a:buFont typeface="Arial"/>
              <a:buNone/>
            </a:pPr>
            <a:r>
              <a:rPr lang="en-US" sz="1500">
                <a:solidFill>
                  <a:srgbClr val="5B6B80"/>
                </a:solidFill>
                <a:latin typeface="Arial"/>
                <a:ea typeface="Arial"/>
                <a:cs typeface="Arial"/>
                <a:sym typeface="Arial"/>
              </a:rPr>
              <a:t>Figures 54–55 — schedule et sensor actifs ; run continuous_training_job (Success, 0:04:26)</a:t>
            </a:r>
            <a:endParaRPr/>
          </a:p>
        </p:txBody>
      </p:sp>
      <p:sp>
        <p:nvSpPr>
          <p:cNvPr id="460" name="Google Shape;460;p23"/>
          <p:cNvSpPr txBox="1"/>
          <p:nvPr/>
        </p:nvSpPr>
        <p:spPr>
          <a:xfrm>
            <a:off x="10515600" y="2331720"/>
            <a:ext cx="6720840" cy="310896"/>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800"/>
              <a:buFont typeface="Courier New"/>
              <a:buNone/>
            </a:pPr>
            <a:r>
              <a:rPr b="1" lang="en-US" sz="1800">
                <a:solidFill>
                  <a:srgbClr val="0B7A6F"/>
                </a:solidFill>
                <a:latin typeface="Courier New"/>
                <a:ea typeface="Courier New"/>
                <a:cs typeface="Courier New"/>
                <a:sym typeface="Courier New"/>
              </a:rPr>
              <a:t>CE QUI TOURNE SUR KOMODO</a:t>
            </a:r>
            <a:endParaRPr/>
          </a:p>
        </p:txBody>
      </p:sp>
      <p:sp>
        <p:nvSpPr>
          <p:cNvPr id="461" name="Google Shape;461;p23"/>
          <p:cNvSpPr/>
          <p:nvPr/>
        </p:nvSpPr>
        <p:spPr>
          <a:xfrm>
            <a:off x="10515600" y="2788920"/>
            <a:ext cx="6720840" cy="1051560"/>
          </a:xfrm>
          <a:prstGeom prst="roundRect">
            <a:avLst>
              <a:gd fmla="val 4000" name="adj"/>
            </a:avLst>
          </a:prstGeom>
          <a:solidFill>
            <a:srgbClr val="F5F7FA"/>
          </a:solidFill>
          <a:ln>
            <a:noFill/>
          </a:ln>
        </p:spPr>
        <p:txBody>
          <a:bodyPr anchorCtr="0" anchor="ctr" bIns="91425" lIns="182875" spcFirstLastPara="1" rIns="182875" wrap="square" tIns="91425">
            <a:noAutofit/>
          </a:bodyPr>
          <a:lstStyle/>
          <a:p>
            <a:pPr indent="0" lvl="0" marL="0" marR="0" rtl="0" algn="l">
              <a:spcBef>
                <a:spcPts val="0"/>
              </a:spcBef>
              <a:spcAft>
                <a:spcPts val="0"/>
              </a:spcAft>
              <a:buClr>
                <a:srgbClr val="0B7A6F"/>
              </a:buClr>
              <a:buSzPts val="1800"/>
              <a:buFont typeface="Arial"/>
              <a:buNone/>
            </a:pPr>
            <a:r>
              <a:rPr b="1" lang="en-US" sz="1800">
                <a:solidFill>
                  <a:srgbClr val="0B7A6F"/>
                </a:solidFill>
                <a:latin typeface="Arial"/>
                <a:ea typeface="Arial"/>
                <a:cs typeface="Arial"/>
                <a:sym typeface="Arial"/>
              </a:rPr>
              <a:t>Schedule + sensor</a:t>
            </a:r>
            <a:endParaRPr/>
          </a:p>
          <a:p>
            <a:pPr indent="0" lvl="0" marL="0" marR="0" rtl="0" algn="l">
              <a:spcBef>
                <a:spcPts val="200"/>
              </a:spcBef>
              <a:spcAft>
                <a:spcPts val="0"/>
              </a:spcAft>
              <a:buClr>
                <a:srgbClr val="16212B"/>
              </a:buClr>
              <a:buSzPts val="1600"/>
              <a:buFont typeface="Arial"/>
              <a:buNone/>
            </a:pPr>
            <a:r>
              <a:rPr lang="en-US" sz="1600">
                <a:solidFill>
                  <a:srgbClr val="16212B"/>
                </a:solidFill>
                <a:latin typeface="Arial"/>
                <a:ea typeface="Arial"/>
                <a:cs typeface="Arial"/>
                <a:sym typeface="Arial"/>
              </a:rPr>
              <a:t>nightly_pipeline_schedule (02:00) et dataset_version_sensor, partagés avec platform-api</a:t>
            </a:r>
            <a:endParaRPr/>
          </a:p>
        </p:txBody>
      </p:sp>
      <p:sp>
        <p:nvSpPr>
          <p:cNvPr id="462" name="Google Shape;462;p23"/>
          <p:cNvSpPr/>
          <p:nvPr/>
        </p:nvSpPr>
        <p:spPr>
          <a:xfrm>
            <a:off x="10515600" y="3977640"/>
            <a:ext cx="6720840" cy="1051560"/>
          </a:xfrm>
          <a:prstGeom prst="roundRect">
            <a:avLst>
              <a:gd fmla="val 4000" name="adj"/>
            </a:avLst>
          </a:prstGeom>
          <a:solidFill>
            <a:srgbClr val="F5F7FA"/>
          </a:solidFill>
          <a:ln>
            <a:noFill/>
          </a:ln>
        </p:spPr>
        <p:txBody>
          <a:bodyPr anchorCtr="0" anchor="ctr" bIns="91425" lIns="182875" spcFirstLastPara="1" rIns="182875" wrap="square" tIns="91425">
            <a:noAutofit/>
          </a:bodyPr>
          <a:lstStyle/>
          <a:p>
            <a:pPr indent="0" lvl="0" marL="0" marR="0" rtl="0" algn="l">
              <a:spcBef>
                <a:spcPts val="0"/>
              </a:spcBef>
              <a:spcAft>
                <a:spcPts val="0"/>
              </a:spcAft>
              <a:buClr>
                <a:srgbClr val="0B7A6F"/>
              </a:buClr>
              <a:buSzPts val="1800"/>
              <a:buFont typeface="Arial"/>
              <a:buNone/>
            </a:pPr>
            <a:r>
              <a:rPr b="1" lang="en-US" sz="1800">
                <a:solidFill>
                  <a:srgbClr val="0B7A6F"/>
                </a:solidFill>
                <a:latin typeface="Arial"/>
                <a:ea typeface="Arial"/>
                <a:cs typeface="Arial"/>
                <a:sym typeface="Arial"/>
              </a:rPr>
              <a:t>Un seul run à la fois</a:t>
            </a:r>
            <a:endParaRPr/>
          </a:p>
          <a:p>
            <a:pPr indent="0" lvl="0" marL="0" marR="0" rtl="0" algn="l">
              <a:spcBef>
                <a:spcPts val="200"/>
              </a:spcBef>
              <a:spcAft>
                <a:spcPts val="0"/>
              </a:spcAft>
              <a:buClr>
                <a:srgbClr val="16212B"/>
              </a:buClr>
              <a:buSzPts val="1600"/>
              <a:buFont typeface="Arial"/>
              <a:buNone/>
            </a:pPr>
            <a:r>
              <a:rPr lang="en-US" sz="1600">
                <a:solidFill>
                  <a:srgbClr val="16212B"/>
                </a:solidFill>
                <a:latin typeface="Arial"/>
                <a:ea typeface="Arial"/>
                <a:cs typeface="Arial"/>
                <a:sym typeface="Arial"/>
              </a:rPr>
              <a:t>file max_concurrent_runs: 1 + verrou de fichier entre les étapes</a:t>
            </a:r>
            <a:endParaRPr/>
          </a:p>
        </p:txBody>
      </p:sp>
      <p:sp>
        <p:nvSpPr>
          <p:cNvPr id="463" name="Google Shape;463;p23"/>
          <p:cNvSpPr/>
          <p:nvPr/>
        </p:nvSpPr>
        <p:spPr>
          <a:xfrm>
            <a:off x="10515600" y="5207075"/>
            <a:ext cx="6720900" cy="1463100"/>
          </a:xfrm>
          <a:prstGeom prst="roundRect">
            <a:avLst>
              <a:gd fmla="val 4000" name="adj"/>
            </a:avLst>
          </a:prstGeom>
          <a:solidFill>
            <a:srgbClr val="F5F7FA"/>
          </a:solidFill>
          <a:ln>
            <a:noFill/>
          </a:ln>
        </p:spPr>
        <p:txBody>
          <a:bodyPr anchorCtr="0" anchor="ctr" bIns="91425" lIns="182875" spcFirstLastPara="1" rIns="182875" wrap="square" tIns="91425">
            <a:noAutofit/>
          </a:bodyPr>
          <a:lstStyle/>
          <a:p>
            <a:pPr indent="0" lvl="0" marL="0" marR="0" rtl="0" algn="l">
              <a:spcBef>
                <a:spcPts val="0"/>
              </a:spcBef>
              <a:spcAft>
                <a:spcPts val="0"/>
              </a:spcAft>
              <a:buClr>
                <a:srgbClr val="0B7A6F"/>
              </a:buClr>
              <a:buSzPts val="1800"/>
              <a:buFont typeface="Arial"/>
              <a:buNone/>
            </a:pPr>
            <a:r>
              <a:rPr b="1" lang="en-US" sz="1800">
                <a:solidFill>
                  <a:srgbClr val="0B7A6F"/>
                </a:solidFill>
                <a:latin typeface="Arial"/>
                <a:ea typeface="Arial"/>
                <a:cs typeface="Arial"/>
                <a:sym typeface="Arial"/>
              </a:rPr>
              <a:t>Déploiement gardé par la CI</a:t>
            </a:r>
            <a:endParaRPr/>
          </a:p>
          <a:p>
            <a:pPr indent="0" lvl="0" marL="0" marR="0" rtl="0" algn="l">
              <a:spcBef>
                <a:spcPts val="200"/>
              </a:spcBef>
              <a:spcAft>
                <a:spcPts val="0"/>
              </a:spcAft>
              <a:buClr>
                <a:srgbClr val="16212B"/>
              </a:buClr>
              <a:buSzPts val="1600"/>
              <a:buFont typeface="Arial"/>
              <a:buNone/>
            </a:pPr>
            <a:r>
              <a:rPr lang="en-US" sz="1600">
                <a:solidFill>
                  <a:srgbClr val="16212B"/>
                </a:solidFill>
                <a:latin typeface="Arial"/>
                <a:ea typeface="Arial"/>
                <a:cs typeface="Arial"/>
                <a:sym typeface="Arial"/>
              </a:rPr>
              <a:t>le job deploy attend le job test ; retries automatiques sur les échecs réseau transitoires</a:t>
            </a:r>
            <a:endParaRPr/>
          </a:p>
        </p:txBody>
      </p:sp>
      <p:sp>
        <p:nvSpPr>
          <p:cNvPr id="464" name="Google Shape;464;p23"/>
          <p:cNvSpPr/>
          <p:nvPr/>
        </p:nvSpPr>
        <p:spPr>
          <a:xfrm>
            <a:off x="10515600" y="7589520"/>
            <a:ext cx="6720840" cy="1463040"/>
          </a:xfrm>
          <a:prstGeom prst="roundRect">
            <a:avLst>
              <a:gd fmla="val 4000" name="adj"/>
            </a:avLst>
          </a:prstGeom>
          <a:solidFill>
            <a:srgbClr val="FBEAEA"/>
          </a:solidFill>
          <a:ln>
            <a:noFill/>
          </a:ln>
        </p:spPr>
        <p:txBody>
          <a:bodyPr anchorCtr="0" anchor="ctr" bIns="114300" lIns="228600" spcFirstLastPara="1" rIns="228600" wrap="square" tIns="114300">
            <a:noAutofit/>
          </a:bodyPr>
          <a:lstStyle/>
          <a:p>
            <a:pPr indent="0" lvl="0" marL="0" marR="0" rtl="0" algn="l">
              <a:lnSpc>
                <a:spcPct val="115000"/>
              </a:lnSpc>
              <a:spcBef>
                <a:spcPts val="0"/>
              </a:spcBef>
              <a:spcAft>
                <a:spcPts val="0"/>
              </a:spcAft>
              <a:buClr>
                <a:srgbClr val="B03A2E"/>
              </a:buClr>
              <a:buSzPts val="1600"/>
              <a:buFont typeface="Arial"/>
              <a:buNone/>
            </a:pPr>
            <a:r>
              <a:rPr b="1" lang="en-US" sz="1600">
                <a:solidFill>
                  <a:srgbClr val="B03A2E"/>
                </a:solidFill>
                <a:latin typeface="Arial"/>
                <a:ea typeface="Arial"/>
                <a:cs typeface="Arial"/>
                <a:sym typeface="Arial"/>
              </a:rPr>
              <a:t>Propriété : </a:t>
            </a:r>
            <a:r>
              <a:rPr lang="en-US" sz="1600">
                <a:solidFill>
                  <a:srgbClr val="16212B"/>
                </a:solidFill>
                <a:latin typeface="Arial"/>
                <a:ea typeface="Arial"/>
                <a:cs typeface="Arial"/>
                <a:sym typeface="Arial"/>
              </a:rPr>
              <a:t>job.py, dagster.yaml, docker-compose.yml (Sifeddine) ; ci.yml, scripts/komodo_deploy.py (Assofi).</a:t>
            </a:r>
            <a:endParaRPr/>
          </a:p>
        </p:txBody>
      </p:sp>
      <p:pic>
        <p:nvPicPr>
          <p:cNvPr descr="f54_dagster_automation.png" id="465" name="Google Shape;465;p23"/>
          <p:cNvPicPr preferRelativeResize="0"/>
          <p:nvPr/>
        </p:nvPicPr>
        <p:blipFill rotWithShape="1">
          <a:blip r:embed="rId3">
            <a:alphaModFix/>
          </a:blip>
          <a:srcRect b="0" l="0" r="0" t="0"/>
          <a:stretch/>
        </p:blipFill>
        <p:spPr>
          <a:xfrm>
            <a:off x="1234440" y="4036982"/>
            <a:ext cx="8778240" cy="1315616"/>
          </a:xfrm>
          <a:prstGeom prst="rect">
            <a:avLst/>
          </a:prstGeom>
          <a:noFill/>
          <a:ln>
            <a:noFill/>
          </a:ln>
        </p:spPr>
      </p:pic>
      <p:pic>
        <p:nvPicPr>
          <p:cNvPr descr="f55_dagster_runs.png" id="466" name="Google Shape;466;p23"/>
          <p:cNvPicPr preferRelativeResize="0"/>
          <p:nvPr/>
        </p:nvPicPr>
        <p:blipFill rotWithShape="1">
          <a:blip r:embed="rId4">
            <a:alphaModFix/>
          </a:blip>
          <a:srcRect b="0" l="0" r="0" t="0"/>
          <a:stretch/>
        </p:blipFill>
        <p:spPr>
          <a:xfrm>
            <a:off x="1234440" y="5626919"/>
            <a:ext cx="8778240" cy="97971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1" name="Shape 471"/>
        <p:cNvGrpSpPr/>
        <p:nvPr/>
      </p:nvGrpSpPr>
      <p:grpSpPr>
        <a:xfrm>
          <a:off x="0" y="0"/>
          <a:ext cx="0" cy="0"/>
          <a:chOff x="0" y="0"/>
          <a:chExt cx="0" cy="0"/>
        </a:xfrm>
      </p:grpSpPr>
      <p:sp>
        <p:nvSpPr>
          <p:cNvPr id="472" name="Google Shape;472;p24"/>
          <p:cNvSpPr/>
          <p:nvPr/>
        </p:nvSpPr>
        <p:spPr>
          <a:xfrm>
            <a:off x="1047750" y="914400"/>
            <a:ext cx="17811750"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1950"/>
              <a:buFont typeface="Courier New"/>
              <a:buNone/>
            </a:pPr>
            <a:r>
              <a:rPr b="1" lang="en-US" sz="1950">
                <a:solidFill>
                  <a:srgbClr val="0B7A6F"/>
                </a:solidFill>
                <a:latin typeface="Courier New"/>
                <a:ea typeface="Courier New"/>
                <a:cs typeface="Courier New"/>
                <a:sym typeface="Courier New"/>
              </a:rPr>
              <a:t>DÉMONSTRATION</a:t>
            </a:r>
            <a:endParaRPr sz="1950">
              <a:solidFill>
                <a:schemeClr val="dk1"/>
              </a:solidFill>
              <a:latin typeface="Calibri"/>
              <a:ea typeface="Calibri"/>
              <a:cs typeface="Calibri"/>
              <a:sym typeface="Calibri"/>
            </a:endParaRPr>
          </a:p>
        </p:txBody>
      </p:sp>
      <p:sp>
        <p:nvSpPr>
          <p:cNvPr id="473" name="Google Shape;473;p24"/>
          <p:cNvSpPr/>
          <p:nvPr/>
        </p:nvSpPr>
        <p:spPr>
          <a:xfrm>
            <a:off x="1047750" y="1419225"/>
            <a:ext cx="17811750" cy="5524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3450"/>
              <a:buFont typeface="Arial"/>
              <a:buNone/>
            </a:pPr>
            <a:r>
              <a:rPr b="1" lang="en-US" sz="3450">
                <a:solidFill>
                  <a:srgbClr val="16212B"/>
                </a:solidFill>
                <a:latin typeface="Arial"/>
                <a:ea typeface="Arial"/>
                <a:cs typeface="Arial"/>
                <a:sym typeface="Arial"/>
              </a:rPr>
              <a:t>Qualité des données : tests et lignage</a:t>
            </a:r>
            <a:endParaRPr sz="3450">
              <a:solidFill>
                <a:schemeClr val="dk1"/>
              </a:solidFill>
              <a:latin typeface="Calibri"/>
              <a:ea typeface="Calibri"/>
              <a:cs typeface="Calibri"/>
              <a:sym typeface="Calibri"/>
            </a:endParaRPr>
          </a:p>
        </p:txBody>
      </p:sp>
      <p:sp>
        <p:nvSpPr>
          <p:cNvPr id="474" name="Google Shape;474;p24"/>
          <p:cNvSpPr/>
          <p:nvPr/>
        </p:nvSpPr>
        <p:spPr>
          <a:xfrm>
            <a:off x="1047750" y="3168997"/>
            <a:ext cx="7858125" cy="5029200"/>
          </a:xfrm>
          <a:prstGeom prst="roundRect">
            <a:avLst>
              <a:gd fmla="val 3409"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475" name="Google Shape;475;p24"/>
          <p:cNvPicPr preferRelativeResize="0"/>
          <p:nvPr/>
        </p:nvPicPr>
        <p:blipFill rotWithShape="1">
          <a:blip r:embed="rId3">
            <a:alphaModFix/>
          </a:blip>
          <a:srcRect b="0" l="-1" r="-1" t="0"/>
          <a:stretch/>
        </p:blipFill>
        <p:spPr>
          <a:xfrm>
            <a:off x="2665958" y="3397597"/>
            <a:ext cx="4621560" cy="4571851"/>
          </a:xfrm>
          <a:prstGeom prst="rect">
            <a:avLst/>
          </a:prstGeom>
          <a:noFill/>
          <a:ln>
            <a:noFill/>
          </a:ln>
        </p:spPr>
      </p:pic>
      <p:sp>
        <p:nvSpPr>
          <p:cNvPr id="476" name="Google Shape;476;p24"/>
          <p:cNvSpPr/>
          <p:nvPr/>
        </p:nvSpPr>
        <p:spPr>
          <a:xfrm>
            <a:off x="654844" y="8350597"/>
            <a:ext cx="8643938" cy="358080"/>
          </a:xfrm>
          <a:prstGeom prst="rect">
            <a:avLst/>
          </a:prstGeom>
          <a:noFill/>
          <a:ln>
            <a:noFill/>
          </a:ln>
        </p:spPr>
        <p:txBody>
          <a:bodyPr anchorCtr="0" anchor="t" bIns="25400" lIns="25400" spcFirstLastPara="1" rIns="25400" wrap="square" tIns="25400">
            <a:noAutofit/>
          </a:bodyPr>
          <a:lstStyle/>
          <a:p>
            <a:pPr indent="0" lvl="0" marL="0" marR="0" rtl="0" algn="ctr">
              <a:lnSpc>
                <a:spcPct val="120000"/>
              </a:lnSpc>
              <a:spcBef>
                <a:spcPts val="0"/>
              </a:spcBef>
              <a:spcAft>
                <a:spcPts val="0"/>
              </a:spcAft>
              <a:buClr>
                <a:srgbClr val="5B6B80"/>
              </a:buClr>
              <a:buSzPts val="1800"/>
              <a:buFont typeface="Arial"/>
              <a:buNone/>
            </a:pPr>
            <a:r>
              <a:rPr lang="en-US" sz="1800">
                <a:solidFill>
                  <a:srgbClr val="5B6B80"/>
                </a:solidFill>
                <a:latin typeface="Arial"/>
                <a:ea typeface="Arial"/>
                <a:cs typeface="Arial"/>
                <a:sym typeface="Arial"/>
              </a:rPr>
              <a:t>Figure 11 — </a:t>
            </a:r>
            <a:r>
              <a:rPr b="1" lang="en-US" sz="1800">
                <a:solidFill>
                  <a:srgbClr val="0B7A6F"/>
                </a:solidFill>
                <a:latin typeface="Arial"/>
                <a:ea typeface="Arial"/>
                <a:cs typeface="Arial"/>
                <a:sym typeface="Arial"/>
              </a:rPr>
              <a:t>27/27 PASS </a:t>
            </a:r>
            <a:r>
              <a:rPr lang="en-US" sz="1800">
                <a:solidFill>
                  <a:srgbClr val="5B6B80"/>
                </a:solidFill>
                <a:latin typeface="Arial"/>
                <a:ea typeface="Arial"/>
                <a:cs typeface="Arial"/>
                <a:sym typeface="Arial"/>
              </a:rPr>
              <a:t>(schéma, contenu, métier)</a:t>
            </a:r>
            <a:endParaRPr sz="1800">
              <a:solidFill>
                <a:schemeClr val="dk1"/>
              </a:solidFill>
              <a:latin typeface="Calibri"/>
              <a:ea typeface="Calibri"/>
              <a:cs typeface="Calibri"/>
              <a:sym typeface="Calibri"/>
            </a:endParaRPr>
          </a:p>
        </p:txBody>
      </p:sp>
      <p:sp>
        <p:nvSpPr>
          <p:cNvPr id="477" name="Google Shape;477;p24"/>
          <p:cNvSpPr/>
          <p:nvPr/>
        </p:nvSpPr>
        <p:spPr>
          <a:xfrm>
            <a:off x="9382125" y="3168997"/>
            <a:ext cx="7858125" cy="5029200"/>
          </a:xfrm>
          <a:prstGeom prst="roundRect">
            <a:avLst>
              <a:gd fmla="val 3409"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478" name="Google Shape;478;p24"/>
          <p:cNvPicPr preferRelativeResize="0"/>
          <p:nvPr/>
        </p:nvPicPr>
        <p:blipFill rotWithShape="1">
          <a:blip r:embed="rId4">
            <a:alphaModFix/>
          </a:blip>
          <a:srcRect b="0" l="0" r="0" t="0"/>
          <a:stretch/>
        </p:blipFill>
        <p:spPr>
          <a:xfrm>
            <a:off x="9610725" y="4329708"/>
            <a:ext cx="7400925" cy="2707630"/>
          </a:xfrm>
          <a:prstGeom prst="rect">
            <a:avLst/>
          </a:prstGeom>
          <a:noFill/>
          <a:ln>
            <a:noFill/>
          </a:ln>
        </p:spPr>
      </p:pic>
      <p:sp>
        <p:nvSpPr>
          <p:cNvPr id="479" name="Google Shape;479;p24"/>
          <p:cNvSpPr/>
          <p:nvPr/>
        </p:nvSpPr>
        <p:spPr>
          <a:xfrm>
            <a:off x="8989219" y="8350597"/>
            <a:ext cx="8643938" cy="358080"/>
          </a:xfrm>
          <a:prstGeom prst="rect">
            <a:avLst/>
          </a:prstGeom>
          <a:noFill/>
          <a:ln>
            <a:noFill/>
          </a:ln>
        </p:spPr>
        <p:txBody>
          <a:bodyPr anchorCtr="0" anchor="t" bIns="25400" lIns="25400" spcFirstLastPara="1" rIns="25400" wrap="square" tIns="25400">
            <a:noAutofit/>
          </a:bodyPr>
          <a:lstStyle/>
          <a:p>
            <a:pPr indent="0" lvl="0" marL="0" marR="0" rtl="0" algn="ctr">
              <a:lnSpc>
                <a:spcPct val="120000"/>
              </a:lnSpc>
              <a:spcBef>
                <a:spcPts val="0"/>
              </a:spcBef>
              <a:spcAft>
                <a:spcPts val="0"/>
              </a:spcAft>
              <a:buClr>
                <a:srgbClr val="5B6B80"/>
              </a:buClr>
              <a:buSzPts val="1800"/>
              <a:buFont typeface="Arial"/>
              <a:buNone/>
            </a:pPr>
            <a:r>
              <a:rPr lang="en-US" sz="1800">
                <a:solidFill>
                  <a:srgbClr val="5B6B80"/>
                </a:solidFill>
                <a:latin typeface="Arial"/>
                <a:ea typeface="Arial"/>
                <a:cs typeface="Arial"/>
                <a:sym typeface="Arial"/>
              </a:rPr>
              <a:t>Figure 12 — graphe de lignage dbt (Livrable 4)</a:t>
            </a:r>
            <a:endParaRPr sz="1800">
              <a:solidFill>
                <a:schemeClr val="dk1"/>
              </a:solidFill>
              <a:latin typeface="Calibri"/>
              <a:ea typeface="Calibri"/>
              <a:cs typeface="Calibri"/>
              <a:sym typeface="Calibri"/>
            </a:endParaRPr>
          </a:p>
        </p:txBody>
      </p:sp>
      <p:sp>
        <p:nvSpPr>
          <p:cNvPr id="480" name="Google Shape;480;p24"/>
          <p:cNvSpPr/>
          <p:nvPr/>
        </p:nvSpPr>
        <p:spPr>
          <a:xfrm>
            <a:off x="16367760" y="9648825"/>
            <a:ext cx="914400"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5B6B80"/>
              </a:buClr>
              <a:buSzPts val="1800"/>
              <a:buFont typeface="Courier New"/>
              <a:buNone/>
            </a:pPr>
            <a:r>
              <a:rPr lang="en-US" sz="1800">
                <a:solidFill>
                  <a:srgbClr val="5B6B80"/>
                </a:solidFill>
                <a:latin typeface="Courier New"/>
                <a:ea typeface="Courier New"/>
                <a:cs typeface="Courier New"/>
                <a:sym typeface="Courier New"/>
              </a:rPr>
              <a:t>23/41</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5" name="Shape 485"/>
        <p:cNvGrpSpPr/>
        <p:nvPr/>
      </p:nvGrpSpPr>
      <p:grpSpPr>
        <a:xfrm>
          <a:off x="0" y="0"/>
          <a:ext cx="0" cy="0"/>
          <a:chOff x="0" y="0"/>
          <a:chExt cx="0" cy="0"/>
        </a:xfrm>
      </p:grpSpPr>
      <p:sp>
        <p:nvSpPr>
          <p:cNvPr id="486" name="Google Shape;486;p25"/>
          <p:cNvSpPr/>
          <p:nvPr/>
        </p:nvSpPr>
        <p:spPr>
          <a:xfrm>
            <a:off x="1047750" y="914400"/>
            <a:ext cx="17811750"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1950"/>
              <a:buFont typeface="Courier New"/>
              <a:buNone/>
            </a:pPr>
            <a:r>
              <a:rPr b="1" lang="en-US" sz="1950">
                <a:solidFill>
                  <a:srgbClr val="0B7A6F"/>
                </a:solidFill>
                <a:latin typeface="Courier New"/>
                <a:ea typeface="Courier New"/>
                <a:cs typeface="Courier New"/>
                <a:sym typeface="Courier New"/>
              </a:rPr>
              <a:t>DÉMONSTRATION</a:t>
            </a:r>
            <a:endParaRPr sz="1950">
              <a:solidFill>
                <a:schemeClr val="dk1"/>
              </a:solidFill>
              <a:latin typeface="Calibri"/>
              <a:ea typeface="Calibri"/>
              <a:cs typeface="Calibri"/>
              <a:sym typeface="Calibri"/>
            </a:endParaRPr>
          </a:p>
        </p:txBody>
      </p:sp>
      <p:sp>
        <p:nvSpPr>
          <p:cNvPr id="487" name="Google Shape;487;p25"/>
          <p:cNvSpPr/>
          <p:nvPr/>
        </p:nvSpPr>
        <p:spPr>
          <a:xfrm>
            <a:off x="1047750" y="1419225"/>
            <a:ext cx="17811750" cy="5524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3450"/>
              <a:buFont typeface="Arial"/>
              <a:buNone/>
            </a:pPr>
            <a:r>
              <a:rPr b="1" lang="en-US" sz="3450">
                <a:solidFill>
                  <a:srgbClr val="16212B"/>
                </a:solidFill>
                <a:latin typeface="Arial"/>
                <a:ea typeface="Arial"/>
                <a:cs typeface="Arial"/>
                <a:sym typeface="Arial"/>
              </a:rPr>
              <a:t>Data Contract : qualité « shift-left »</a:t>
            </a:r>
            <a:endParaRPr sz="3450">
              <a:solidFill>
                <a:schemeClr val="dk1"/>
              </a:solidFill>
              <a:latin typeface="Calibri"/>
              <a:ea typeface="Calibri"/>
              <a:cs typeface="Calibri"/>
              <a:sym typeface="Calibri"/>
            </a:endParaRPr>
          </a:p>
        </p:txBody>
      </p:sp>
      <p:sp>
        <p:nvSpPr>
          <p:cNvPr id="488" name="Google Shape;488;p25"/>
          <p:cNvSpPr/>
          <p:nvPr/>
        </p:nvSpPr>
        <p:spPr>
          <a:xfrm>
            <a:off x="1047750" y="3168997"/>
            <a:ext cx="7858125" cy="5029200"/>
          </a:xfrm>
          <a:prstGeom prst="roundRect">
            <a:avLst>
              <a:gd fmla="val 3409"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489" name="Google Shape;489;p25"/>
          <p:cNvPicPr preferRelativeResize="0"/>
          <p:nvPr/>
        </p:nvPicPr>
        <p:blipFill rotWithShape="1">
          <a:blip r:embed="rId3">
            <a:alphaModFix/>
          </a:blip>
          <a:srcRect b="0" l="-14" r="-14" t="0"/>
          <a:stretch/>
        </p:blipFill>
        <p:spPr>
          <a:xfrm>
            <a:off x="1276350" y="5424636"/>
            <a:ext cx="7400925" cy="517922"/>
          </a:xfrm>
          <a:prstGeom prst="rect">
            <a:avLst/>
          </a:prstGeom>
          <a:noFill/>
          <a:ln>
            <a:noFill/>
          </a:ln>
        </p:spPr>
      </p:pic>
      <p:sp>
        <p:nvSpPr>
          <p:cNvPr id="490" name="Google Shape;490;p25"/>
          <p:cNvSpPr/>
          <p:nvPr/>
        </p:nvSpPr>
        <p:spPr>
          <a:xfrm>
            <a:off x="654844" y="8350597"/>
            <a:ext cx="8643938" cy="358080"/>
          </a:xfrm>
          <a:prstGeom prst="rect">
            <a:avLst/>
          </a:prstGeom>
          <a:noFill/>
          <a:ln>
            <a:noFill/>
          </a:ln>
        </p:spPr>
        <p:txBody>
          <a:bodyPr anchorCtr="0" anchor="t" bIns="25400" lIns="25400" spcFirstLastPara="1" rIns="25400" wrap="square" tIns="25400">
            <a:noAutofit/>
          </a:bodyPr>
          <a:lstStyle/>
          <a:p>
            <a:pPr indent="0" lvl="0" marL="0" marR="0" rtl="0" algn="ctr">
              <a:lnSpc>
                <a:spcPct val="120000"/>
              </a:lnSpc>
              <a:spcBef>
                <a:spcPts val="0"/>
              </a:spcBef>
              <a:spcAft>
                <a:spcPts val="0"/>
              </a:spcAft>
              <a:buClr>
                <a:srgbClr val="5B6B80"/>
              </a:buClr>
              <a:buSzPts val="1800"/>
              <a:buFont typeface="Arial"/>
              <a:buNone/>
            </a:pPr>
            <a:r>
              <a:rPr lang="en-US" sz="1800">
                <a:solidFill>
                  <a:srgbClr val="5B6B80"/>
                </a:solidFill>
                <a:latin typeface="Arial"/>
                <a:ea typeface="Arial"/>
                <a:cs typeface="Arial"/>
                <a:sym typeface="Arial"/>
              </a:rPr>
              <a:t>Figure 13 — validation shift-left du schéma avant chargement en base</a:t>
            </a:r>
            <a:endParaRPr sz="1800">
              <a:solidFill>
                <a:schemeClr val="dk1"/>
              </a:solidFill>
              <a:latin typeface="Calibri"/>
              <a:ea typeface="Calibri"/>
              <a:cs typeface="Calibri"/>
              <a:sym typeface="Calibri"/>
            </a:endParaRPr>
          </a:p>
        </p:txBody>
      </p:sp>
      <p:sp>
        <p:nvSpPr>
          <p:cNvPr id="491" name="Google Shape;491;p25"/>
          <p:cNvSpPr/>
          <p:nvPr/>
        </p:nvSpPr>
        <p:spPr>
          <a:xfrm>
            <a:off x="9382125" y="3168997"/>
            <a:ext cx="7858125" cy="5029200"/>
          </a:xfrm>
          <a:prstGeom prst="roundRect">
            <a:avLst>
              <a:gd fmla="val 3409"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492" name="Google Shape;492;p25"/>
          <p:cNvPicPr preferRelativeResize="0"/>
          <p:nvPr/>
        </p:nvPicPr>
        <p:blipFill rotWithShape="1">
          <a:blip r:embed="rId4">
            <a:alphaModFix/>
          </a:blip>
          <a:srcRect b="0" l="-2" r="-2" t="0"/>
          <a:stretch/>
        </p:blipFill>
        <p:spPr>
          <a:xfrm>
            <a:off x="9610725" y="3779937"/>
            <a:ext cx="7400925" cy="3807321"/>
          </a:xfrm>
          <a:prstGeom prst="rect">
            <a:avLst/>
          </a:prstGeom>
          <a:noFill/>
          <a:ln>
            <a:noFill/>
          </a:ln>
        </p:spPr>
      </p:pic>
      <p:sp>
        <p:nvSpPr>
          <p:cNvPr id="493" name="Google Shape;493;p25"/>
          <p:cNvSpPr/>
          <p:nvPr/>
        </p:nvSpPr>
        <p:spPr>
          <a:xfrm>
            <a:off x="8989219" y="8350597"/>
            <a:ext cx="8643938" cy="358080"/>
          </a:xfrm>
          <a:prstGeom prst="rect">
            <a:avLst/>
          </a:prstGeom>
          <a:noFill/>
          <a:ln>
            <a:noFill/>
          </a:ln>
        </p:spPr>
        <p:txBody>
          <a:bodyPr anchorCtr="0" anchor="t" bIns="25400" lIns="25400" spcFirstLastPara="1" rIns="25400" wrap="square" tIns="25400">
            <a:noAutofit/>
          </a:bodyPr>
          <a:lstStyle/>
          <a:p>
            <a:pPr indent="0" lvl="0" marL="0" marR="0" rtl="0" algn="ctr">
              <a:lnSpc>
                <a:spcPct val="120000"/>
              </a:lnSpc>
              <a:spcBef>
                <a:spcPts val="0"/>
              </a:spcBef>
              <a:spcAft>
                <a:spcPts val="0"/>
              </a:spcAft>
              <a:buClr>
                <a:srgbClr val="5B6B80"/>
              </a:buClr>
              <a:buSzPts val="1800"/>
              <a:buFont typeface="Arial"/>
              <a:buNone/>
            </a:pPr>
            <a:r>
              <a:rPr lang="en-US" sz="1800">
                <a:solidFill>
                  <a:srgbClr val="5B6B80"/>
                </a:solidFill>
                <a:latin typeface="Arial"/>
                <a:ea typeface="Arial"/>
                <a:cs typeface="Arial"/>
                <a:sym typeface="Arial"/>
              </a:rPr>
              <a:t>Figure 14 — extrait de </a:t>
            </a:r>
            <a:r>
              <a:rPr lang="en-US" sz="1800">
                <a:solidFill>
                  <a:srgbClr val="0B7A6F"/>
                </a:solidFill>
                <a:latin typeface="Courier New"/>
                <a:ea typeface="Courier New"/>
                <a:cs typeface="Courier New"/>
                <a:sym typeface="Courier New"/>
              </a:rPr>
              <a:t>docs/data/data_contract.yaml</a:t>
            </a:r>
            <a:endParaRPr sz="1800">
              <a:solidFill>
                <a:schemeClr val="dk1"/>
              </a:solidFill>
              <a:latin typeface="Calibri"/>
              <a:ea typeface="Calibri"/>
              <a:cs typeface="Calibri"/>
              <a:sym typeface="Calibri"/>
            </a:endParaRPr>
          </a:p>
        </p:txBody>
      </p:sp>
      <p:sp>
        <p:nvSpPr>
          <p:cNvPr id="494" name="Google Shape;494;p25"/>
          <p:cNvSpPr/>
          <p:nvPr/>
        </p:nvSpPr>
        <p:spPr>
          <a:xfrm>
            <a:off x="16367760" y="9648825"/>
            <a:ext cx="914400"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5B6B80"/>
              </a:buClr>
              <a:buSzPts val="1800"/>
              <a:buFont typeface="Courier New"/>
              <a:buNone/>
            </a:pPr>
            <a:r>
              <a:rPr lang="en-US" sz="1800">
                <a:solidFill>
                  <a:srgbClr val="5B6B80"/>
                </a:solidFill>
                <a:latin typeface="Courier New"/>
                <a:ea typeface="Courier New"/>
                <a:cs typeface="Courier New"/>
                <a:sym typeface="Courier New"/>
              </a:rPr>
              <a:t>24/41</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9" name="Shape 499"/>
        <p:cNvGrpSpPr/>
        <p:nvPr/>
      </p:nvGrpSpPr>
      <p:grpSpPr>
        <a:xfrm>
          <a:off x="0" y="0"/>
          <a:ext cx="0" cy="0"/>
          <a:chOff x="0" y="0"/>
          <a:chExt cx="0" cy="0"/>
        </a:xfrm>
      </p:grpSpPr>
      <p:sp>
        <p:nvSpPr>
          <p:cNvPr id="500" name="Google Shape;500;p26"/>
          <p:cNvSpPr/>
          <p:nvPr/>
        </p:nvSpPr>
        <p:spPr>
          <a:xfrm>
            <a:off x="1047750" y="914400"/>
            <a:ext cx="17811750"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1950">
                <a:solidFill>
                  <a:srgbClr val="0B7A6F"/>
                </a:solidFill>
                <a:latin typeface="Courier New"/>
                <a:ea typeface="Courier New"/>
                <a:cs typeface="Courier New"/>
                <a:sym typeface="Courier New"/>
              </a:rPr>
              <a:t>CHAPITRE 3 — MA CONTRIBUTION</a:t>
            </a:r>
            <a:endParaRPr sz="1950">
              <a:solidFill>
                <a:schemeClr val="dk1"/>
              </a:solidFill>
              <a:latin typeface="Calibri"/>
              <a:ea typeface="Calibri"/>
              <a:cs typeface="Calibri"/>
              <a:sym typeface="Calibri"/>
            </a:endParaRPr>
          </a:p>
        </p:txBody>
      </p:sp>
      <p:sp>
        <p:nvSpPr>
          <p:cNvPr id="501" name="Google Shape;501;p26"/>
          <p:cNvSpPr/>
          <p:nvPr/>
        </p:nvSpPr>
        <p:spPr>
          <a:xfrm>
            <a:off x="1047750" y="1419225"/>
            <a:ext cx="17811750" cy="5524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3450">
                <a:solidFill>
                  <a:srgbClr val="16212B"/>
                </a:solidFill>
                <a:latin typeface="Arial"/>
                <a:ea typeface="Arial"/>
                <a:cs typeface="Arial"/>
                <a:sym typeface="Arial"/>
              </a:rPr>
              <a:t>Aymane El Badry — Tests &amp; gouvernance des données</a:t>
            </a:r>
            <a:endParaRPr sz="3450">
              <a:solidFill>
                <a:schemeClr val="dk1"/>
              </a:solidFill>
              <a:latin typeface="Calibri"/>
              <a:ea typeface="Calibri"/>
              <a:cs typeface="Calibri"/>
              <a:sym typeface="Calibri"/>
            </a:endParaRPr>
          </a:p>
        </p:txBody>
      </p:sp>
      <p:sp>
        <p:nvSpPr>
          <p:cNvPr id="502" name="Google Shape;502;p26"/>
          <p:cNvSpPr/>
          <p:nvPr/>
        </p:nvSpPr>
        <p:spPr>
          <a:xfrm>
            <a:off x="1047750" y="3300000"/>
            <a:ext cx="9880283" cy="38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2000">
                <a:solidFill>
                  <a:srgbClr val="0B7A6F"/>
                </a:solidFill>
                <a:latin typeface="Arial"/>
                <a:ea typeface="Arial"/>
                <a:cs typeface="Arial"/>
                <a:sym typeface="Arial"/>
              </a:rPr>
              <a:t>MA CONTRIBUTION PERSONNELLE</a:t>
            </a:r>
            <a:endParaRPr sz="2000">
              <a:solidFill>
                <a:schemeClr val="dk1"/>
              </a:solidFill>
              <a:latin typeface="Calibri"/>
              <a:ea typeface="Calibri"/>
              <a:cs typeface="Calibri"/>
              <a:sym typeface="Calibri"/>
            </a:endParaRPr>
          </a:p>
        </p:txBody>
      </p:sp>
      <p:sp>
        <p:nvSpPr>
          <p:cNvPr id="503" name="Google Shape;503;p26"/>
          <p:cNvSpPr/>
          <p:nvPr/>
        </p:nvSpPr>
        <p:spPr>
          <a:xfrm>
            <a:off x="1047750" y="3700000"/>
            <a:ext cx="9251537" cy="190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0" lang="en-US" sz="2000">
                <a:solidFill>
                  <a:srgbClr val="16212B"/>
                </a:solidFill>
                <a:latin typeface="Arial"/>
                <a:ea typeface="Arial"/>
                <a:cs typeface="Arial"/>
                <a:sym typeface="Arial"/>
              </a:rPr>
              <a:t>Tests dbt génériques et métier (macros/generic_tests.sql, assert_amount_non_negative.sql), Data Contract (docs/data/data_contract.yaml), lignage et rapport qualité (data_lineage.md, data_quality_report.md).</a:t>
            </a:r>
            <a:endParaRPr sz="2000">
              <a:solidFill>
                <a:schemeClr val="dk1"/>
              </a:solidFill>
              <a:latin typeface="Calibri"/>
              <a:ea typeface="Calibri"/>
              <a:cs typeface="Calibri"/>
              <a:sym typeface="Calibri"/>
            </a:endParaRPr>
          </a:p>
        </p:txBody>
      </p:sp>
      <p:sp>
        <p:nvSpPr>
          <p:cNvPr id="504" name="Google Shape;504;p26"/>
          <p:cNvSpPr/>
          <p:nvPr/>
        </p:nvSpPr>
        <p:spPr>
          <a:xfrm>
            <a:off x="1047750" y="5900000"/>
            <a:ext cx="9880283" cy="38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2000">
                <a:solidFill>
                  <a:srgbClr val="0B7A6F"/>
                </a:solidFill>
                <a:latin typeface="Arial"/>
                <a:ea typeface="Arial"/>
                <a:cs typeface="Arial"/>
                <a:sym typeface="Arial"/>
              </a:rPr>
              <a:t>RÔLE DANS LE PIPELINE GLOBAL</a:t>
            </a:r>
            <a:endParaRPr sz="2000">
              <a:solidFill>
                <a:schemeClr val="dk1"/>
              </a:solidFill>
              <a:latin typeface="Calibri"/>
              <a:ea typeface="Calibri"/>
              <a:cs typeface="Calibri"/>
              <a:sym typeface="Calibri"/>
            </a:endParaRPr>
          </a:p>
        </p:txBody>
      </p:sp>
      <p:sp>
        <p:nvSpPr>
          <p:cNvPr id="505" name="Google Shape;505;p26"/>
          <p:cNvSpPr/>
          <p:nvPr/>
        </p:nvSpPr>
        <p:spPr>
          <a:xfrm>
            <a:off x="1047750" y="6300000"/>
            <a:ext cx="9251537" cy="110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0" lang="en-US" sz="2000">
                <a:solidFill>
                  <a:srgbClr val="16212B"/>
                </a:solidFill>
                <a:latin typeface="Arial"/>
                <a:ea typeface="Arial"/>
                <a:cs typeface="Arial"/>
                <a:sym typeface="Arial"/>
              </a:rPr>
              <a:t>Garantit que rien de non conforme ne franchit les étapes de transformation : 27 tests de schéma, de contenu et de règles métier exécutés à chaque run dbt, avec traçabilité du lignage.</a:t>
            </a:r>
            <a:endParaRPr sz="2000">
              <a:solidFill>
                <a:schemeClr val="dk1"/>
              </a:solidFill>
              <a:latin typeface="Calibri"/>
              <a:ea typeface="Calibri"/>
              <a:cs typeface="Calibri"/>
              <a:sym typeface="Calibri"/>
            </a:endParaRPr>
          </a:p>
        </p:txBody>
      </p:sp>
      <p:sp>
        <p:nvSpPr>
          <p:cNvPr id="506" name="Google Shape;506;p26"/>
          <p:cNvSpPr/>
          <p:nvPr/>
        </p:nvSpPr>
        <p:spPr>
          <a:xfrm>
            <a:off x="10601325" y="3300000"/>
            <a:ext cx="7302818" cy="38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2000">
                <a:solidFill>
                  <a:srgbClr val="0B7A6F"/>
                </a:solidFill>
                <a:latin typeface="Arial"/>
                <a:ea typeface="Arial"/>
                <a:cs typeface="Arial"/>
                <a:sym typeface="Arial"/>
              </a:rPr>
              <a:t>DÉCISION TECHNIQUE CLÉ</a:t>
            </a:r>
            <a:endParaRPr sz="2000">
              <a:solidFill>
                <a:schemeClr val="dk1"/>
              </a:solidFill>
              <a:latin typeface="Calibri"/>
              <a:ea typeface="Calibri"/>
              <a:cs typeface="Calibri"/>
              <a:sym typeface="Calibri"/>
            </a:endParaRPr>
          </a:p>
        </p:txBody>
      </p:sp>
      <p:sp>
        <p:nvSpPr>
          <p:cNvPr id="507" name="Google Shape;507;p26"/>
          <p:cNvSpPr/>
          <p:nvPr/>
        </p:nvSpPr>
        <p:spPr>
          <a:xfrm>
            <a:off x="10601325" y="3700000"/>
            <a:ext cx="7302818" cy="190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0" lang="en-US" sz="2000">
                <a:solidFill>
                  <a:srgbClr val="16212B"/>
                </a:solidFill>
                <a:latin typeface="Arial"/>
                <a:ea typeface="Arial"/>
                <a:cs typeface="Arial"/>
                <a:sym typeface="Arial"/>
              </a:rPr>
              <a:t>Formaliser les règles de qualité dans un Data Contract versionné (docs/data/data_contract.yaml) plutôt que dans la tête des développeurs — un contrat vérifiable automatiquement, pas une convention orale qui se perd.</a:t>
            </a:r>
            <a:endParaRPr sz="2000">
              <a:solidFill>
                <a:schemeClr val="dk1"/>
              </a:solidFill>
              <a:latin typeface="Calibri"/>
              <a:ea typeface="Calibri"/>
              <a:cs typeface="Calibri"/>
              <a:sym typeface="Calibri"/>
            </a:endParaRPr>
          </a:p>
        </p:txBody>
      </p:sp>
      <p:sp>
        <p:nvSpPr>
          <p:cNvPr id="508" name="Google Shape;508;p26"/>
          <p:cNvSpPr/>
          <p:nvPr/>
        </p:nvSpPr>
        <p:spPr>
          <a:xfrm>
            <a:off x="10601325" y="5900000"/>
            <a:ext cx="7302818" cy="38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2000">
                <a:solidFill>
                  <a:srgbClr val="0B7A6F"/>
                </a:solidFill>
                <a:latin typeface="Arial"/>
                <a:ea typeface="Arial"/>
                <a:cs typeface="Arial"/>
                <a:sym typeface="Arial"/>
              </a:rPr>
              <a:t>RÔLE AGILE</a:t>
            </a:r>
            <a:endParaRPr sz="2000">
              <a:solidFill>
                <a:schemeClr val="dk1"/>
              </a:solidFill>
              <a:latin typeface="Calibri"/>
              <a:ea typeface="Calibri"/>
              <a:cs typeface="Calibri"/>
              <a:sym typeface="Calibri"/>
            </a:endParaRPr>
          </a:p>
        </p:txBody>
      </p:sp>
      <p:sp>
        <p:nvSpPr>
          <p:cNvPr id="509" name="Google Shape;509;p26"/>
          <p:cNvSpPr/>
          <p:nvPr/>
        </p:nvSpPr>
        <p:spPr>
          <a:xfrm>
            <a:off x="10601325" y="6300000"/>
            <a:ext cx="7302818" cy="110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0" lang="en-US" sz="2000">
                <a:solidFill>
                  <a:srgbClr val="16212B"/>
                </a:solidFill>
                <a:latin typeface="Arial"/>
                <a:ea typeface="Arial"/>
                <a:cs typeface="Arial"/>
                <a:sym typeface="Arial"/>
              </a:rPr>
              <a:t>ML Engineer — gouvernance et fiabilité des données en amont du modèle, condition de confiance avant tout entraînement.</a:t>
            </a:r>
            <a:endParaRPr sz="2000">
              <a:solidFill>
                <a:schemeClr val="dk1"/>
              </a:solidFill>
              <a:latin typeface="Calibri"/>
              <a:ea typeface="Calibri"/>
              <a:cs typeface="Calibri"/>
              <a:sym typeface="Calibri"/>
            </a:endParaRPr>
          </a:p>
        </p:txBody>
      </p:sp>
      <p:sp>
        <p:nvSpPr>
          <p:cNvPr id="510" name="Google Shape;510;p26"/>
          <p:cNvSpPr/>
          <p:nvPr/>
        </p:nvSpPr>
        <p:spPr>
          <a:xfrm>
            <a:off x="16367760" y="9648825"/>
            <a:ext cx="914400"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0" lang="en-US" sz="1800">
                <a:solidFill>
                  <a:srgbClr val="5B6B80"/>
                </a:solidFill>
                <a:latin typeface="Courier New"/>
                <a:ea typeface="Courier New"/>
                <a:cs typeface="Courier New"/>
                <a:sym typeface="Courier New"/>
              </a:rPr>
              <a:t>25/41</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5" name="Shape 515"/>
        <p:cNvGrpSpPr/>
        <p:nvPr/>
      </p:nvGrpSpPr>
      <p:grpSpPr>
        <a:xfrm>
          <a:off x="0" y="0"/>
          <a:ext cx="0" cy="0"/>
          <a:chOff x="0" y="0"/>
          <a:chExt cx="0" cy="0"/>
        </a:xfrm>
      </p:grpSpPr>
      <p:sp>
        <p:nvSpPr>
          <p:cNvPr id="516" name="Google Shape;516;p27"/>
          <p:cNvSpPr txBox="1"/>
          <p:nvPr/>
        </p:nvSpPr>
        <p:spPr>
          <a:xfrm>
            <a:off x="1047720" y="914400"/>
            <a:ext cx="17811598" cy="371246"/>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950"/>
              <a:buFont typeface="Courier New"/>
              <a:buNone/>
            </a:pPr>
            <a:r>
              <a:rPr b="1" lang="en-US" sz="1950">
                <a:solidFill>
                  <a:srgbClr val="0B7A6F"/>
                </a:solidFill>
                <a:latin typeface="Courier New"/>
                <a:ea typeface="Courier New"/>
                <a:cs typeface="Courier New"/>
                <a:sym typeface="Courier New"/>
              </a:rPr>
              <a:t>CHAPITRE 7</a:t>
            </a:r>
            <a:endParaRPr/>
          </a:p>
        </p:txBody>
      </p:sp>
      <p:sp>
        <p:nvSpPr>
          <p:cNvPr id="517" name="Google Shape;517;p27"/>
          <p:cNvSpPr txBox="1"/>
          <p:nvPr/>
        </p:nvSpPr>
        <p:spPr>
          <a:xfrm>
            <a:off x="1047720" y="1419149"/>
            <a:ext cx="17811598" cy="55229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3450"/>
              <a:buFont typeface="Arial"/>
              <a:buNone/>
            </a:pPr>
            <a:r>
              <a:rPr b="1" lang="en-US" sz="3450">
                <a:solidFill>
                  <a:srgbClr val="16212B"/>
                </a:solidFill>
                <a:latin typeface="Arial"/>
                <a:ea typeface="Arial"/>
                <a:cs typeface="Arial"/>
                <a:sym typeface="Arial"/>
              </a:rPr>
              <a:t>Retour d’expérience : ce que la boucle réelle a révélé</a:t>
            </a:r>
            <a:endParaRPr/>
          </a:p>
        </p:txBody>
      </p:sp>
      <p:sp>
        <p:nvSpPr>
          <p:cNvPr id="518" name="Google Shape;518;p27"/>
          <p:cNvSpPr txBox="1"/>
          <p:nvPr/>
        </p:nvSpPr>
        <p:spPr>
          <a:xfrm>
            <a:off x="16367760" y="9646920"/>
            <a:ext cx="914400" cy="333756"/>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B6B80"/>
              </a:buClr>
              <a:buSzPts val="1800"/>
              <a:buFont typeface="Courier New"/>
              <a:buNone/>
            </a:pPr>
            <a:r>
              <a:rPr lang="en-US" sz="1800">
                <a:solidFill>
                  <a:srgbClr val="5B6B80"/>
                </a:solidFill>
                <a:latin typeface="Courier New"/>
                <a:ea typeface="Courier New"/>
                <a:cs typeface="Courier New"/>
                <a:sym typeface="Courier New"/>
              </a:rPr>
              <a:t>26/41</a:t>
            </a:r>
            <a:endParaRPr/>
          </a:p>
        </p:txBody>
      </p:sp>
      <p:sp>
        <p:nvSpPr>
          <p:cNvPr id="519" name="Google Shape;519;p27"/>
          <p:cNvSpPr/>
          <p:nvPr/>
        </p:nvSpPr>
        <p:spPr>
          <a:xfrm>
            <a:off x="1047902" y="2423160"/>
            <a:ext cx="5212080" cy="2834640"/>
          </a:xfrm>
          <a:prstGeom prst="roundRect">
            <a:avLst>
              <a:gd fmla="val 4000" name="adj"/>
            </a:avLst>
          </a:prstGeom>
          <a:solidFill>
            <a:srgbClr val="FBEAEA"/>
          </a:solidFill>
          <a:ln>
            <a:noFill/>
          </a:ln>
        </p:spPr>
        <p:txBody>
          <a:bodyPr anchorCtr="0" anchor="t" bIns="114300" lIns="228600" spcFirstLastPara="1" rIns="228600" wrap="square" tIns="114300">
            <a:noAutofit/>
          </a:bodyPr>
          <a:lstStyle/>
          <a:p>
            <a:pPr indent="0" lvl="0" marL="0" marR="0" rtl="0" algn="l">
              <a:spcBef>
                <a:spcPts val="0"/>
              </a:spcBef>
              <a:spcAft>
                <a:spcPts val="0"/>
              </a:spcAft>
              <a:buClr>
                <a:srgbClr val="B03A2E"/>
              </a:buClr>
              <a:buSzPts val="1400"/>
              <a:buFont typeface="Courier New"/>
              <a:buNone/>
            </a:pPr>
            <a:r>
              <a:rPr b="1" lang="en-US" sz="1400">
                <a:solidFill>
                  <a:srgbClr val="B03A2E"/>
                </a:solidFill>
                <a:latin typeface="Courier New"/>
                <a:ea typeface="Courier New"/>
                <a:cs typeface="Courier New"/>
                <a:sym typeface="Courier New"/>
              </a:rPr>
              <a:t>DÉCOUVERT À L’EXÉCUTION RÉELLE</a:t>
            </a:r>
            <a:endParaRPr/>
          </a:p>
          <a:p>
            <a:pPr indent="0" lvl="0" marL="0" marR="0" rtl="0" algn="l">
              <a:spcBef>
                <a:spcPts val="500"/>
              </a:spcBef>
              <a:spcAft>
                <a:spcPts val="0"/>
              </a:spcAft>
              <a:buClr>
                <a:srgbClr val="16212B"/>
              </a:buClr>
              <a:buSzPts val="2400"/>
              <a:buFont typeface="Arial"/>
              <a:buNone/>
            </a:pPr>
            <a:r>
              <a:rPr b="1" lang="en-US" sz="2400">
                <a:solidFill>
                  <a:srgbClr val="16212B"/>
                </a:solidFill>
                <a:latin typeface="Arial"/>
                <a:ea typeface="Arial"/>
                <a:cs typeface="Arial"/>
                <a:sym typeface="Arial"/>
              </a:rPr>
              <a:t>Config DVC invalide</a:t>
            </a:r>
            <a:endParaRPr/>
          </a:p>
          <a:p>
            <a:pPr indent="0" lvl="0" marL="0" marR="0" rtl="0" algn="l">
              <a:lnSpc>
                <a:spcPct val="112000"/>
              </a:lnSpc>
              <a:spcBef>
                <a:spcPts val="500"/>
              </a:spcBef>
              <a:spcAft>
                <a:spcPts val="0"/>
              </a:spcAft>
              <a:buClr>
                <a:srgbClr val="16212B"/>
              </a:buClr>
              <a:buSzPts val="1850"/>
              <a:buFont typeface="Arial"/>
              <a:buNone/>
            </a:pPr>
            <a:r>
              <a:rPr lang="en-US" sz="1850">
                <a:solidFill>
                  <a:srgbClr val="16212B"/>
                </a:solidFill>
                <a:latin typeface="Arial"/>
                <a:ea typeface="Arial"/>
                <a:cs typeface="Arial"/>
                <a:sym typeface="Arial"/>
              </a:rPr>
              <a:t>Le printf d’une ligne qui écrivait .dvc/config.local était mal échappé : DVC rejetait le fichier. Remplacé par un vrai script shell (docker/platform-entrypoint.sh).</a:t>
            </a:r>
            <a:endParaRPr/>
          </a:p>
        </p:txBody>
      </p:sp>
      <p:sp>
        <p:nvSpPr>
          <p:cNvPr id="520" name="Google Shape;520;p27"/>
          <p:cNvSpPr/>
          <p:nvPr/>
        </p:nvSpPr>
        <p:spPr>
          <a:xfrm>
            <a:off x="6534302" y="2423160"/>
            <a:ext cx="5212080" cy="2834640"/>
          </a:xfrm>
          <a:prstGeom prst="roundRect">
            <a:avLst>
              <a:gd fmla="val 4000" name="adj"/>
            </a:avLst>
          </a:prstGeom>
          <a:solidFill>
            <a:srgbClr val="FBEAEA"/>
          </a:solidFill>
          <a:ln>
            <a:noFill/>
          </a:ln>
        </p:spPr>
        <p:txBody>
          <a:bodyPr anchorCtr="0" anchor="t" bIns="114300" lIns="228600" spcFirstLastPara="1" rIns="228600" wrap="square" tIns="114300">
            <a:noAutofit/>
          </a:bodyPr>
          <a:lstStyle/>
          <a:p>
            <a:pPr indent="0" lvl="0" marL="0" marR="0" rtl="0" algn="l">
              <a:spcBef>
                <a:spcPts val="0"/>
              </a:spcBef>
              <a:spcAft>
                <a:spcPts val="0"/>
              </a:spcAft>
              <a:buClr>
                <a:srgbClr val="B03A2E"/>
              </a:buClr>
              <a:buSzPts val="1400"/>
              <a:buFont typeface="Courier New"/>
              <a:buNone/>
            </a:pPr>
            <a:r>
              <a:rPr b="1" lang="en-US" sz="1400">
                <a:solidFill>
                  <a:srgbClr val="B03A2E"/>
                </a:solidFill>
                <a:latin typeface="Courier New"/>
                <a:ea typeface="Courier New"/>
                <a:cs typeface="Courier New"/>
                <a:sym typeface="Courier New"/>
              </a:rPr>
              <a:t>DÉCOUVERT À L’EXÉCUTION RÉELLE</a:t>
            </a:r>
            <a:endParaRPr/>
          </a:p>
          <a:p>
            <a:pPr indent="0" lvl="0" marL="0" marR="0" rtl="0" algn="l">
              <a:spcBef>
                <a:spcPts val="500"/>
              </a:spcBef>
              <a:spcAft>
                <a:spcPts val="0"/>
              </a:spcAft>
              <a:buClr>
                <a:srgbClr val="16212B"/>
              </a:buClr>
              <a:buSzPts val="2400"/>
              <a:buFont typeface="Arial"/>
              <a:buNone/>
            </a:pPr>
            <a:r>
              <a:rPr b="1" lang="en-US" sz="2400">
                <a:solidFill>
                  <a:srgbClr val="16212B"/>
                </a:solidFill>
                <a:latin typeface="Arial"/>
                <a:ea typeface="Arial"/>
                <a:cs typeface="Arial"/>
                <a:sym typeface="Arial"/>
              </a:rPr>
              <a:t>dvc-s3 manquant</a:t>
            </a:r>
            <a:endParaRPr/>
          </a:p>
          <a:p>
            <a:pPr indent="0" lvl="0" marL="0" marR="0" rtl="0" algn="l">
              <a:lnSpc>
                <a:spcPct val="112000"/>
              </a:lnSpc>
              <a:spcBef>
                <a:spcPts val="500"/>
              </a:spcBef>
              <a:spcAft>
                <a:spcPts val="0"/>
              </a:spcAft>
              <a:buClr>
                <a:srgbClr val="16212B"/>
              </a:buClr>
              <a:buSzPts val="1850"/>
              <a:buFont typeface="Arial"/>
              <a:buNone/>
            </a:pPr>
            <a:r>
              <a:rPr lang="en-US" sz="1850">
                <a:solidFill>
                  <a:srgbClr val="16212B"/>
                </a:solidFill>
                <a:latin typeface="Arial"/>
                <a:ea typeface="Arial"/>
                <a:cs typeface="Arial"/>
                <a:sym typeface="Arial"/>
              </a:rPr>
              <a:t>Absent de requirements.txt : dvc push échouait avec « No module named dvc_s3 » dans tout environnement neuf.</a:t>
            </a:r>
            <a:endParaRPr/>
          </a:p>
        </p:txBody>
      </p:sp>
      <p:sp>
        <p:nvSpPr>
          <p:cNvPr id="521" name="Google Shape;521;p27"/>
          <p:cNvSpPr/>
          <p:nvPr/>
        </p:nvSpPr>
        <p:spPr>
          <a:xfrm>
            <a:off x="12020702" y="2423160"/>
            <a:ext cx="5212080" cy="2834640"/>
          </a:xfrm>
          <a:prstGeom prst="roundRect">
            <a:avLst>
              <a:gd fmla="val 4000" name="adj"/>
            </a:avLst>
          </a:prstGeom>
          <a:solidFill>
            <a:srgbClr val="FBEAEA"/>
          </a:solidFill>
          <a:ln>
            <a:noFill/>
          </a:ln>
        </p:spPr>
        <p:txBody>
          <a:bodyPr anchorCtr="0" anchor="t" bIns="114300" lIns="228600" spcFirstLastPara="1" rIns="228600" wrap="square" tIns="114300">
            <a:noAutofit/>
          </a:bodyPr>
          <a:lstStyle/>
          <a:p>
            <a:pPr indent="0" lvl="0" marL="0" marR="0" rtl="0" algn="l">
              <a:spcBef>
                <a:spcPts val="0"/>
              </a:spcBef>
              <a:spcAft>
                <a:spcPts val="0"/>
              </a:spcAft>
              <a:buClr>
                <a:srgbClr val="B03A2E"/>
              </a:buClr>
              <a:buSzPts val="1400"/>
              <a:buFont typeface="Courier New"/>
              <a:buNone/>
            </a:pPr>
            <a:r>
              <a:rPr b="1" lang="en-US" sz="1400">
                <a:solidFill>
                  <a:srgbClr val="B03A2E"/>
                </a:solidFill>
                <a:latin typeface="Courier New"/>
                <a:ea typeface="Courier New"/>
                <a:cs typeface="Courier New"/>
                <a:sym typeface="Courier New"/>
              </a:rPr>
              <a:t>DÉCOUVERT À L’EXÉCUTION RÉELLE</a:t>
            </a:r>
            <a:endParaRPr/>
          </a:p>
          <a:p>
            <a:pPr indent="0" lvl="0" marL="0" marR="0" rtl="0" algn="l">
              <a:spcBef>
                <a:spcPts val="500"/>
              </a:spcBef>
              <a:spcAft>
                <a:spcPts val="0"/>
              </a:spcAft>
              <a:buClr>
                <a:srgbClr val="16212B"/>
              </a:buClr>
              <a:buSzPts val="2400"/>
              <a:buFont typeface="Arial"/>
              <a:buNone/>
            </a:pPr>
            <a:r>
              <a:rPr b="1" lang="en-US" sz="2400">
                <a:solidFill>
                  <a:srgbClr val="16212B"/>
                </a:solidFill>
                <a:latin typeface="Arial"/>
                <a:ea typeface="Arial"/>
                <a:cs typeface="Arial"/>
                <a:sym typeface="Arial"/>
              </a:rPr>
              <a:t>Compteur remis à zéro à tort</a:t>
            </a:r>
            <a:endParaRPr/>
          </a:p>
          <a:p>
            <a:pPr indent="0" lvl="0" marL="0" marR="0" rtl="0" algn="l">
              <a:lnSpc>
                <a:spcPct val="112000"/>
              </a:lnSpc>
              <a:spcBef>
                <a:spcPts val="500"/>
              </a:spcBef>
              <a:spcAft>
                <a:spcPts val="0"/>
              </a:spcAft>
              <a:buClr>
                <a:srgbClr val="16212B"/>
              </a:buClr>
              <a:buSzPts val="1850"/>
              <a:buFont typeface="Arial"/>
              <a:buNone/>
            </a:pPr>
            <a:r>
              <a:rPr lang="en-US" sz="1850">
                <a:solidFill>
                  <a:srgbClr val="16212B"/>
                </a:solidFill>
                <a:latin typeface="Arial"/>
                <a:ea typeface="Arial"/>
                <a:cs typeface="Arial"/>
                <a:sym typeface="Arial"/>
              </a:rPr>
              <a:t>Si le versioning échouait, des lignes jamais versionnées disparaissaient en silence. Le compteur n’est plus réinitialisé qu’en cas de succès.</a:t>
            </a:r>
            <a:endParaRPr/>
          </a:p>
        </p:txBody>
      </p:sp>
      <p:sp>
        <p:nvSpPr>
          <p:cNvPr id="522" name="Google Shape;522;p27"/>
          <p:cNvSpPr/>
          <p:nvPr/>
        </p:nvSpPr>
        <p:spPr>
          <a:xfrm>
            <a:off x="1047902" y="5486400"/>
            <a:ext cx="5212080" cy="2834640"/>
          </a:xfrm>
          <a:prstGeom prst="roundRect">
            <a:avLst>
              <a:gd fmla="val 4000" name="adj"/>
            </a:avLst>
          </a:prstGeom>
          <a:solidFill>
            <a:srgbClr val="FDF1E0"/>
          </a:solidFill>
          <a:ln>
            <a:noFill/>
          </a:ln>
        </p:spPr>
        <p:txBody>
          <a:bodyPr anchorCtr="0" anchor="t" bIns="114300" lIns="228600" spcFirstLastPara="1" rIns="228600" wrap="square" tIns="114300">
            <a:noAutofit/>
          </a:bodyPr>
          <a:lstStyle/>
          <a:p>
            <a:pPr indent="0" lvl="0" marL="0" marR="0" rtl="0" algn="l">
              <a:spcBef>
                <a:spcPts val="0"/>
              </a:spcBef>
              <a:spcAft>
                <a:spcPts val="0"/>
              </a:spcAft>
              <a:buClr>
                <a:srgbClr val="C9781B"/>
              </a:buClr>
              <a:buSzPts val="1400"/>
              <a:buFont typeface="Courier New"/>
              <a:buNone/>
            </a:pPr>
            <a:r>
              <a:rPr b="1" lang="en-US" sz="1400">
                <a:solidFill>
                  <a:srgbClr val="C9781B"/>
                </a:solidFill>
                <a:latin typeface="Courier New"/>
                <a:ea typeface="Courier New"/>
                <a:cs typeface="Courier New"/>
                <a:sym typeface="Courier New"/>
              </a:rPr>
              <a:t>ATTRAPÉ PAR UN TEST</a:t>
            </a:r>
            <a:endParaRPr/>
          </a:p>
          <a:p>
            <a:pPr indent="0" lvl="0" marL="0" marR="0" rtl="0" algn="l">
              <a:spcBef>
                <a:spcPts val="500"/>
              </a:spcBef>
              <a:spcAft>
                <a:spcPts val="0"/>
              </a:spcAft>
              <a:buClr>
                <a:srgbClr val="16212B"/>
              </a:buClr>
              <a:buSzPts val="2400"/>
              <a:buFont typeface="Arial"/>
              <a:buNone/>
            </a:pPr>
            <a:r>
              <a:rPr b="1" lang="en-US" sz="2400">
                <a:solidFill>
                  <a:srgbClr val="16212B"/>
                </a:solidFill>
                <a:latin typeface="Arial"/>
                <a:ea typeface="Arial"/>
                <a:cs typeface="Arial"/>
                <a:sym typeface="Arial"/>
              </a:rPr>
              <a:t>Premier run du registre</a:t>
            </a:r>
            <a:endParaRPr/>
          </a:p>
          <a:p>
            <a:pPr indent="0" lvl="0" marL="0" marR="0" rtl="0" algn="l">
              <a:lnSpc>
                <a:spcPct val="112000"/>
              </a:lnSpc>
              <a:spcBef>
                <a:spcPts val="500"/>
              </a:spcBef>
              <a:spcAft>
                <a:spcPts val="0"/>
              </a:spcAft>
              <a:buClr>
                <a:srgbClr val="16212B"/>
              </a:buClr>
              <a:buSzPts val="1850"/>
              <a:buFont typeface="Arial"/>
              <a:buNone/>
            </a:pPr>
            <a:r>
              <a:rPr lang="en-US" sz="1850">
                <a:solidFill>
                  <a:srgbClr val="16212B"/>
                </a:solidFill>
                <a:latin typeface="Arial"/>
                <a:ea typeface="Arial"/>
                <a:cs typeface="Arial"/>
                <a:sym typeface="Arial"/>
              </a:rPr>
              <a:t>get_latest_versions levait une exception au lieu de « aucun modèle en Production » : cas corrigé grâce aux tests de la porte de promotion.</a:t>
            </a:r>
            <a:endParaRPr/>
          </a:p>
        </p:txBody>
      </p:sp>
      <p:sp>
        <p:nvSpPr>
          <p:cNvPr id="523" name="Google Shape;523;p27"/>
          <p:cNvSpPr/>
          <p:nvPr/>
        </p:nvSpPr>
        <p:spPr>
          <a:xfrm>
            <a:off x="6534302" y="5486400"/>
            <a:ext cx="5212080" cy="2834640"/>
          </a:xfrm>
          <a:prstGeom prst="roundRect">
            <a:avLst>
              <a:gd fmla="val 4000" name="adj"/>
            </a:avLst>
          </a:prstGeom>
          <a:solidFill>
            <a:srgbClr val="E8F0F9"/>
          </a:solidFill>
          <a:ln>
            <a:noFill/>
          </a:ln>
        </p:spPr>
        <p:txBody>
          <a:bodyPr anchorCtr="0" anchor="t" bIns="114300" lIns="228600" spcFirstLastPara="1" rIns="228600" wrap="square" tIns="114300">
            <a:noAutofit/>
          </a:bodyPr>
          <a:lstStyle/>
          <a:p>
            <a:pPr indent="0" lvl="0" marL="0" marR="0" rtl="0" algn="l">
              <a:spcBef>
                <a:spcPts val="0"/>
              </a:spcBef>
              <a:spcAft>
                <a:spcPts val="0"/>
              </a:spcAft>
              <a:buClr>
                <a:srgbClr val="2F6FA8"/>
              </a:buClr>
              <a:buSzPts val="1400"/>
              <a:buFont typeface="Courier New"/>
              <a:buNone/>
            </a:pPr>
            <a:r>
              <a:rPr b="1" lang="en-US" sz="1400">
                <a:solidFill>
                  <a:srgbClr val="2F6FA8"/>
                </a:solidFill>
                <a:latin typeface="Courier New"/>
                <a:ea typeface="Courier New"/>
                <a:cs typeface="Courier New"/>
                <a:sym typeface="Courier New"/>
              </a:rPr>
              <a:t>INFRASTRUCTURE</a:t>
            </a:r>
            <a:endParaRPr/>
          </a:p>
          <a:p>
            <a:pPr indent="0" lvl="0" marL="0" marR="0" rtl="0" algn="l">
              <a:spcBef>
                <a:spcPts val="500"/>
              </a:spcBef>
              <a:spcAft>
                <a:spcPts val="0"/>
              </a:spcAft>
              <a:buClr>
                <a:srgbClr val="16212B"/>
              </a:buClr>
              <a:buSzPts val="2400"/>
              <a:buFont typeface="Arial"/>
              <a:buNone/>
            </a:pPr>
            <a:r>
              <a:rPr b="1" lang="en-US" sz="2400">
                <a:solidFill>
                  <a:srgbClr val="16212B"/>
                </a:solidFill>
                <a:latin typeface="Arial"/>
                <a:ea typeface="Arial"/>
                <a:cs typeface="Arial"/>
                <a:sym typeface="Arial"/>
              </a:rPr>
              <a:t>Image MinIO</a:t>
            </a:r>
            <a:endParaRPr/>
          </a:p>
          <a:p>
            <a:pPr indent="0" lvl="0" marL="0" marR="0" rtl="0" algn="l">
              <a:lnSpc>
                <a:spcPct val="112000"/>
              </a:lnSpc>
              <a:spcBef>
                <a:spcPts val="500"/>
              </a:spcBef>
              <a:spcAft>
                <a:spcPts val="0"/>
              </a:spcAft>
              <a:buClr>
                <a:srgbClr val="16212B"/>
              </a:buClr>
              <a:buSzPts val="1850"/>
              <a:buFont typeface="Arial"/>
              <a:buNone/>
            </a:pPr>
            <a:r>
              <a:rPr lang="en-US" sz="1850">
                <a:solidFill>
                  <a:srgbClr val="16212B"/>
                </a:solidFill>
                <a:latin typeface="Arial"/>
                <a:ea typeface="Arial"/>
                <a:cs typeface="Arial"/>
                <a:sym typeface="Arial"/>
              </a:rPr>
              <a:t>Les images du Docker Hub exigent désormais une connexion : image quay.io épinglée (RELEASE.2025-04-22T22-12-26Z).</a:t>
            </a:r>
            <a:endParaRPr/>
          </a:p>
        </p:txBody>
      </p:sp>
      <p:sp>
        <p:nvSpPr>
          <p:cNvPr id="524" name="Google Shape;524;p27"/>
          <p:cNvSpPr/>
          <p:nvPr/>
        </p:nvSpPr>
        <p:spPr>
          <a:xfrm>
            <a:off x="12020702" y="5486400"/>
            <a:ext cx="5212080" cy="2834640"/>
          </a:xfrm>
          <a:prstGeom prst="roundRect">
            <a:avLst>
              <a:gd fmla="val 4000" name="adj"/>
            </a:avLst>
          </a:prstGeom>
          <a:solidFill>
            <a:srgbClr val="E8F0F9"/>
          </a:solidFill>
          <a:ln>
            <a:noFill/>
          </a:ln>
        </p:spPr>
        <p:txBody>
          <a:bodyPr anchorCtr="0" anchor="t" bIns="114300" lIns="228600" spcFirstLastPara="1" rIns="228600" wrap="square" tIns="114300">
            <a:noAutofit/>
          </a:bodyPr>
          <a:lstStyle/>
          <a:p>
            <a:pPr indent="0" lvl="0" marL="0" marR="0" rtl="0" algn="l">
              <a:spcBef>
                <a:spcPts val="0"/>
              </a:spcBef>
              <a:spcAft>
                <a:spcPts val="0"/>
              </a:spcAft>
              <a:buClr>
                <a:srgbClr val="2F6FA8"/>
              </a:buClr>
              <a:buSzPts val="1400"/>
              <a:buFont typeface="Courier New"/>
              <a:buNone/>
            </a:pPr>
            <a:r>
              <a:rPr b="1" lang="en-US" sz="1400">
                <a:solidFill>
                  <a:srgbClr val="2F6FA8"/>
                </a:solidFill>
                <a:latin typeface="Courier New"/>
                <a:ea typeface="Courier New"/>
                <a:cs typeface="Courier New"/>
                <a:sym typeface="Courier New"/>
              </a:rPr>
              <a:t>INFRASTRUCTURE</a:t>
            </a:r>
            <a:endParaRPr/>
          </a:p>
          <a:p>
            <a:pPr indent="0" lvl="0" marL="0" marR="0" rtl="0" algn="l">
              <a:spcBef>
                <a:spcPts val="500"/>
              </a:spcBef>
              <a:spcAft>
                <a:spcPts val="0"/>
              </a:spcAft>
              <a:buClr>
                <a:srgbClr val="16212B"/>
              </a:buClr>
              <a:buSzPts val="2400"/>
              <a:buFont typeface="Arial"/>
              <a:buNone/>
            </a:pPr>
            <a:r>
              <a:rPr b="1" lang="en-US" sz="2400">
                <a:solidFill>
                  <a:srgbClr val="16212B"/>
                </a:solidFill>
                <a:latin typeface="Arial"/>
                <a:ea typeface="Arial"/>
                <a:cs typeface="Arial"/>
                <a:sym typeface="Arial"/>
              </a:rPr>
              <a:t>Schéma mlflow.db</a:t>
            </a:r>
            <a:endParaRPr/>
          </a:p>
          <a:p>
            <a:pPr indent="0" lvl="0" marL="0" marR="0" rtl="0" algn="l">
              <a:lnSpc>
                <a:spcPct val="112000"/>
              </a:lnSpc>
              <a:spcBef>
                <a:spcPts val="500"/>
              </a:spcBef>
              <a:spcAft>
                <a:spcPts val="0"/>
              </a:spcAft>
              <a:buClr>
                <a:srgbClr val="16212B"/>
              </a:buClr>
              <a:buSzPts val="1850"/>
              <a:buFont typeface="Arial"/>
              <a:buNone/>
            </a:pPr>
            <a:r>
              <a:rPr lang="en-US" sz="1850">
                <a:solidFill>
                  <a:srgbClr val="16212B"/>
                </a:solidFill>
                <a:latin typeface="Arial"/>
                <a:ea typeface="Arial"/>
                <a:cs typeface="Arial"/>
                <a:sym typeface="Arial"/>
              </a:rPr>
              <a:t>Base créée par un MLflow plus ancien que la version pinnée (2.22.5) : sauvegarde puis mlflow db upgrade, documenté dans docs/03_installation.md.</a:t>
            </a:r>
            <a:endParaRPr/>
          </a:p>
        </p:txBody>
      </p:sp>
      <p:sp>
        <p:nvSpPr>
          <p:cNvPr id="525" name="Google Shape;525;p27"/>
          <p:cNvSpPr txBox="1"/>
          <p:nvPr/>
        </p:nvSpPr>
        <p:spPr>
          <a:xfrm>
            <a:off x="1047902" y="8686800"/>
            <a:ext cx="16184880" cy="5486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2000"/>
              <a:buFont typeface="Arial"/>
              <a:buNone/>
            </a:pPr>
            <a:r>
              <a:rPr b="1" lang="en-US" sz="2000">
                <a:solidFill>
                  <a:srgbClr val="0B7A6F"/>
                </a:solidFill>
                <a:latin typeface="Arial"/>
                <a:ea typeface="Arial"/>
                <a:cs typeface="Arial"/>
                <a:sym typeface="Arial"/>
              </a:rPr>
              <a:t>Leçon : </a:t>
            </a:r>
            <a:r>
              <a:rPr b="1" lang="en-US" sz="2000">
                <a:solidFill>
                  <a:srgbClr val="16212B"/>
                </a:solidFill>
                <a:latin typeface="Arial"/>
                <a:ea typeface="Arial"/>
                <a:cs typeface="Arial"/>
                <a:sym typeface="Arial"/>
              </a:rPr>
              <a:t>valider la boucle complète, pas seulement ses composants avec des mocks.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0" name="Shape 530"/>
        <p:cNvGrpSpPr/>
        <p:nvPr/>
      </p:nvGrpSpPr>
      <p:grpSpPr>
        <a:xfrm>
          <a:off x="0" y="0"/>
          <a:ext cx="0" cy="0"/>
          <a:chOff x="0" y="0"/>
          <a:chExt cx="0" cy="0"/>
        </a:xfrm>
      </p:grpSpPr>
      <p:sp>
        <p:nvSpPr>
          <p:cNvPr id="531" name="Google Shape;531;p28"/>
          <p:cNvSpPr/>
          <p:nvPr/>
        </p:nvSpPr>
        <p:spPr>
          <a:xfrm>
            <a:off x="1047750" y="914400"/>
            <a:ext cx="17811750"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1950"/>
              <a:buFont typeface="Courier New"/>
              <a:buNone/>
            </a:pPr>
            <a:r>
              <a:rPr b="1" lang="en-US" sz="1950">
                <a:solidFill>
                  <a:srgbClr val="0B7A6F"/>
                </a:solidFill>
                <a:latin typeface="Courier New"/>
                <a:ea typeface="Courier New"/>
                <a:cs typeface="Courier New"/>
                <a:sym typeface="Courier New"/>
              </a:rPr>
              <a:t>CHAPITRE 4 — TABLEAU 3</a:t>
            </a:r>
            <a:endParaRPr sz="1950">
              <a:solidFill>
                <a:schemeClr val="dk1"/>
              </a:solidFill>
              <a:latin typeface="Calibri"/>
              <a:ea typeface="Calibri"/>
              <a:cs typeface="Calibri"/>
              <a:sym typeface="Calibri"/>
            </a:endParaRPr>
          </a:p>
        </p:txBody>
      </p:sp>
      <p:sp>
        <p:nvSpPr>
          <p:cNvPr id="532" name="Google Shape;532;p28"/>
          <p:cNvSpPr/>
          <p:nvPr/>
        </p:nvSpPr>
        <p:spPr>
          <a:xfrm>
            <a:off x="1047750" y="1419225"/>
            <a:ext cx="17811750" cy="5524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3450"/>
              <a:buFont typeface="Arial"/>
              <a:buNone/>
            </a:pPr>
            <a:r>
              <a:rPr b="1" lang="en-US" sz="3450">
                <a:solidFill>
                  <a:srgbClr val="16212B"/>
                </a:solidFill>
                <a:latin typeface="Arial"/>
                <a:ea typeface="Arial"/>
                <a:cs typeface="Arial"/>
                <a:sym typeface="Arial"/>
              </a:rPr>
              <a:t>Machine Learning : comparaison des modèles</a:t>
            </a:r>
            <a:endParaRPr sz="3450">
              <a:solidFill>
                <a:schemeClr val="dk1"/>
              </a:solidFill>
              <a:latin typeface="Calibri"/>
              <a:ea typeface="Calibri"/>
              <a:cs typeface="Calibri"/>
              <a:sym typeface="Calibri"/>
            </a:endParaRPr>
          </a:p>
        </p:txBody>
      </p:sp>
      <p:sp>
        <p:nvSpPr>
          <p:cNvPr id="533" name="Google Shape;533;p28"/>
          <p:cNvSpPr/>
          <p:nvPr/>
        </p:nvSpPr>
        <p:spPr>
          <a:xfrm>
            <a:off x="1047750" y="3655814"/>
            <a:ext cx="3819525" cy="1543050"/>
          </a:xfrm>
          <a:prstGeom prst="roundRect">
            <a:avLst>
              <a:gd fmla="val 9877" name="adj"/>
            </a:avLst>
          </a:prstGeom>
          <a:solidFill>
            <a:srgbClr val="F5F7FA"/>
          </a:solidFill>
          <a:ln cap="flat" cmpd="sng" w="9525">
            <a:solidFill>
              <a:srgbClr val="E2E6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4" name="Google Shape;534;p28"/>
          <p:cNvSpPr/>
          <p:nvPr/>
        </p:nvSpPr>
        <p:spPr>
          <a:xfrm>
            <a:off x="1285875" y="3874889"/>
            <a:ext cx="3677602" cy="5524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3450"/>
              <a:buFont typeface="Arial"/>
              <a:buNone/>
            </a:pPr>
            <a:r>
              <a:rPr b="1" lang="en-US" sz="3450">
                <a:solidFill>
                  <a:srgbClr val="0B7A6F"/>
                </a:solidFill>
                <a:latin typeface="Arial"/>
                <a:ea typeface="Arial"/>
                <a:cs typeface="Arial"/>
                <a:sym typeface="Arial"/>
              </a:rPr>
              <a:t>0,8444</a:t>
            </a:r>
            <a:endParaRPr sz="3450">
              <a:solidFill>
                <a:schemeClr val="dk1"/>
              </a:solidFill>
              <a:latin typeface="Calibri"/>
              <a:ea typeface="Calibri"/>
              <a:cs typeface="Calibri"/>
              <a:sym typeface="Calibri"/>
            </a:endParaRPr>
          </a:p>
        </p:txBody>
      </p:sp>
      <p:sp>
        <p:nvSpPr>
          <p:cNvPr id="535" name="Google Shape;535;p28"/>
          <p:cNvSpPr/>
          <p:nvPr/>
        </p:nvSpPr>
        <p:spPr>
          <a:xfrm>
            <a:off x="1285875" y="4446389"/>
            <a:ext cx="3443573"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5B6B80"/>
              </a:buClr>
              <a:buSzPts val="1800"/>
              <a:buFont typeface="Arial"/>
              <a:buNone/>
            </a:pPr>
            <a:r>
              <a:rPr lang="en-US" sz="1800">
                <a:solidFill>
                  <a:srgbClr val="5B6B80"/>
                </a:solidFill>
                <a:latin typeface="Arial"/>
                <a:ea typeface="Arial"/>
                <a:cs typeface="Arial"/>
                <a:sym typeface="Arial"/>
              </a:rPr>
              <a:t>PR-AUC — RandomForest (retenu)</a:t>
            </a:r>
            <a:endParaRPr sz="1800">
              <a:solidFill>
                <a:schemeClr val="dk1"/>
              </a:solidFill>
              <a:latin typeface="Calibri"/>
              <a:ea typeface="Calibri"/>
              <a:cs typeface="Calibri"/>
              <a:sym typeface="Calibri"/>
            </a:endParaRPr>
          </a:p>
        </p:txBody>
      </p:sp>
      <p:sp>
        <p:nvSpPr>
          <p:cNvPr id="536" name="Google Shape;536;p28"/>
          <p:cNvSpPr/>
          <p:nvPr/>
        </p:nvSpPr>
        <p:spPr>
          <a:xfrm>
            <a:off x="5057775" y="3655814"/>
            <a:ext cx="3819525" cy="1543050"/>
          </a:xfrm>
          <a:prstGeom prst="roundRect">
            <a:avLst>
              <a:gd fmla="val 9877" name="adj"/>
            </a:avLst>
          </a:prstGeom>
          <a:solidFill>
            <a:srgbClr val="F5F7FA"/>
          </a:solidFill>
          <a:ln cap="flat" cmpd="sng" w="9525">
            <a:solidFill>
              <a:srgbClr val="E2E6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7" name="Google Shape;537;p28"/>
          <p:cNvSpPr/>
          <p:nvPr/>
        </p:nvSpPr>
        <p:spPr>
          <a:xfrm>
            <a:off x="5295900" y="3874889"/>
            <a:ext cx="3677602" cy="5524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5B6B80"/>
              </a:buClr>
              <a:buSzPts val="3450"/>
              <a:buFont typeface="Arial"/>
              <a:buNone/>
            </a:pPr>
            <a:r>
              <a:rPr b="1" lang="en-US" sz="3450">
                <a:solidFill>
                  <a:srgbClr val="5B6B80"/>
                </a:solidFill>
                <a:latin typeface="Arial"/>
                <a:ea typeface="Arial"/>
                <a:cs typeface="Arial"/>
                <a:sym typeface="Arial"/>
              </a:rPr>
              <a:t>0,7200</a:t>
            </a:r>
            <a:endParaRPr sz="3450">
              <a:solidFill>
                <a:schemeClr val="dk1"/>
              </a:solidFill>
              <a:latin typeface="Calibri"/>
              <a:ea typeface="Calibri"/>
              <a:cs typeface="Calibri"/>
              <a:sym typeface="Calibri"/>
            </a:endParaRPr>
          </a:p>
        </p:txBody>
      </p:sp>
      <p:sp>
        <p:nvSpPr>
          <p:cNvPr id="538" name="Google Shape;538;p28"/>
          <p:cNvSpPr/>
          <p:nvPr/>
        </p:nvSpPr>
        <p:spPr>
          <a:xfrm>
            <a:off x="5295900" y="4446389"/>
            <a:ext cx="3443573"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5B6B80"/>
              </a:buClr>
              <a:buSzPts val="1800"/>
              <a:buFont typeface="Arial"/>
              <a:buNone/>
            </a:pPr>
            <a:r>
              <a:rPr lang="en-US" sz="1800">
                <a:solidFill>
                  <a:srgbClr val="5B6B80"/>
                </a:solidFill>
                <a:latin typeface="Arial"/>
                <a:ea typeface="Arial"/>
                <a:cs typeface="Arial"/>
                <a:sym typeface="Arial"/>
              </a:rPr>
              <a:t>PR-AUC — LogisticRegression (baseline)</a:t>
            </a:r>
            <a:endParaRPr sz="1800">
              <a:solidFill>
                <a:schemeClr val="dk1"/>
              </a:solidFill>
              <a:latin typeface="Calibri"/>
              <a:ea typeface="Calibri"/>
              <a:cs typeface="Calibri"/>
              <a:sym typeface="Calibri"/>
            </a:endParaRPr>
          </a:p>
        </p:txBody>
      </p:sp>
      <p:sp>
        <p:nvSpPr>
          <p:cNvPr id="539" name="Google Shape;539;p28"/>
          <p:cNvSpPr/>
          <p:nvPr/>
        </p:nvSpPr>
        <p:spPr>
          <a:xfrm>
            <a:off x="1047750" y="5389364"/>
            <a:ext cx="3819525" cy="1543050"/>
          </a:xfrm>
          <a:prstGeom prst="roundRect">
            <a:avLst>
              <a:gd fmla="val 9877" name="adj"/>
            </a:avLst>
          </a:prstGeom>
          <a:solidFill>
            <a:srgbClr val="F5F7FA"/>
          </a:solidFill>
          <a:ln cap="flat" cmpd="sng" w="9525">
            <a:solidFill>
              <a:srgbClr val="E2E6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0" name="Google Shape;540;p28"/>
          <p:cNvSpPr/>
          <p:nvPr/>
        </p:nvSpPr>
        <p:spPr>
          <a:xfrm>
            <a:off x="1285875" y="5608439"/>
            <a:ext cx="3677602" cy="5524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C2570A"/>
              </a:buClr>
              <a:buSzPts val="3450"/>
              <a:buFont typeface="Arial"/>
              <a:buNone/>
            </a:pPr>
            <a:r>
              <a:rPr b="1" lang="en-US" sz="3450">
                <a:solidFill>
                  <a:srgbClr val="C2570A"/>
                </a:solidFill>
                <a:latin typeface="Arial"/>
                <a:ea typeface="Arial"/>
                <a:cs typeface="Arial"/>
                <a:sym typeface="Arial"/>
              </a:rPr>
              <a:t>80 / 98</a:t>
            </a:r>
            <a:endParaRPr sz="3450">
              <a:solidFill>
                <a:schemeClr val="dk1"/>
              </a:solidFill>
              <a:latin typeface="Calibri"/>
              <a:ea typeface="Calibri"/>
              <a:cs typeface="Calibri"/>
              <a:sym typeface="Calibri"/>
            </a:endParaRPr>
          </a:p>
        </p:txBody>
      </p:sp>
      <p:sp>
        <p:nvSpPr>
          <p:cNvPr id="541" name="Google Shape;541;p28"/>
          <p:cNvSpPr/>
          <p:nvPr/>
        </p:nvSpPr>
        <p:spPr>
          <a:xfrm>
            <a:off x="1285875" y="6179939"/>
            <a:ext cx="3443573"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5B6B80"/>
              </a:buClr>
              <a:buSzPts val="1800"/>
              <a:buFont typeface="Arial"/>
              <a:buNone/>
            </a:pPr>
            <a:r>
              <a:rPr lang="en-US" sz="1800">
                <a:solidFill>
                  <a:srgbClr val="5B6B80"/>
                </a:solidFill>
                <a:latin typeface="Arial"/>
                <a:ea typeface="Arial"/>
                <a:cs typeface="Arial"/>
                <a:sym typeface="Arial"/>
              </a:rPr>
              <a:t>fraudes détectées sur le jeu de test</a:t>
            </a:r>
            <a:endParaRPr sz="1800">
              <a:solidFill>
                <a:schemeClr val="dk1"/>
              </a:solidFill>
              <a:latin typeface="Calibri"/>
              <a:ea typeface="Calibri"/>
              <a:cs typeface="Calibri"/>
              <a:sym typeface="Calibri"/>
            </a:endParaRPr>
          </a:p>
        </p:txBody>
      </p:sp>
      <p:sp>
        <p:nvSpPr>
          <p:cNvPr id="542" name="Google Shape;542;p28"/>
          <p:cNvSpPr/>
          <p:nvPr/>
        </p:nvSpPr>
        <p:spPr>
          <a:xfrm>
            <a:off x="5057775" y="5389364"/>
            <a:ext cx="3819525" cy="1543050"/>
          </a:xfrm>
          <a:prstGeom prst="roundRect">
            <a:avLst>
              <a:gd fmla="val 9877" name="adj"/>
            </a:avLst>
          </a:prstGeom>
          <a:solidFill>
            <a:srgbClr val="F5F7FA"/>
          </a:solidFill>
          <a:ln cap="flat" cmpd="sng" w="9525">
            <a:solidFill>
              <a:srgbClr val="E2E6E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3" name="Google Shape;543;p28"/>
          <p:cNvSpPr/>
          <p:nvPr/>
        </p:nvSpPr>
        <p:spPr>
          <a:xfrm>
            <a:off x="5295900" y="5608439"/>
            <a:ext cx="3677602" cy="5524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C2570A"/>
              </a:buClr>
              <a:buSzPts val="3450"/>
              <a:buFont typeface="Arial"/>
              <a:buNone/>
            </a:pPr>
            <a:r>
              <a:rPr b="1" lang="en-US" sz="3450">
                <a:solidFill>
                  <a:srgbClr val="C2570A"/>
                </a:solidFill>
                <a:latin typeface="Arial"/>
                <a:ea typeface="Arial"/>
                <a:cs typeface="Arial"/>
                <a:sym typeface="Arial"/>
              </a:rPr>
              <a:t>+17 %</a:t>
            </a:r>
            <a:endParaRPr sz="3450">
              <a:solidFill>
                <a:schemeClr val="dk1"/>
              </a:solidFill>
              <a:latin typeface="Calibri"/>
              <a:ea typeface="Calibri"/>
              <a:cs typeface="Calibri"/>
              <a:sym typeface="Calibri"/>
            </a:endParaRPr>
          </a:p>
        </p:txBody>
      </p:sp>
      <p:sp>
        <p:nvSpPr>
          <p:cNvPr id="544" name="Google Shape;544;p28"/>
          <p:cNvSpPr/>
          <p:nvPr/>
        </p:nvSpPr>
        <p:spPr>
          <a:xfrm>
            <a:off x="5295900" y="6179939"/>
            <a:ext cx="3443573"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5B6B80"/>
              </a:buClr>
              <a:buSzPts val="1800"/>
              <a:buFont typeface="Arial"/>
              <a:buNone/>
            </a:pPr>
            <a:r>
              <a:rPr lang="en-US" sz="1800">
                <a:solidFill>
                  <a:srgbClr val="5B6B80"/>
                </a:solidFill>
                <a:latin typeface="Arial"/>
                <a:ea typeface="Arial"/>
                <a:cs typeface="Arial"/>
                <a:sym typeface="Arial"/>
              </a:rPr>
              <a:t>gain relatif de PR-AUC vs baseline</a:t>
            </a:r>
            <a:endParaRPr sz="1800">
              <a:solidFill>
                <a:schemeClr val="dk1"/>
              </a:solidFill>
              <a:latin typeface="Calibri"/>
              <a:ea typeface="Calibri"/>
              <a:cs typeface="Calibri"/>
              <a:sym typeface="Calibri"/>
            </a:endParaRPr>
          </a:p>
        </p:txBody>
      </p:sp>
      <p:sp>
        <p:nvSpPr>
          <p:cNvPr id="545" name="Google Shape;545;p28"/>
          <p:cNvSpPr/>
          <p:nvPr/>
        </p:nvSpPr>
        <p:spPr>
          <a:xfrm>
            <a:off x="1047750" y="7141964"/>
            <a:ext cx="8612505" cy="371475"/>
          </a:xfrm>
          <a:prstGeom prst="rect">
            <a:avLst/>
          </a:prstGeom>
          <a:noFill/>
          <a:ln>
            <a:noFill/>
          </a:ln>
        </p:spPr>
        <p:txBody>
          <a:bodyPr anchorCtr="0" anchor="t" bIns="25400" lIns="25400" spcFirstLastPara="1" rIns="25400" wrap="square" tIns="25400">
            <a:noAutofit/>
          </a:bodyPr>
          <a:lstStyle/>
          <a:p>
            <a:pPr indent="0" lvl="0" marL="0" marR="0" rtl="0" algn="l">
              <a:lnSpc>
                <a:spcPct val="120690"/>
              </a:lnSpc>
              <a:spcBef>
                <a:spcPts val="0"/>
              </a:spcBef>
              <a:spcAft>
                <a:spcPts val="0"/>
              </a:spcAft>
              <a:buClr>
                <a:srgbClr val="16212B"/>
              </a:buClr>
              <a:buSzPts val="1875"/>
              <a:buFont typeface="Arial"/>
              <a:buNone/>
            </a:pPr>
            <a:r>
              <a:rPr lang="en-US" sz="1875">
                <a:solidFill>
                  <a:srgbClr val="16212B"/>
                </a:solidFill>
                <a:latin typeface="Arial"/>
                <a:ea typeface="Arial"/>
                <a:cs typeface="Arial"/>
                <a:sym typeface="Arial"/>
              </a:rPr>
              <a:t>Recall / Precision au seuil optimal : </a:t>
            </a:r>
            <a:r>
              <a:rPr b="1" lang="en-US" sz="1875">
                <a:solidFill>
                  <a:srgbClr val="0B7A6F"/>
                </a:solidFill>
                <a:latin typeface="Arial"/>
                <a:ea typeface="Arial"/>
                <a:cs typeface="Arial"/>
                <a:sym typeface="Arial"/>
              </a:rPr>
              <a:t>0,8163 / 0,8421</a:t>
            </a:r>
            <a:endParaRPr sz="1875">
              <a:solidFill>
                <a:schemeClr val="dk1"/>
              </a:solidFill>
              <a:latin typeface="Calibri"/>
              <a:ea typeface="Calibri"/>
              <a:cs typeface="Calibri"/>
              <a:sym typeface="Calibri"/>
            </a:endParaRPr>
          </a:p>
        </p:txBody>
      </p:sp>
      <p:sp>
        <p:nvSpPr>
          <p:cNvPr id="546" name="Google Shape;546;p28"/>
          <p:cNvSpPr/>
          <p:nvPr/>
        </p:nvSpPr>
        <p:spPr>
          <a:xfrm>
            <a:off x="1047750" y="7570589"/>
            <a:ext cx="8064437" cy="651272"/>
          </a:xfrm>
          <a:prstGeom prst="rect">
            <a:avLst/>
          </a:prstGeom>
          <a:noFill/>
          <a:ln>
            <a:noFill/>
          </a:ln>
        </p:spPr>
        <p:txBody>
          <a:bodyPr anchorCtr="0" anchor="t" bIns="25400" lIns="25400" spcFirstLastPara="1" rIns="25400" wrap="square" tIns="25400">
            <a:noAutofit/>
          </a:bodyPr>
          <a:lstStyle/>
          <a:p>
            <a:pPr indent="0" lvl="0" marL="0" marR="0" rtl="0" algn="l">
              <a:lnSpc>
                <a:spcPct val="119259"/>
              </a:lnSpc>
              <a:spcBef>
                <a:spcPts val="0"/>
              </a:spcBef>
              <a:spcAft>
                <a:spcPts val="0"/>
              </a:spcAft>
              <a:buClr>
                <a:srgbClr val="5B6B80"/>
              </a:buClr>
              <a:buSzPts val="1725"/>
              <a:buFont typeface="Arial"/>
              <a:buNone/>
            </a:pPr>
            <a:r>
              <a:rPr lang="en-US" sz="1725">
                <a:solidFill>
                  <a:srgbClr val="5B6B80"/>
                </a:solidFill>
                <a:latin typeface="Arial"/>
                <a:ea typeface="Arial"/>
                <a:cs typeface="Arial"/>
                <a:sym typeface="Arial"/>
              </a:rPr>
              <a:t>Pourquoi PR-AUC et non accuracy : un modèle "tout légitime" atteindrait déjà 99,83 % d'accuracy sans détecter aucune fraude (cf. slide 3).</a:t>
            </a:r>
            <a:endParaRPr sz="1725">
              <a:solidFill>
                <a:schemeClr val="dk1"/>
              </a:solidFill>
              <a:latin typeface="Calibri"/>
              <a:ea typeface="Calibri"/>
              <a:cs typeface="Calibri"/>
              <a:sym typeface="Calibri"/>
            </a:endParaRPr>
          </a:p>
        </p:txBody>
      </p:sp>
      <p:sp>
        <p:nvSpPr>
          <p:cNvPr id="547" name="Google Shape;547;p28"/>
          <p:cNvSpPr/>
          <p:nvPr/>
        </p:nvSpPr>
        <p:spPr>
          <a:xfrm>
            <a:off x="9410700" y="3168997"/>
            <a:ext cx="7829550" cy="5029200"/>
          </a:xfrm>
          <a:prstGeom prst="roundRect">
            <a:avLst>
              <a:gd fmla="val 3409"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48" name="Google Shape;548;p28"/>
          <p:cNvPicPr preferRelativeResize="0"/>
          <p:nvPr/>
        </p:nvPicPr>
        <p:blipFill rotWithShape="1">
          <a:blip r:embed="rId3">
            <a:alphaModFix/>
          </a:blip>
          <a:srcRect b="0" l="-2" r="-2" t="0"/>
          <a:stretch/>
        </p:blipFill>
        <p:spPr>
          <a:xfrm>
            <a:off x="9639300" y="3853607"/>
            <a:ext cx="7372350" cy="3659981"/>
          </a:xfrm>
          <a:prstGeom prst="rect">
            <a:avLst/>
          </a:prstGeom>
          <a:noFill/>
          <a:ln>
            <a:noFill/>
          </a:ln>
        </p:spPr>
      </p:pic>
      <p:sp>
        <p:nvSpPr>
          <p:cNvPr id="549" name="Google Shape;549;p28"/>
          <p:cNvSpPr/>
          <p:nvPr/>
        </p:nvSpPr>
        <p:spPr>
          <a:xfrm>
            <a:off x="9019223" y="8350597"/>
            <a:ext cx="8612505" cy="358080"/>
          </a:xfrm>
          <a:prstGeom prst="rect">
            <a:avLst/>
          </a:prstGeom>
          <a:noFill/>
          <a:ln>
            <a:noFill/>
          </a:ln>
        </p:spPr>
        <p:txBody>
          <a:bodyPr anchorCtr="0" anchor="t" bIns="25400" lIns="25400" spcFirstLastPara="1" rIns="25400" wrap="square" tIns="25400">
            <a:noAutofit/>
          </a:bodyPr>
          <a:lstStyle/>
          <a:p>
            <a:pPr indent="0" lvl="0" marL="0" marR="0" rtl="0" algn="ctr">
              <a:lnSpc>
                <a:spcPct val="120000"/>
              </a:lnSpc>
              <a:spcBef>
                <a:spcPts val="0"/>
              </a:spcBef>
              <a:spcAft>
                <a:spcPts val="0"/>
              </a:spcAft>
              <a:buClr>
                <a:srgbClr val="5B6B80"/>
              </a:buClr>
              <a:buSzPts val="1800"/>
              <a:buFont typeface="Arial"/>
              <a:buNone/>
            </a:pPr>
            <a:r>
              <a:rPr lang="en-US" sz="1800">
                <a:solidFill>
                  <a:srgbClr val="5B6B80"/>
                </a:solidFill>
                <a:latin typeface="Arial"/>
                <a:ea typeface="Arial"/>
                <a:cs typeface="Arial"/>
                <a:sym typeface="Arial"/>
              </a:rPr>
              <a:t>Figure 15 — comparaison des runs MLflow</a:t>
            </a:r>
            <a:endParaRPr sz="1800">
              <a:solidFill>
                <a:schemeClr val="dk1"/>
              </a:solidFill>
              <a:latin typeface="Calibri"/>
              <a:ea typeface="Calibri"/>
              <a:cs typeface="Calibri"/>
              <a:sym typeface="Calibri"/>
            </a:endParaRPr>
          </a:p>
        </p:txBody>
      </p:sp>
      <p:sp>
        <p:nvSpPr>
          <p:cNvPr id="550" name="Google Shape;550;p28"/>
          <p:cNvSpPr/>
          <p:nvPr/>
        </p:nvSpPr>
        <p:spPr>
          <a:xfrm>
            <a:off x="16367760" y="9648825"/>
            <a:ext cx="914400"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5B6B80"/>
              </a:buClr>
              <a:buSzPts val="1800"/>
              <a:buFont typeface="Courier New"/>
              <a:buNone/>
            </a:pPr>
            <a:r>
              <a:rPr lang="en-US" sz="1800">
                <a:solidFill>
                  <a:srgbClr val="5B6B80"/>
                </a:solidFill>
                <a:latin typeface="Courier New"/>
                <a:ea typeface="Courier New"/>
                <a:cs typeface="Courier New"/>
                <a:sym typeface="Courier New"/>
              </a:rPr>
              <a:t>27/41</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5" name="Shape 555"/>
        <p:cNvGrpSpPr/>
        <p:nvPr/>
      </p:nvGrpSpPr>
      <p:grpSpPr>
        <a:xfrm>
          <a:off x="0" y="0"/>
          <a:ext cx="0" cy="0"/>
          <a:chOff x="0" y="0"/>
          <a:chExt cx="0" cy="0"/>
        </a:xfrm>
      </p:grpSpPr>
      <p:sp>
        <p:nvSpPr>
          <p:cNvPr id="556" name="Google Shape;556;p29"/>
          <p:cNvSpPr/>
          <p:nvPr/>
        </p:nvSpPr>
        <p:spPr>
          <a:xfrm>
            <a:off x="1047750" y="914400"/>
            <a:ext cx="17811750"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1950"/>
              <a:buFont typeface="Courier New"/>
              <a:buNone/>
            </a:pPr>
            <a:r>
              <a:rPr b="1" lang="en-US" sz="1950">
                <a:solidFill>
                  <a:srgbClr val="0B7A6F"/>
                </a:solidFill>
                <a:latin typeface="Courier New"/>
                <a:ea typeface="Courier New"/>
                <a:cs typeface="Courier New"/>
                <a:sym typeface="Courier New"/>
              </a:rPr>
              <a:t>CHAPITRE 4</a:t>
            </a:r>
            <a:endParaRPr sz="1950">
              <a:solidFill>
                <a:schemeClr val="dk1"/>
              </a:solidFill>
              <a:latin typeface="Calibri"/>
              <a:ea typeface="Calibri"/>
              <a:cs typeface="Calibri"/>
              <a:sym typeface="Calibri"/>
            </a:endParaRPr>
          </a:p>
        </p:txBody>
      </p:sp>
      <p:sp>
        <p:nvSpPr>
          <p:cNvPr id="557" name="Google Shape;557;p29"/>
          <p:cNvSpPr/>
          <p:nvPr/>
        </p:nvSpPr>
        <p:spPr>
          <a:xfrm>
            <a:off x="1047750" y="1419225"/>
            <a:ext cx="17811750" cy="5524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3450"/>
              <a:buFont typeface="Arial"/>
              <a:buNone/>
            </a:pPr>
            <a:r>
              <a:rPr b="1" lang="en-US" sz="3450">
                <a:solidFill>
                  <a:srgbClr val="16212B"/>
                </a:solidFill>
                <a:latin typeface="Arial"/>
                <a:ea typeface="Arial"/>
                <a:cs typeface="Arial"/>
                <a:sym typeface="Arial"/>
              </a:rPr>
              <a:t>Machine Learning : résultats détaillés</a:t>
            </a:r>
            <a:endParaRPr sz="3450">
              <a:solidFill>
                <a:schemeClr val="dk1"/>
              </a:solidFill>
              <a:latin typeface="Calibri"/>
              <a:ea typeface="Calibri"/>
              <a:cs typeface="Calibri"/>
              <a:sym typeface="Calibri"/>
            </a:endParaRPr>
          </a:p>
        </p:txBody>
      </p:sp>
      <p:sp>
        <p:nvSpPr>
          <p:cNvPr id="558" name="Google Shape;558;p29"/>
          <p:cNvSpPr/>
          <p:nvPr/>
        </p:nvSpPr>
        <p:spPr>
          <a:xfrm>
            <a:off x="1047750" y="2219325"/>
            <a:ext cx="7981950" cy="2838450"/>
          </a:xfrm>
          <a:prstGeom prst="roundRect">
            <a:avLst>
              <a:gd fmla="val 5369"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59" name="Google Shape;559;p29"/>
          <p:cNvPicPr preferRelativeResize="0"/>
          <p:nvPr/>
        </p:nvPicPr>
        <p:blipFill rotWithShape="1">
          <a:blip r:embed="rId3">
            <a:alphaModFix/>
          </a:blip>
          <a:srcRect b="0" l="-88966" r="-88966" t="0"/>
          <a:stretch/>
        </p:blipFill>
        <p:spPr>
          <a:xfrm>
            <a:off x="1200150" y="2371725"/>
            <a:ext cx="7677150" cy="2209800"/>
          </a:xfrm>
          <a:prstGeom prst="rect">
            <a:avLst/>
          </a:prstGeom>
          <a:noFill/>
          <a:ln>
            <a:noFill/>
          </a:ln>
        </p:spPr>
      </p:pic>
      <p:sp>
        <p:nvSpPr>
          <p:cNvPr id="560" name="Google Shape;560;p29"/>
          <p:cNvSpPr/>
          <p:nvPr/>
        </p:nvSpPr>
        <p:spPr>
          <a:xfrm>
            <a:off x="816292" y="4638675"/>
            <a:ext cx="8444865"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5B6B80"/>
              </a:buClr>
              <a:buSzPts val="1800"/>
              <a:buFont typeface="Arial"/>
              <a:buNone/>
            </a:pPr>
            <a:r>
              <a:rPr lang="en-US" sz="1800">
                <a:solidFill>
                  <a:srgbClr val="5B6B80"/>
                </a:solidFill>
                <a:latin typeface="Arial"/>
                <a:ea typeface="Arial"/>
                <a:cs typeface="Arial"/>
                <a:sym typeface="Arial"/>
              </a:rPr>
              <a:t>Fig. 18 — PR (retenu)</a:t>
            </a:r>
            <a:endParaRPr sz="1800">
              <a:solidFill>
                <a:schemeClr val="dk1"/>
              </a:solidFill>
              <a:latin typeface="Calibri"/>
              <a:ea typeface="Calibri"/>
              <a:cs typeface="Calibri"/>
              <a:sym typeface="Calibri"/>
            </a:endParaRPr>
          </a:p>
        </p:txBody>
      </p:sp>
      <p:sp>
        <p:nvSpPr>
          <p:cNvPr id="561" name="Google Shape;561;p29"/>
          <p:cNvSpPr/>
          <p:nvPr/>
        </p:nvSpPr>
        <p:spPr>
          <a:xfrm>
            <a:off x="9258300" y="2219325"/>
            <a:ext cx="7981950" cy="2838450"/>
          </a:xfrm>
          <a:prstGeom prst="roundRect">
            <a:avLst>
              <a:gd fmla="val 5369"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62" name="Google Shape;562;p29"/>
          <p:cNvPicPr preferRelativeResize="0"/>
          <p:nvPr/>
        </p:nvPicPr>
        <p:blipFill rotWithShape="1">
          <a:blip r:embed="rId4">
            <a:alphaModFix/>
          </a:blip>
          <a:srcRect b="0" l="-123707" r="-123707" t="0"/>
          <a:stretch/>
        </p:blipFill>
        <p:spPr>
          <a:xfrm>
            <a:off x="9410700" y="2371725"/>
            <a:ext cx="7677150" cy="2209800"/>
          </a:xfrm>
          <a:prstGeom prst="rect">
            <a:avLst/>
          </a:prstGeom>
          <a:noFill/>
          <a:ln>
            <a:noFill/>
          </a:ln>
        </p:spPr>
      </p:pic>
      <p:sp>
        <p:nvSpPr>
          <p:cNvPr id="563" name="Google Shape;563;p29"/>
          <p:cNvSpPr/>
          <p:nvPr/>
        </p:nvSpPr>
        <p:spPr>
          <a:xfrm>
            <a:off x="9026843" y="4638675"/>
            <a:ext cx="8444865"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5B6B80"/>
              </a:buClr>
              <a:buSzPts val="1800"/>
              <a:buFont typeface="Arial"/>
              <a:buNone/>
            </a:pPr>
            <a:r>
              <a:rPr lang="en-US" sz="1800">
                <a:solidFill>
                  <a:srgbClr val="5B6B80"/>
                </a:solidFill>
                <a:latin typeface="Arial"/>
                <a:ea typeface="Arial"/>
                <a:cs typeface="Arial"/>
                <a:sym typeface="Arial"/>
              </a:rPr>
              <a:t>Fig. 19 — Confusion (retenu)</a:t>
            </a:r>
            <a:endParaRPr sz="1800">
              <a:solidFill>
                <a:schemeClr val="dk1"/>
              </a:solidFill>
              <a:latin typeface="Calibri"/>
              <a:ea typeface="Calibri"/>
              <a:cs typeface="Calibri"/>
              <a:sym typeface="Calibri"/>
            </a:endParaRPr>
          </a:p>
        </p:txBody>
      </p:sp>
      <p:sp>
        <p:nvSpPr>
          <p:cNvPr id="564" name="Google Shape;564;p29"/>
          <p:cNvSpPr/>
          <p:nvPr/>
        </p:nvSpPr>
        <p:spPr>
          <a:xfrm>
            <a:off x="1047750" y="5286375"/>
            <a:ext cx="7981950" cy="2838450"/>
          </a:xfrm>
          <a:prstGeom prst="roundRect">
            <a:avLst>
              <a:gd fmla="val 5369"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65" name="Google Shape;565;p29"/>
          <p:cNvPicPr preferRelativeResize="0"/>
          <p:nvPr/>
        </p:nvPicPr>
        <p:blipFill rotWithShape="1">
          <a:blip r:embed="rId5">
            <a:alphaModFix/>
          </a:blip>
          <a:srcRect b="0" l="-88966" r="-88966" t="0"/>
          <a:stretch/>
        </p:blipFill>
        <p:spPr>
          <a:xfrm>
            <a:off x="1200150" y="5438775"/>
            <a:ext cx="7677150" cy="2209800"/>
          </a:xfrm>
          <a:prstGeom prst="rect">
            <a:avLst/>
          </a:prstGeom>
          <a:noFill/>
          <a:ln>
            <a:noFill/>
          </a:ln>
        </p:spPr>
      </p:pic>
      <p:sp>
        <p:nvSpPr>
          <p:cNvPr id="566" name="Google Shape;566;p29"/>
          <p:cNvSpPr/>
          <p:nvPr/>
        </p:nvSpPr>
        <p:spPr>
          <a:xfrm>
            <a:off x="816292" y="7705725"/>
            <a:ext cx="8444865"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5B6B80"/>
              </a:buClr>
              <a:buSzPts val="1800"/>
              <a:buFont typeface="Arial"/>
              <a:buNone/>
            </a:pPr>
            <a:r>
              <a:rPr lang="en-US" sz="1800">
                <a:solidFill>
                  <a:srgbClr val="5B6B80"/>
                </a:solidFill>
                <a:latin typeface="Arial"/>
                <a:ea typeface="Arial"/>
                <a:cs typeface="Arial"/>
                <a:sym typeface="Arial"/>
              </a:rPr>
              <a:t>Fig. 20 — PR (baseline)</a:t>
            </a:r>
            <a:endParaRPr sz="1800">
              <a:solidFill>
                <a:schemeClr val="dk1"/>
              </a:solidFill>
              <a:latin typeface="Calibri"/>
              <a:ea typeface="Calibri"/>
              <a:cs typeface="Calibri"/>
              <a:sym typeface="Calibri"/>
            </a:endParaRPr>
          </a:p>
        </p:txBody>
      </p:sp>
      <p:sp>
        <p:nvSpPr>
          <p:cNvPr id="567" name="Google Shape;567;p29"/>
          <p:cNvSpPr/>
          <p:nvPr/>
        </p:nvSpPr>
        <p:spPr>
          <a:xfrm>
            <a:off x="9258300" y="5286375"/>
            <a:ext cx="7981950" cy="2838450"/>
          </a:xfrm>
          <a:prstGeom prst="roundRect">
            <a:avLst>
              <a:gd fmla="val 5369"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68" name="Google Shape;568;p29"/>
          <p:cNvPicPr preferRelativeResize="0"/>
          <p:nvPr/>
        </p:nvPicPr>
        <p:blipFill rotWithShape="1">
          <a:blip r:embed="rId6">
            <a:alphaModFix/>
          </a:blip>
          <a:srcRect b="0" l="-123707" r="-123707" t="0"/>
          <a:stretch/>
        </p:blipFill>
        <p:spPr>
          <a:xfrm>
            <a:off x="9410700" y="5438775"/>
            <a:ext cx="7677150" cy="2209800"/>
          </a:xfrm>
          <a:prstGeom prst="rect">
            <a:avLst/>
          </a:prstGeom>
          <a:noFill/>
          <a:ln>
            <a:noFill/>
          </a:ln>
        </p:spPr>
      </p:pic>
      <p:sp>
        <p:nvSpPr>
          <p:cNvPr id="569" name="Google Shape;569;p29"/>
          <p:cNvSpPr/>
          <p:nvPr/>
        </p:nvSpPr>
        <p:spPr>
          <a:xfrm>
            <a:off x="9026843" y="7705725"/>
            <a:ext cx="8444865"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5B6B80"/>
              </a:buClr>
              <a:buSzPts val="1800"/>
              <a:buFont typeface="Arial"/>
              <a:buNone/>
            </a:pPr>
            <a:r>
              <a:rPr lang="en-US" sz="1800">
                <a:solidFill>
                  <a:srgbClr val="5B6B80"/>
                </a:solidFill>
                <a:latin typeface="Arial"/>
                <a:ea typeface="Arial"/>
                <a:cs typeface="Arial"/>
                <a:sym typeface="Arial"/>
              </a:rPr>
              <a:t>Fig. 21 — Confusion (baseline)</a:t>
            </a:r>
            <a:endParaRPr sz="1800">
              <a:solidFill>
                <a:schemeClr val="dk1"/>
              </a:solidFill>
              <a:latin typeface="Calibri"/>
              <a:ea typeface="Calibri"/>
              <a:cs typeface="Calibri"/>
              <a:sym typeface="Calibri"/>
            </a:endParaRPr>
          </a:p>
        </p:txBody>
      </p:sp>
      <p:sp>
        <p:nvSpPr>
          <p:cNvPr id="570" name="Google Shape;570;p29"/>
          <p:cNvSpPr/>
          <p:nvPr/>
        </p:nvSpPr>
        <p:spPr>
          <a:xfrm>
            <a:off x="238125" y="8334375"/>
            <a:ext cx="17811750" cy="344686"/>
          </a:xfrm>
          <a:prstGeom prst="rect">
            <a:avLst/>
          </a:prstGeom>
          <a:noFill/>
          <a:ln>
            <a:noFill/>
          </a:ln>
        </p:spPr>
        <p:txBody>
          <a:bodyPr anchorCtr="0" anchor="t" bIns="25400" lIns="25400" spcFirstLastPara="1" rIns="25400" wrap="square" tIns="25400">
            <a:noAutofit/>
          </a:bodyPr>
          <a:lstStyle/>
          <a:p>
            <a:pPr indent="0" lvl="0" marL="0" marR="0" rtl="0" algn="ctr">
              <a:lnSpc>
                <a:spcPct val="119259"/>
              </a:lnSpc>
              <a:spcBef>
                <a:spcPts val="0"/>
              </a:spcBef>
              <a:spcAft>
                <a:spcPts val="0"/>
              </a:spcAft>
              <a:buClr>
                <a:srgbClr val="5B6B80"/>
              </a:buClr>
              <a:buSzPts val="1725"/>
              <a:buFont typeface="Arial"/>
              <a:buNone/>
            </a:pPr>
            <a:r>
              <a:rPr lang="en-US" sz="1725">
                <a:solidFill>
                  <a:srgbClr val="5B6B80"/>
                </a:solidFill>
                <a:latin typeface="Arial"/>
                <a:ea typeface="Arial"/>
                <a:cs typeface="Arial"/>
                <a:sym typeface="Arial"/>
              </a:rPr>
              <a:t>Le seuil optimal (F1) de la régression logistique est quasi égal à 1 (≈0,999999) — signe de fragilité. Celui du RandomForest est ≈0,50, bien plus robuste.</a:t>
            </a:r>
            <a:endParaRPr sz="1725">
              <a:solidFill>
                <a:schemeClr val="dk1"/>
              </a:solidFill>
              <a:latin typeface="Calibri"/>
              <a:ea typeface="Calibri"/>
              <a:cs typeface="Calibri"/>
              <a:sym typeface="Calibri"/>
            </a:endParaRPr>
          </a:p>
        </p:txBody>
      </p:sp>
      <p:sp>
        <p:nvSpPr>
          <p:cNvPr id="571" name="Google Shape;571;p29"/>
          <p:cNvSpPr/>
          <p:nvPr/>
        </p:nvSpPr>
        <p:spPr>
          <a:xfrm>
            <a:off x="16367760" y="9648825"/>
            <a:ext cx="914400"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5B6B80"/>
              </a:buClr>
              <a:buSzPts val="1800"/>
              <a:buFont typeface="Courier New"/>
              <a:buNone/>
            </a:pPr>
            <a:r>
              <a:rPr lang="en-US" sz="1800">
                <a:solidFill>
                  <a:srgbClr val="5B6B80"/>
                </a:solidFill>
                <a:latin typeface="Courier New"/>
                <a:ea typeface="Courier New"/>
                <a:cs typeface="Courier New"/>
                <a:sym typeface="Courier New"/>
              </a:rPr>
              <a:t>28/41</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6" name="Shape 576"/>
        <p:cNvGrpSpPr/>
        <p:nvPr/>
      </p:nvGrpSpPr>
      <p:grpSpPr>
        <a:xfrm>
          <a:off x="0" y="0"/>
          <a:ext cx="0" cy="0"/>
          <a:chOff x="0" y="0"/>
          <a:chExt cx="0" cy="0"/>
        </a:xfrm>
      </p:grpSpPr>
      <p:sp>
        <p:nvSpPr>
          <p:cNvPr id="577" name="Google Shape;577;p30"/>
          <p:cNvSpPr/>
          <p:nvPr/>
        </p:nvSpPr>
        <p:spPr>
          <a:xfrm>
            <a:off x="1047750" y="914400"/>
            <a:ext cx="17811750"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1950">
                <a:solidFill>
                  <a:srgbClr val="0B7A6F"/>
                </a:solidFill>
                <a:latin typeface="Courier New"/>
                <a:ea typeface="Courier New"/>
                <a:cs typeface="Courier New"/>
                <a:sym typeface="Courier New"/>
              </a:rPr>
              <a:t>CHAPITRE 4 — MA CONTRIBUTION</a:t>
            </a:r>
            <a:endParaRPr sz="1950">
              <a:solidFill>
                <a:schemeClr val="dk1"/>
              </a:solidFill>
              <a:latin typeface="Calibri"/>
              <a:ea typeface="Calibri"/>
              <a:cs typeface="Calibri"/>
              <a:sym typeface="Calibri"/>
            </a:endParaRPr>
          </a:p>
        </p:txBody>
      </p:sp>
      <p:sp>
        <p:nvSpPr>
          <p:cNvPr id="578" name="Google Shape;578;p30"/>
          <p:cNvSpPr/>
          <p:nvPr/>
        </p:nvSpPr>
        <p:spPr>
          <a:xfrm>
            <a:off x="1047750" y="1419225"/>
            <a:ext cx="17811750" cy="5524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3450">
                <a:solidFill>
                  <a:srgbClr val="16212B"/>
                </a:solidFill>
                <a:latin typeface="Arial"/>
                <a:ea typeface="Arial"/>
                <a:cs typeface="Arial"/>
                <a:sym typeface="Arial"/>
              </a:rPr>
              <a:t>Youssef Sarraf — Préparation &amp; entraînement ML</a:t>
            </a:r>
            <a:endParaRPr sz="3450">
              <a:solidFill>
                <a:schemeClr val="dk1"/>
              </a:solidFill>
              <a:latin typeface="Calibri"/>
              <a:ea typeface="Calibri"/>
              <a:cs typeface="Calibri"/>
              <a:sym typeface="Calibri"/>
            </a:endParaRPr>
          </a:p>
        </p:txBody>
      </p:sp>
      <p:sp>
        <p:nvSpPr>
          <p:cNvPr id="579" name="Google Shape;579;p30"/>
          <p:cNvSpPr/>
          <p:nvPr/>
        </p:nvSpPr>
        <p:spPr>
          <a:xfrm>
            <a:off x="1047750" y="3300000"/>
            <a:ext cx="9880283" cy="38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2000">
                <a:solidFill>
                  <a:srgbClr val="0B7A6F"/>
                </a:solidFill>
                <a:latin typeface="Arial"/>
                <a:ea typeface="Arial"/>
                <a:cs typeface="Arial"/>
                <a:sym typeface="Arial"/>
              </a:rPr>
              <a:t>MA CONTRIBUTION PERSONNELLE</a:t>
            </a:r>
            <a:endParaRPr sz="2000">
              <a:solidFill>
                <a:schemeClr val="dk1"/>
              </a:solidFill>
              <a:latin typeface="Calibri"/>
              <a:ea typeface="Calibri"/>
              <a:cs typeface="Calibri"/>
              <a:sym typeface="Calibri"/>
            </a:endParaRPr>
          </a:p>
        </p:txBody>
      </p:sp>
      <p:sp>
        <p:nvSpPr>
          <p:cNvPr id="580" name="Google Shape;580;p30"/>
          <p:cNvSpPr/>
          <p:nvPr/>
        </p:nvSpPr>
        <p:spPr>
          <a:xfrm>
            <a:off x="1047750" y="3700000"/>
            <a:ext cx="9251537" cy="190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0" lang="en-US" sz="2000">
                <a:solidFill>
                  <a:srgbClr val="16212B"/>
                </a:solidFill>
                <a:latin typeface="Arial"/>
                <a:ea typeface="Arial"/>
                <a:cs typeface="Arial"/>
                <a:sym typeface="Arial"/>
              </a:rPr>
              <a:t>Scripts ml/prepare_data.py (chargement des features, split train/test) et ml/train.py (entraînement des 2 modèles), synthèse des expériences (docs/ml/experiments_summary.md). Hook de ml/train.py : écrit latest_training_run.json (run_id du run venant d’être entraîné) pour la porte de promotion.</a:t>
            </a:r>
            <a:endParaRPr/>
          </a:p>
        </p:txBody>
      </p:sp>
      <p:sp>
        <p:nvSpPr>
          <p:cNvPr id="581" name="Google Shape;581;p30"/>
          <p:cNvSpPr/>
          <p:nvPr/>
        </p:nvSpPr>
        <p:spPr>
          <a:xfrm>
            <a:off x="1047750" y="5900000"/>
            <a:ext cx="9880283" cy="38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2000">
                <a:solidFill>
                  <a:srgbClr val="0B7A6F"/>
                </a:solidFill>
                <a:latin typeface="Arial"/>
                <a:ea typeface="Arial"/>
                <a:cs typeface="Arial"/>
                <a:sym typeface="Arial"/>
              </a:rPr>
              <a:t>RÔLE DANS LE PIPELINE GLOBAL</a:t>
            </a:r>
            <a:endParaRPr sz="2000">
              <a:solidFill>
                <a:schemeClr val="dk1"/>
              </a:solidFill>
              <a:latin typeface="Calibri"/>
              <a:ea typeface="Calibri"/>
              <a:cs typeface="Calibri"/>
              <a:sym typeface="Calibri"/>
            </a:endParaRPr>
          </a:p>
        </p:txBody>
      </p:sp>
      <p:sp>
        <p:nvSpPr>
          <p:cNvPr id="582" name="Google Shape;582;p30"/>
          <p:cNvSpPr/>
          <p:nvPr/>
        </p:nvSpPr>
        <p:spPr>
          <a:xfrm>
            <a:off x="1047750" y="6300000"/>
            <a:ext cx="9251537" cy="110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0" lang="en-US" sz="2000">
                <a:solidFill>
                  <a:srgbClr val="16212B"/>
                </a:solidFill>
                <a:latin typeface="Arial"/>
                <a:ea typeface="Arial"/>
                <a:cs typeface="Arial"/>
                <a:sym typeface="Arial"/>
              </a:rPr>
              <a:t>Transforme la table dbt fct_transactions_features en jeux d'entraînement et de test, puis entraîne et compare RandomForest et régression logistique — la base des résultats montrés juste avant.</a:t>
            </a:r>
            <a:endParaRPr sz="2000">
              <a:solidFill>
                <a:schemeClr val="dk1"/>
              </a:solidFill>
              <a:latin typeface="Calibri"/>
              <a:ea typeface="Calibri"/>
              <a:cs typeface="Calibri"/>
              <a:sym typeface="Calibri"/>
            </a:endParaRPr>
          </a:p>
        </p:txBody>
      </p:sp>
      <p:sp>
        <p:nvSpPr>
          <p:cNvPr id="583" name="Google Shape;583;p30"/>
          <p:cNvSpPr/>
          <p:nvPr/>
        </p:nvSpPr>
        <p:spPr>
          <a:xfrm>
            <a:off x="10601325" y="3300000"/>
            <a:ext cx="7302818" cy="38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2000">
                <a:solidFill>
                  <a:srgbClr val="0B7A6F"/>
                </a:solidFill>
                <a:latin typeface="Arial"/>
                <a:ea typeface="Arial"/>
                <a:cs typeface="Arial"/>
                <a:sym typeface="Arial"/>
              </a:rPr>
              <a:t>DÉCISION TECHNIQUE CLÉ</a:t>
            </a:r>
            <a:endParaRPr sz="2000">
              <a:solidFill>
                <a:schemeClr val="dk1"/>
              </a:solidFill>
              <a:latin typeface="Calibri"/>
              <a:ea typeface="Calibri"/>
              <a:cs typeface="Calibri"/>
              <a:sym typeface="Calibri"/>
            </a:endParaRPr>
          </a:p>
        </p:txBody>
      </p:sp>
      <p:sp>
        <p:nvSpPr>
          <p:cNvPr id="584" name="Google Shape;584;p30"/>
          <p:cNvSpPr/>
          <p:nvPr/>
        </p:nvSpPr>
        <p:spPr>
          <a:xfrm>
            <a:off x="10601325" y="3700000"/>
            <a:ext cx="7302818" cy="190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0" lang="en-US" sz="2000">
                <a:solidFill>
                  <a:srgbClr val="16212B"/>
                </a:solidFill>
                <a:latin typeface="Arial"/>
                <a:ea typeface="Arial"/>
                <a:cs typeface="Arial"/>
                <a:sym typeface="Arial"/>
              </a:rPr>
              <a:t>Split stratifié sur is_fraud (test_size=0.2, random_state=42) : un split aléatoire simple risquerait un jeu de test avec trop peu — voire aucune — fraude. class_weight='balanced_subsample' pour le RandomForest et 'balanced' pour la baseline, pour compenser le déséquilibre de classes sans sur-échantillonnage artificiel.</a:t>
            </a:r>
            <a:endParaRPr sz="2000">
              <a:solidFill>
                <a:schemeClr val="dk1"/>
              </a:solidFill>
              <a:latin typeface="Calibri"/>
              <a:ea typeface="Calibri"/>
              <a:cs typeface="Calibri"/>
              <a:sym typeface="Calibri"/>
            </a:endParaRPr>
          </a:p>
        </p:txBody>
      </p:sp>
      <p:sp>
        <p:nvSpPr>
          <p:cNvPr id="585" name="Google Shape;585;p30"/>
          <p:cNvSpPr/>
          <p:nvPr/>
        </p:nvSpPr>
        <p:spPr>
          <a:xfrm>
            <a:off x="10601325" y="5900000"/>
            <a:ext cx="7302818" cy="38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2000">
                <a:solidFill>
                  <a:srgbClr val="0B7A6F"/>
                </a:solidFill>
                <a:latin typeface="Arial"/>
                <a:ea typeface="Arial"/>
                <a:cs typeface="Arial"/>
                <a:sym typeface="Arial"/>
              </a:rPr>
              <a:t>RÔLE AGILE</a:t>
            </a:r>
            <a:endParaRPr sz="2000">
              <a:solidFill>
                <a:schemeClr val="dk1"/>
              </a:solidFill>
              <a:latin typeface="Calibri"/>
              <a:ea typeface="Calibri"/>
              <a:cs typeface="Calibri"/>
              <a:sym typeface="Calibri"/>
            </a:endParaRPr>
          </a:p>
        </p:txBody>
      </p:sp>
      <p:sp>
        <p:nvSpPr>
          <p:cNvPr id="586" name="Google Shape;586;p30"/>
          <p:cNvSpPr/>
          <p:nvPr/>
        </p:nvSpPr>
        <p:spPr>
          <a:xfrm>
            <a:off x="10601325" y="6300000"/>
            <a:ext cx="7302818" cy="110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0" lang="en-US" sz="2000">
                <a:solidFill>
                  <a:srgbClr val="16212B"/>
                </a:solidFill>
                <a:latin typeface="Arial"/>
                <a:ea typeface="Arial"/>
                <a:cs typeface="Arial"/>
                <a:sym typeface="Arial"/>
              </a:rPr>
              <a:t>ML Engineer — responsable du choix des deux modèles comparés et de la préparation rigoureuse des données d'entraînement.</a:t>
            </a:r>
            <a:endParaRPr sz="2000">
              <a:solidFill>
                <a:schemeClr val="dk1"/>
              </a:solidFill>
              <a:latin typeface="Calibri"/>
              <a:ea typeface="Calibri"/>
              <a:cs typeface="Calibri"/>
              <a:sym typeface="Calibri"/>
            </a:endParaRPr>
          </a:p>
        </p:txBody>
      </p:sp>
      <p:sp>
        <p:nvSpPr>
          <p:cNvPr id="587" name="Google Shape;587;p30"/>
          <p:cNvSpPr/>
          <p:nvPr/>
        </p:nvSpPr>
        <p:spPr>
          <a:xfrm>
            <a:off x="16367760" y="9648825"/>
            <a:ext cx="914400"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0" lang="en-US" sz="1800">
                <a:solidFill>
                  <a:srgbClr val="5B6B80"/>
                </a:solidFill>
                <a:latin typeface="Courier New"/>
                <a:ea typeface="Courier New"/>
                <a:cs typeface="Courier New"/>
                <a:sym typeface="Courier New"/>
              </a:rPr>
              <a:t>29/41</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2" name="Shape 592"/>
        <p:cNvGrpSpPr/>
        <p:nvPr/>
      </p:nvGrpSpPr>
      <p:grpSpPr>
        <a:xfrm>
          <a:off x="0" y="0"/>
          <a:ext cx="0" cy="0"/>
          <a:chOff x="0" y="0"/>
          <a:chExt cx="0" cy="0"/>
        </a:xfrm>
      </p:grpSpPr>
      <p:sp>
        <p:nvSpPr>
          <p:cNvPr id="593" name="Google Shape;593;p31"/>
          <p:cNvSpPr/>
          <p:nvPr/>
        </p:nvSpPr>
        <p:spPr>
          <a:xfrm>
            <a:off x="1047750" y="914400"/>
            <a:ext cx="17811750"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1950"/>
              <a:buFont typeface="Courier New"/>
              <a:buNone/>
            </a:pPr>
            <a:r>
              <a:rPr b="1" lang="en-US" sz="1950">
                <a:solidFill>
                  <a:srgbClr val="0B7A6F"/>
                </a:solidFill>
                <a:latin typeface="Courier New"/>
                <a:ea typeface="Courier New"/>
                <a:cs typeface="Courier New"/>
                <a:sym typeface="Courier New"/>
              </a:rPr>
              <a:t>LIVRABLE 6</a:t>
            </a:r>
            <a:endParaRPr sz="1950">
              <a:solidFill>
                <a:schemeClr val="dk1"/>
              </a:solidFill>
              <a:latin typeface="Calibri"/>
              <a:ea typeface="Calibri"/>
              <a:cs typeface="Calibri"/>
              <a:sym typeface="Calibri"/>
            </a:endParaRPr>
          </a:p>
        </p:txBody>
      </p:sp>
      <p:sp>
        <p:nvSpPr>
          <p:cNvPr id="594" name="Google Shape;594;p31"/>
          <p:cNvSpPr/>
          <p:nvPr/>
        </p:nvSpPr>
        <p:spPr>
          <a:xfrm>
            <a:off x="1047750" y="1419225"/>
            <a:ext cx="17811750" cy="5524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3450"/>
              <a:buFont typeface="Arial"/>
              <a:buNone/>
            </a:pPr>
            <a:r>
              <a:rPr b="1" lang="en-US" sz="3450">
                <a:solidFill>
                  <a:srgbClr val="16212B"/>
                </a:solidFill>
                <a:latin typeface="Arial"/>
                <a:ea typeface="Arial"/>
                <a:cs typeface="Arial"/>
                <a:sym typeface="Arial"/>
              </a:rPr>
              <a:t>MLflow : Tracking &amp; Registry</a:t>
            </a:r>
            <a:endParaRPr sz="3450">
              <a:solidFill>
                <a:schemeClr val="dk1"/>
              </a:solidFill>
              <a:latin typeface="Calibri"/>
              <a:ea typeface="Calibri"/>
              <a:cs typeface="Calibri"/>
              <a:sym typeface="Calibri"/>
            </a:endParaRPr>
          </a:p>
        </p:txBody>
      </p:sp>
      <p:sp>
        <p:nvSpPr>
          <p:cNvPr id="595" name="Google Shape;595;p31"/>
          <p:cNvSpPr/>
          <p:nvPr/>
        </p:nvSpPr>
        <p:spPr>
          <a:xfrm>
            <a:off x="1047750" y="2878485"/>
            <a:ext cx="7858125" cy="5029200"/>
          </a:xfrm>
          <a:prstGeom prst="roundRect">
            <a:avLst>
              <a:gd fmla="val 3409"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96" name="Google Shape;596;p31"/>
          <p:cNvPicPr preferRelativeResize="0"/>
          <p:nvPr/>
        </p:nvPicPr>
        <p:blipFill rotWithShape="1">
          <a:blip r:embed="rId3">
            <a:alphaModFix/>
          </a:blip>
          <a:srcRect b="0" l="0" r="0" t="0"/>
          <a:stretch/>
        </p:blipFill>
        <p:spPr>
          <a:xfrm>
            <a:off x="2209800" y="3107085"/>
            <a:ext cx="5534025" cy="4571851"/>
          </a:xfrm>
          <a:prstGeom prst="rect">
            <a:avLst/>
          </a:prstGeom>
          <a:noFill/>
          <a:ln>
            <a:noFill/>
          </a:ln>
        </p:spPr>
      </p:pic>
      <p:sp>
        <p:nvSpPr>
          <p:cNvPr id="597" name="Google Shape;597;p31"/>
          <p:cNvSpPr/>
          <p:nvPr/>
        </p:nvSpPr>
        <p:spPr>
          <a:xfrm>
            <a:off x="654844" y="8060085"/>
            <a:ext cx="8643938" cy="358080"/>
          </a:xfrm>
          <a:prstGeom prst="rect">
            <a:avLst/>
          </a:prstGeom>
          <a:noFill/>
          <a:ln>
            <a:noFill/>
          </a:ln>
        </p:spPr>
        <p:txBody>
          <a:bodyPr anchorCtr="0" anchor="t" bIns="25400" lIns="25400" spcFirstLastPara="1" rIns="25400" wrap="square" tIns="25400">
            <a:noAutofit/>
          </a:bodyPr>
          <a:lstStyle/>
          <a:p>
            <a:pPr indent="0" lvl="0" marL="0" marR="0" rtl="0" algn="ctr">
              <a:lnSpc>
                <a:spcPct val="120000"/>
              </a:lnSpc>
              <a:spcBef>
                <a:spcPts val="0"/>
              </a:spcBef>
              <a:spcAft>
                <a:spcPts val="0"/>
              </a:spcAft>
              <a:buClr>
                <a:srgbClr val="5B6B80"/>
              </a:buClr>
              <a:buSzPts val="1800"/>
              <a:buFont typeface="Arial"/>
              <a:buNone/>
            </a:pPr>
            <a:r>
              <a:rPr lang="en-US" sz="1800">
                <a:solidFill>
                  <a:srgbClr val="5B6B80"/>
                </a:solidFill>
                <a:latin typeface="Arial"/>
                <a:ea typeface="Arial"/>
                <a:cs typeface="Arial"/>
                <a:sym typeface="Arial"/>
              </a:rPr>
              <a:t>Figure 16 — paramètres / métriques / artefacts du run </a:t>
            </a:r>
            <a:r>
              <a:rPr lang="en-US" sz="1800">
                <a:solidFill>
                  <a:srgbClr val="0B7A6F"/>
                </a:solidFill>
                <a:latin typeface="Courier New"/>
                <a:ea typeface="Courier New"/>
                <a:cs typeface="Courier New"/>
                <a:sym typeface="Courier New"/>
              </a:rPr>
              <a:t>rf_balanced_v1</a:t>
            </a:r>
            <a:endParaRPr sz="1800">
              <a:solidFill>
                <a:schemeClr val="dk1"/>
              </a:solidFill>
              <a:latin typeface="Calibri"/>
              <a:ea typeface="Calibri"/>
              <a:cs typeface="Calibri"/>
              <a:sym typeface="Calibri"/>
            </a:endParaRPr>
          </a:p>
        </p:txBody>
      </p:sp>
      <p:sp>
        <p:nvSpPr>
          <p:cNvPr id="598" name="Google Shape;598;p31"/>
          <p:cNvSpPr/>
          <p:nvPr/>
        </p:nvSpPr>
        <p:spPr>
          <a:xfrm>
            <a:off x="9382125" y="2878485"/>
            <a:ext cx="7858125" cy="5029200"/>
          </a:xfrm>
          <a:prstGeom prst="roundRect">
            <a:avLst>
              <a:gd fmla="val 3409"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99" name="Google Shape;599;p31"/>
          <p:cNvPicPr preferRelativeResize="0"/>
          <p:nvPr/>
        </p:nvPicPr>
        <p:blipFill rotWithShape="1">
          <a:blip r:embed="rId4">
            <a:alphaModFix/>
          </a:blip>
          <a:srcRect b="0" l="-2" r="-2" t="0"/>
          <a:stretch/>
        </p:blipFill>
        <p:spPr>
          <a:xfrm>
            <a:off x="9610725" y="4434929"/>
            <a:ext cx="7400925" cy="1916162"/>
          </a:xfrm>
          <a:prstGeom prst="rect">
            <a:avLst/>
          </a:prstGeom>
          <a:noFill/>
          <a:ln>
            <a:noFill/>
          </a:ln>
        </p:spPr>
      </p:pic>
      <p:sp>
        <p:nvSpPr>
          <p:cNvPr id="600" name="Google Shape;600;p31"/>
          <p:cNvSpPr/>
          <p:nvPr/>
        </p:nvSpPr>
        <p:spPr>
          <a:xfrm>
            <a:off x="8989219" y="8060085"/>
            <a:ext cx="8643938" cy="358080"/>
          </a:xfrm>
          <a:prstGeom prst="rect">
            <a:avLst/>
          </a:prstGeom>
          <a:noFill/>
          <a:ln>
            <a:noFill/>
          </a:ln>
        </p:spPr>
        <p:txBody>
          <a:bodyPr anchorCtr="0" anchor="t" bIns="25400" lIns="25400" spcFirstLastPara="1" rIns="25400" wrap="square" tIns="25400">
            <a:noAutofit/>
          </a:bodyPr>
          <a:lstStyle/>
          <a:p>
            <a:pPr indent="0" lvl="0" marL="0" marR="0" rtl="0" algn="ctr">
              <a:lnSpc>
                <a:spcPct val="120000"/>
              </a:lnSpc>
              <a:spcBef>
                <a:spcPts val="0"/>
              </a:spcBef>
              <a:spcAft>
                <a:spcPts val="0"/>
              </a:spcAft>
              <a:buClr>
                <a:srgbClr val="5B6B80"/>
              </a:buClr>
              <a:buSzPts val="1800"/>
              <a:buFont typeface="Arial"/>
              <a:buNone/>
            </a:pPr>
            <a:r>
              <a:rPr lang="en-US" sz="1800">
                <a:solidFill>
                  <a:srgbClr val="5B6B80"/>
                </a:solidFill>
                <a:latin typeface="Arial"/>
                <a:ea typeface="Arial"/>
                <a:cs typeface="Arial"/>
                <a:sym typeface="Arial"/>
              </a:rPr>
              <a:t>Figure 17 — </a:t>
            </a:r>
            <a:r>
              <a:rPr lang="en-US" sz="1800">
                <a:solidFill>
                  <a:srgbClr val="0B7A6F"/>
                </a:solidFill>
                <a:latin typeface="Courier New"/>
                <a:ea typeface="Courier New"/>
                <a:cs typeface="Courier New"/>
                <a:sym typeface="Courier New"/>
              </a:rPr>
              <a:t>fraud-detection-classifier </a:t>
            </a:r>
            <a:r>
              <a:rPr lang="en-US" sz="1800">
                <a:solidFill>
                  <a:srgbClr val="5B6B80"/>
                </a:solidFill>
                <a:latin typeface="Arial"/>
                <a:ea typeface="Arial"/>
                <a:cs typeface="Arial"/>
                <a:sym typeface="Arial"/>
              </a:rPr>
              <a:t>promu au stage Production</a:t>
            </a:r>
            <a:endParaRPr sz="1800">
              <a:solidFill>
                <a:schemeClr val="dk1"/>
              </a:solidFill>
              <a:latin typeface="Calibri"/>
              <a:ea typeface="Calibri"/>
              <a:cs typeface="Calibri"/>
              <a:sym typeface="Calibri"/>
            </a:endParaRPr>
          </a:p>
        </p:txBody>
      </p:sp>
      <p:sp>
        <p:nvSpPr>
          <p:cNvPr id="601" name="Google Shape;601;p31"/>
          <p:cNvSpPr/>
          <p:nvPr/>
        </p:nvSpPr>
        <p:spPr>
          <a:xfrm>
            <a:off x="238125" y="9267825"/>
            <a:ext cx="17811750" cy="333375"/>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6212B"/>
              </a:buClr>
              <a:buSzPts val="1950"/>
              <a:buFont typeface="Arial"/>
              <a:buNone/>
            </a:pPr>
            <a:r>
              <a:rPr lang="en-US" sz="1950">
                <a:solidFill>
                  <a:srgbClr val="16212B"/>
                </a:solidFill>
                <a:latin typeface="Arial"/>
                <a:ea typeface="Arial"/>
                <a:cs typeface="Arial"/>
                <a:sym typeface="Arial"/>
              </a:rPr>
              <a:t>Le cycle de vie du modèle est réellement </a:t>
            </a:r>
            <a:r>
              <a:rPr b="1" lang="en-US" sz="1950">
                <a:solidFill>
                  <a:srgbClr val="0B7A6F"/>
                </a:solidFill>
                <a:latin typeface="Arial"/>
                <a:ea typeface="Arial"/>
                <a:cs typeface="Arial"/>
                <a:sym typeface="Arial"/>
              </a:rPr>
              <a:t>géré</a:t>
            </a:r>
            <a:r>
              <a:rPr lang="en-US" sz="1950">
                <a:solidFill>
                  <a:srgbClr val="16212B"/>
                </a:solidFill>
                <a:latin typeface="Arial"/>
                <a:ea typeface="Arial"/>
                <a:cs typeface="Arial"/>
                <a:sym typeface="Arial"/>
              </a:rPr>
              <a:t>, pas seulement documenté.</a:t>
            </a:r>
            <a:endParaRPr sz="1950">
              <a:solidFill>
                <a:schemeClr val="dk1"/>
              </a:solidFill>
              <a:latin typeface="Calibri"/>
              <a:ea typeface="Calibri"/>
              <a:cs typeface="Calibri"/>
              <a:sym typeface="Calibri"/>
            </a:endParaRPr>
          </a:p>
        </p:txBody>
      </p:sp>
      <p:sp>
        <p:nvSpPr>
          <p:cNvPr id="602" name="Google Shape;602;p31"/>
          <p:cNvSpPr/>
          <p:nvPr/>
        </p:nvSpPr>
        <p:spPr>
          <a:xfrm>
            <a:off x="16367760" y="9648825"/>
            <a:ext cx="914400"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5B6B80"/>
              </a:buClr>
              <a:buSzPts val="1800"/>
              <a:buFont typeface="Courier New"/>
              <a:buNone/>
            </a:pPr>
            <a:r>
              <a:rPr lang="en-US" sz="1800">
                <a:solidFill>
                  <a:srgbClr val="5B6B80"/>
                </a:solidFill>
                <a:latin typeface="Courier New"/>
                <a:ea typeface="Courier New"/>
                <a:cs typeface="Courier New"/>
                <a:sym typeface="Courier New"/>
              </a:rPr>
              <a:t>30/41</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7" name="Shape 607"/>
        <p:cNvGrpSpPr/>
        <p:nvPr/>
      </p:nvGrpSpPr>
      <p:grpSpPr>
        <a:xfrm>
          <a:off x="0" y="0"/>
          <a:ext cx="0" cy="0"/>
          <a:chOff x="0" y="0"/>
          <a:chExt cx="0" cy="0"/>
        </a:xfrm>
      </p:grpSpPr>
      <p:sp>
        <p:nvSpPr>
          <p:cNvPr id="608" name="Google Shape;608;p32"/>
          <p:cNvSpPr txBox="1"/>
          <p:nvPr/>
        </p:nvSpPr>
        <p:spPr>
          <a:xfrm>
            <a:off x="1047720" y="914400"/>
            <a:ext cx="17811598" cy="371246"/>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950"/>
              <a:buFont typeface="Courier New"/>
              <a:buNone/>
            </a:pPr>
            <a:r>
              <a:rPr b="1" lang="en-US" sz="1950">
                <a:solidFill>
                  <a:srgbClr val="0B7A6F"/>
                </a:solidFill>
                <a:latin typeface="Courier New"/>
                <a:ea typeface="Courier New"/>
                <a:cs typeface="Courier New"/>
                <a:sym typeface="Courier New"/>
              </a:rPr>
              <a:t>CHAPITRE 3 — §4 · PORTE DE PROMOTION</a:t>
            </a:r>
            <a:endParaRPr/>
          </a:p>
        </p:txBody>
      </p:sp>
      <p:sp>
        <p:nvSpPr>
          <p:cNvPr id="609" name="Google Shape;609;p32"/>
          <p:cNvSpPr txBox="1"/>
          <p:nvPr/>
        </p:nvSpPr>
        <p:spPr>
          <a:xfrm>
            <a:off x="1047720" y="1419149"/>
            <a:ext cx="17811598" cy="55229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3450"/>
              <a:buFont typeface="Arial"/>
              <a:buNone/>
            </a:pPr>
            <a:r>
              <a:rPr b="1" lang="en-US" sz="3450">
                <a:solidFill>
                  <a:srgbClr val="16212B"/>
                </a:solidFill>
                <a:latin typeface="Arial"/>
                <a:ea typeface="Arial"/>
                <a:cs typeface="Arial"/>
                <a:sym typeface="Arial"/>
              </a:rPr>
              <a:t>Ne jamais dégrader le modèle en Production</a:t>
            </a:r>
            <a:endParaRPr/>
          </a:p>
        </p:txBody>
      </p:sp>
      <p:sp>
        <p:nvSpPr>
          <p:cNvPr id="610" name="Google Shape;610;p32"/>
          <p:cNvSpPr txBox="1"/>
          <p:nvPr/>
        </p:nvSpPr>
        <p:spPr>
          <a:xfrm>
            <a:off x="16367760" y="9646920"/>
            <a:ext cx="914400" cy="333756"/>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B6B80"/>
              </a:buClr>
              <a:buSzPts val="1800"/>
              <a:buFont typeface="Courier New"/>
              <a:buNone/>
            </a:pPr>
            <a:r>
              <a:rPr lang="en-US" sz="1800">
                <a:solidFill>
                  <a:srgbClr val="5B6B80"/>
                </a:solidFill>
                <a:latin typeface="Courier New"/>
                <a:ea typeface="Courier New"/>
                <a:cs typeface="Courier New"/>
                <a:sym typeface="Courier New"/>
              </a:rPr>
              <a:t>31/41</a:t>
            </a:r>
            <a:endParaRPr/>
          </a:p>
        </p:txBody>
      </p:sp>
      <p:sp>
        <p:nvSpPr>
          <p:cNvPr id="611" name="Google Shape;611;p32"/>
          <p:cNvSpPr/>
          <p:nvPr/>
        </p:nvSpPr>
        <p:spPr>
          <a:xfrm>
            <a:off x="1047902" y="2468880"/>
            <a:ext cx="7863840" cy="2743200"/>
          </a:xfrm>
          <a:prstGeom prst="roundRect">
            <a:avLst>
              <a:gd fmla="val 4000" name="adj"/>
            </a:avLst>
          </a:prstGeom>
          <a:solidFill>
            <a:srgbClr val="F5F7FA"/>
          </a:solidFill>
          <a:ln>
            <a:noFill/>
          </a:ln>
        </p:spPr>
        <p:txBody>
          <a:bodyPr anchorCtr="0" anchor="ctr" bIns="137150" lIns="274300" spcFirstLastPara="1" rIns="274300" wrap="square" tIns="137150">
            <a:noAutofit/>
          </a:bodyPr>
          <a:lstStyle/>
          <a:p>
            <a:pPr indent="0" lvl="0" marL="0" marR="0" rtl="0" algn="l">
              <a:spcBef>
                <a:spcPts val="0"/>
              </a:spcBef>
              <a:spcAft>
                <a:spcPts val="0"/>
              </a:spcAft>
              <a:buClr>
                <a:srgbClr val="0B7A6F"/>
              </a:buClr>
              <a:buSzPts val="1800"/>
              <a:buFont typeface="Courier New"/>
              <a:buNone/>
            </a:pPr>
            <a:r>
              <a:rPr b="1" lang="en-US" sz="1800">
                <a:solidFill>
                  <a:srgbClr val="0B7A6F"/>
                </a:solidFill>
                <a:latin typeface="Courier New"/>
                <a:ea typeface="Courier New"/>
                <a:cs typeface="Courier New"/>
                <a:sym typeface="Courier New"/>
              </a:rPr>
              <a:t>RÈGLE</a:t>
            </a:r>
            <a:endParaRPr/>
          </a:p>
          <a:p>
            <a:pPr indent="0" lvl="0" marL="0" marR="0" rtl="0" algn="l">
              <a:spcBef>
                <a:spcPts val="400"/>
              </a:spcBef>
              <a:spcAft>
                <a:spcPts val="0"/>
              </a:spcAft>
              <a:buClr>
                <a:srgbClr val="16212B"/>
              </a:buClr>
              <a:buSzPts val="2300"/>
              <a:buFont typeface="Courier New"/>
              <a:buNone/>
            </a:pPr>
            <a:r>
              <a:rPr b="1" lang="en-US" sz="2300">
                <a:solidFill>
                  <a:srgbClr val="16212B"/>
                </a:solidFill>
                <a:latin typeface="Courier New"/>
                <a:ea typeface="Courier New"/>
                <a:cs typeface="Courier New"/>
                <a:sym typeface="Courier New"/>
              </a:rPr>
              <a:t>pr_auc(candidat) &gt; pr_auc(Production)</a:t>
            </a:r>
            <a:endParaRPr/>
          </a:p>
          <a:p>
            <a:pPr indent="0" lvl="0" marL="0" marR="0" rtl="0" algn="l">
              <a:lnSpc>
                <a:spcPct val="115000"/>
              </a:lnSpc>
              <a:spcBef>
                <a:spcPts val="500"/>
              </a:spcBef>
              <a:spcAft>
                <a:spcPts val="0"/>
              </a:spcAft>
              <a:buClr>
                <a:srgbClr val="5B6B80"/>
              </a:buClr>
              <a:buSzPts val="1800"/>
              <a:buFont typeface="Arial"/>
              <a:buNone/>
            </a:pPr>
            <a:r>
              <a:rPr lang="en-US" sz="1800">
                <a:solidFill>
                  <a:srgbClr val="5B6B80"/>
                </a:solidFill>
                <a:latin typeface="Arial"/>
                <a:ea typeface="Arial"/>
                <a:cs typeface="Arial"/>
                <a:sym typeface="Arial"/>
              </a:rPr>
              <a:t>Candidat = le run que ml/train.py vient de produire (marqueur latest_training_run.json). Aucun modèle en Production → promotion automatique.</a:t>
            </a:r>
            <a:endParaRPr/>
          </a:p>
        </p:txBody>
      </p:sp>
      <p:sp>
        <p:nvSpPr>
          <p:cNvPr id="612" name="Google Shape;612;p32"/>
          <p:cNvSpPr/>
          <p:nvPr/>
        </p:nvSpPr>
        <p:spPr>
          <a:xfrm>
            <a:off x="1047902" y="5486400"/>
            <a:ext cx="7863840" cy="2286000"/>
          </a:xfrm>
          <a:prstGeom prst="roundRect">
            <a:avLst>
              <a:gd fmla="val 4000" name="adj"/>
            </a:avLst>
          </a:prstGeom>
          <a:solidFill>
            <a:srgbClr val="F5F7FA"/>
          </a:solidFill>
          <a:ln>
            <a:noFill/>
          </a:ln>
        </p:spPr>
        <p:txBody>
          <a:bodyPr anchorCtr="0" anchor="ctr" bIns="137150" lIns="274300" spcFirstLastPara="1" rIns="274300" wrap="square" tIns="137150">
            <a:noAutofit/>
          </a:bodyPr>
          <a:lstStyle/>
          <a:p>
            <a:pPr indent="0" lvl="0" marL="0" marR="0" rtl="0" algn="l">
              <a:spcBef>
                <a:spcPts val="0"/>
              </a:spcBef>
              <a:spcAft>
                <a:spcPts val="0"/>
              </a:spcAft>
              <a:buClr>
                <a:srgbClr val="0B7A6F"/>
              </a:buClr>
              <a:buSzPts val="1800"/>
              <a:buFont typeface="Courier New"/>
              <a:buNone/>
            </a:pPr>
            <a:r>
              <a:rPr b="1" lang="en-US" sz="1800">
                <a:solidFill>
                  <a:srgbClr val="0B7A6F"/>
                </a:solidFill>
                <a:latin typeface="Courier New"/>
                <a:ea typeface="Courier New"/>
                <a:cs typeface="Courier New"/>
                <a:sym typeface="Courier New"/>
              </a:rPr>
              <a:t>POURQUOI</a:t>
            </a:r>
            <a:endParaRPr/>
          </a:p>
          <a:p>
            <a:pPr indent="0" lvl="0" marL="0" marR="0" rtl="0" algn="l">
              <a:lnSpc>
                <a:spcPct val="115000"/>
              </a:lnSpc>
              <a:spcBef>
                <a:spcPts val="400"/>
              </a:spcBef>
              <a:spcAft>
                <a:spcPts val="0"/>
              </a:spcAft>
              <a:buClr>
                <a:srgbClr val="5B6B80"/>
              </a:buClr>
              <a:buSzPts val="1800"/>
              <a:buFont typeface="Arial"/>
              <a:buNone/>
            </a:pPr>
            <a:r>
              <a:rPr lang="en-US" sz="1800">
                <a:solidFill>
                  <a:srgbClr val="5B6B80"/>
                </a:solidFill>
                <a:latin typeface="Arial"/>
                <a:ea typeface="Arial"/>
                <a:cs typeface="Arial"/>
                <a:sym typeface="Arial"/>
              </a:rPr>
              <a:t>Sans garde-fou, un ré-entraînement sur des données bruitées ou dérivées dégraderait silencieusement le modèle en production à chaque déclenchement automatique.</a:t>
            </a:r>
            <a:endParaRPr/>
          </a:p>
        </p:txBody>
      </p:sp>
      <p:sp>
        <p:nvSpPr>
          <p:cNvPr id="613" name="Google Shape;613;p32"/>
          <p:cNvSpPr/>
          <p:nvPr/>
        </p:nvSpPr>
        <p:spPr>
          <a:xfrm>
            <a:off x="9418320" y="2468880"/>
            <a:ext cx="7818120" cy="2743200"/>
          </a:xfrm>
          <a:prstGeom prst="roundRect">
            <a:avLst>
              <a:gd fmla="val 4000" name="adj"/>
            </a:avLst>
          </a:prstGeom>
          <a:solidFill>
            <a:srgbClr val="E3F1EE"/>
          </a:solidFill>
          <a:ln cap="flat" cmpd="sng" w="19050">
            <a:solidFill>
              <a:srgbClr val="0B7A6F"/>
            </a:solidFill>
            <a:prstDash val="solid"/>
            <a:round/>
            <a:headEnd len="sm" w="sm" type="none"/>
            <a:tailEnd len="sm" w="sm" type="none"/>
          </a:ln>
        </p:spPr>
        <p:txBody>
          <a:bodyPr anchorCtr="0" anchor="ctr" bIns="137150" lIns="274300" spcFirstLastPara="1" rIns="274300" wrap="square" tIns="137150">
            <a:noAutofit/>
          </a:bodyPr>
          <a:lstStyle/>
          <a:p>
            <a:pPr indent="0" lvl="0" marL="0" marR="0" rtl="0" algn="l">
              <a:spcBef>
                <a:spcPts val="0"/>
              </a:spcBef>
              <a:spcAft>
                <a:spcPts val="0"/>
              </a:spcAft>
              <a:buClr>
                <a:srgbClr val="0B5C4C"/>
              </a:buClr>
              <a:buSzPts val="2200"/>
              <a:buFont typeface="Arial"/>
              <a:buNone/>
            </a:pPr>
            <a:r>
              <a:rPr b="1" lang="en-US" sz="2200">
                <a:solidFill>
                  <a:srgbClr val="0B5C4C"/>
                </a:solidFill>
                <a:latin typeface="Arial"/>
                <a:ea typeface="Arial"/>
                <a:cs typeface="Arial"/>
                <a:sym typeface="Arial"/>
              </a:rPr>
              <a:t>Candidat meilleur → Production</a:t>
            </a:r>
            <a:endParaRPr/>
          </a:p>
          <a:p>
            <a:pPr indent="0" lvl="0" marL="0" marR="0" rtl="0" algn="l">
              <a:spcBef>
                <a:spcPts val="500"/>
              </a:spcBef>
              <a:spcAft>
                <a:spcPts val="0"/>
              </a:spcAft>
              <a:buClr>
                <a:srgbClr val="16212B"/>
              </a:buClr>
              <a:buSzPts val="1800"/>
              <a:buFont typeface="Arial"/>
              <a:buNone/>
            </a:pPr>
            <a:r>
              <a:rPr lang="en-US" sz="1800">
                <a:solidFill>
                  <a:srgbClr val="16212B"/>
                </a:solidFill>
                <a:latin typeface="Arial"/>
                <a:ea typeface="Arial"/>
                <a:cs typeface="Arial"/>
                <a:sym typeface="Arial"/>
              </a:rPr>
              <a:t>— stage MLflow : Production</a:t>
            </a:r>
            <a:endParaRPr/>
          </a:p>
          <a:p>
            <a:pPr indent="0" lvl="0" marL="0" marR="0" rtl="0" algn="l">
              <a:spcBef>
                <a:spcPts val="250"/>
              </a:spcBef>
              <a:spcAft>
                <a:spcPts val="0"/>
              </a:spcAft>
              <a:buClr>
                <a:srgbClr val="16212B"/>
              </a:buClr>
              <a:buSzPts val="1800"/>
              <a:buFont typeface="Arial"/>
              <a:buNone/>
            </a:pPr>
            <a:r>
              <a:rPr lang="en-US" sz="1800">
                <a:solidFill>
                  <a:srgbClr val="16212B"/>
                </a:solidFill>
                <a:latin typeface="Arial"/>
                <a:ea typeface="Arial"/>
                <a:cs typeface="Arial"/>
                <a:sym typeface="Arial"/>
              </a:rPr>
              <a:t>— model.pkl + model_version.txt commités (identité bot)</a:t>
            </a:r>
            <a:endParaRPr/>
          </a:p>
          <a:p>
            <a:pPr indent="0" lvl="0" marL="0" marR="0" rtl="0" algn="l">
              <a:spcBef>
                <a:spcPts val="250"/>
              </a:spcBef>
              <a:spcAft>
                <a:spcPts val="0"/>
              </a:spcAft>
              <a:buClr>
                <a:srgbClr val="16212B"/>
              </a:buClr>
              <a:buSzPts val="1800"/>
              <a:buFont typeface="Arial"/>
              <a:buNone/>
            </a:pPr>
            <a:r>
              <a:rPr lang="en-US" sz="1800">
                <a:solidFill>
                  <a:srgbClr val="16212B"/>
                </a:solidFill>
                <a:latin typeface="Arial"/>
                <a:ea typeface="Arial"/>
                <a:cs typeface="Arial"/>
                <a:sym typeface="Arial"/>
              </a:rPr>
              <a:t>— serveur MLflow vivant (PostgreSQL + MinIO) : plus de snapshot à republier</a:t>
            </a:r>
            <a:endParaRPr/>
          </a:p>
        </p:txBody>
      </p:sp>
      <p:sp>
        <p:nvSpPr>
          <p:cNvPr id="614" name="Google Shape;614;p32"/>
          <p:cNvSpPr/>
          <p:nvPr/>
        </p:nvSpPr>
        <p:spPr>
          <a:xfrm>
            <a:off x="9418320" y="5486400"/>
            <a:ext cx="7818120" cy="2286000"/>
          </a:xfrm>
          <a:prstGeom prst="roundRect">
            <a:avLst>
              <a:gd fmla="val 4000" name="adj"/>
            </a:avLst>
          </a:prstGeom>
          <a:solidFill>
            <a:srgbClr val="FBEAEA"/>
          </a:solidFill>
          <a:ln cap="flat" cmpd="sng" w="19050">
            <a:solidFill>
              <a:srgbClr val="B03A2E"/>
            </a:solidFill>
            <a:prstDash val="solid"/>
            <a:round/>
            <a:headEnd len="sm" w="sm" type="none"/>
            <a:tailEnd len="sm" w="sm" type="none"/>
          </a:ln>
        </p:spPr>
        <p:txBody>
          <a:bodyPr anchorCtr="0" anchor="ctr" bIns="137150" lIns="274300" spcFirstLastPara="1" rIns="274300" wrap="square" tIns="137150">
            <a:noAutofit/>
          </a:bodyPr>
          <a:lstStyle/>
          <a:p>
            <a:pPr indent="0" lvl="0" marL="0" marR="0" rtl="0" algn="l">
              <a:spcBef>
                <a:spcPts val="0"/>
              </a:spcBef>
              <a:spcAft>
                <a:spcPts val="0"/>
              </a:spcAft>
              <a:buClr>
                <a:srgbClr val="8E2A20"/>
              </a:buClr>
              <a:buSzPts val="2200"/>
              <a:buFont typeface="Arial"/>
              <a:buNone/>
            </a:pPr>
            <a:r>
              <a:rPr b="1" lang="en-US" sz="2200">
                <a:solidFill>
                  <a:srgbClr val="8E2A20"/>
                </a:solidFill>
                <a:latin typeface="Arial"/>
                <a:ea typeface="Arial"/>
                <a:cs typeface="Arial"/>
                <a:sym typeface="Arial"/>
              </a:rPr>
              <a:t>Sinon → reste en Staging</a:t>
            </a:r>
            <a:endParaRPr/>
          </a:p>
          <a:p>
            <a:pPr indent="0" lvl="0" marL="0" marR="0" rtl="0" algn="l">
              <a:spcBef>
                <a:spcPts val="500"/>
              </a:spcBef>
              <a:spcAft>
                <a:spcPts val="0"/>
              </a:spcAft>
              <a:buClr>
                <a:srgbClr val="16212B"/>
              </a:buClr>
              <a:buSzPts val="1800"/>
              <a:buFont typeface="Arial"/>
              <a:buNone/>
            </a:pPr>
            <a:r>
              <a:rPr lang="en-US" sz="1800">
                <a:solidFill>
                  <a:srgbClr val="16212B"/>
                </a:solidFill>
                <a:latin typeface="Arial"/>
                <a:ea typeface="Arial"/>
                <a:cs typeface="Arial"/>
                <a:sym typeface="Arial"/>
              </a:rPr>
              <a:t>— enregistré, visible et comparable dans le registre</a:t>
            </a:r>
            <a:endParaRPr/>
          </a:p>
          <a:p>
            <a:pPr indent="0" lvl="0" marL="0" marR="0" rtl="0" algn="l">
              <a:spcBef>
                <a:spcPts val="250"/>
              </a:spcBef>
              <a:spcAft>
                <a:spcPts val="0"/>
              </a:spcAft>
              <a:buClr>
                <a:srgbClr val="16212B"/>
              </a:buClr>
              <a:buSzPts val="1800"/>
              <a:buFont typeface="Arial"/>
              <a:buNone/>
            </a:pPr>
            <a:r>
              <a:rPr lang="en-US" sz="1800">
                <a:solidFill>
                  <a:srgbClr val="16212B"/>
                </a:solidFill>
                <a:latin typeface="Arial"/>
                <a:ea typeface="Arial"/>
                <a:cs typeface="Arial"/>
                <a:sym typeface="Arial"/>
              </a:rPr>
              <a:t>— l’API de scoring continue de servir l’ancien modèle</a:t>
            </a:r>
            <a:endParaRPr/>
          </a:p>
        </p:txBody>
      </p:sp>
      <p:sp>
        <p:nvSpPr>
          <p:cNvPr id="615" name="Google Shape;615;p32"/>
          <p:cNvSpPr/>
          <p:nvPr/>
        </p:nvSpPr>
        <p:spPr>
          <a:xfrm>
            <a:off x="1047902" y="8092440"/>
            <a:ext cx="16184880" cy="1097280"/>
          </a:xfrm>
          <a:prstGeom prst="roundRect">
            <a:avLst>
              <a:gd fmla="val 4000" name="adj"/>
            </a:avLst>
          </a:prstGeom>
          <a:solidFill>
            <a:srgbClr val="E3F1EE"/>
          </a:solidFill>
          <a:ln>
            <a:noFill/>
          </a:ln>
        </p:spPr>
        <p:txBody>
          <a:bodyPr anchorCtr="0" anchor="ctr" bIns="137150" lIns="274300" spcFirstLastPara="1" rIns="274300" wrap="square" tIns="137150">
            <a:noAutofit/>
          </a:bodyPr>
          <a:lstStyle/>
          <a:p>
            <a:pPr indent="0" lvl="0" marL="0" marR="0" rtl="0" algn="l">
              <a:lnSpc>
                <a:spcPct val="112000"/>
              </a:lnSpc>
              <a:spcBef>
                <a:spcPts val="0"/>
              </a:spcBef>
              <a:spcAft>
                <a:spcPts val="0"/>
              </a:spcAft>
              <a:buClr>
                <a:srgbClr val="0B7A6F"/>
              </a:buClr>
              <a:buSzPts val="1900"/>
              <a:buFont typeface="Arial"/>
              <a:buNone/>
            </a:pPr>
            <a:r>
              <a:rPr b="1" lang="en-US" sz="1900">
                <a:solidFill>
                  <a:srgbClr val="0B7A6F"/>
                </a:solidFill>
                <a:latin typeface="Arial"/>
                <a:ea typeface="Arial"/>
                <a:cs typeface="Arial"/>
                <a:sym typeface="Arial"/>
              </a:rPr>
              <a:t>Vérifié : en local, la porte a refusé un candidat plus faible ; par défaut (auto_promote = false) le candidat reste en Staging jusqu’à l’approbation dans l’interface. Depuis le passage à un serveur MLflow vivant, le registre neuf de Komodo a enregistré la version 1 en Staging (Figure 56) : auto_promote reste désactivé, elle attend une approbation humaine.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0" name="Shape 620"/>
        <p:cNvGrpSpPr/>
        <p:nvPr/>
      </p:nvGrpSpPr>
      <p:grpSpPr>
        <a:xfrm>
          <a:off x="0" y="0"/>
          <a:ext cx="0" cy="0"/>
          <a:chOff x="0" y="0"/>
          <a:chExt cx="0" cy="0"/>
        </a:xfrm>
      </p:grpSpPr>
      <p:sp>
        <p:nvSpPr>
          <p:cNvPr id="621" name="Google Shape;621;p33"/>
          <p:cNvSpPr/>
          <p:nvPr/>
        </p:nvSpPr>
        <p:spPr>
          <a:xfrm>
            <a:off x="1047750" y="914400"/>
            <a:ext cx="17811750"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1950"/>
              <a:buFont typeface="Courier New"/>
              <a:buNone/>
            </a:pPr>
            <a:r>
              <a:rPr b="1" lang="en-US" sz="1950">
                <a:solidFill>
                  <a:srgbClr val="0B7A6F"/>
                </a:solidFill>
                <a:latin typeface="Courier New"/>
                <a:ea typeface="Courier New"/>
                <a:cs typeface="Courier New"/>
                <a:sym typeface="Courier New"/>
              </a:rPr>
              <a:t>DÉMONSTRATION</a:t>
            </a:r>
            <a:endParaRPr sz="1950">
              <a:solidFill>
                <a:schemeClr val="dk1"/>
              </a:solidFill>
              <a:latin typeface="Calibri"/>
              <a:ea typeface="Calibri"/>
              <a:cs typeface="Calibri"/>
              <a:sym typeface="Calibri"/>
            </a:endParaRPr>
          </a:p>
        </p:txBody>
      </p:sp>
      <p:sp>
        <p:nvSpPr>
          <p:cNvPr id="622" name="Google Shape;622;p33"/>
          <p:cNvSpPr/>
          <p:nvPr/>
        </p:nvSpPr>
        <p:spPr>
          <a:xfrm>
            <a:off x="1047750" y="1419225"/>
            <a:ext cx="17811750" cy="5524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3450"/>
              <a:buFont typeface="Arial"/>
              <a:buNone/>
            </a:pPr>
            <a:r>
              <a:rPr b="1" lang="en-US" sz="3450">
                <a:solidFill>
                  <a:srgbClr val="16212B"/>
                </a:solidFill>
                <a:latin typeface="Arial"/>
                <a:ea typeface="Arial"/>
                <a:cs typeface="Arial"/>
                <a:sym typeface="Arial"/>
              </a:rPr>
              <a:t>Déploiement : service FastAPI</a:t>
            </a:r>
            <a:endParaRPr sz="3450">
              <a:solidFill>
                <a:schemeClr val="dk1"/>
              </a:solidFill>
              <a:latin typeface="Calibri"/>
              <a:ea typeface="Calibri"/>
              <a:cs typeface="Calibri"/>
              <a:sym typeface="Calibri"/>
            </a:endParaRPr>
          </a:p>
        </p:txBody>
      </p:sp>
      <p:sp>
        <p:nvSpPr>
          <p:cNvPr id="623" name="Google Shape;623;p33"/>
          <p:cNvSpPr/>
          <p:nvPr/>
        </p:nvSpPr>
        <p:spPr>
          <a:xfrm>
            <a:off x="1047750" y="3168997"/>
            <a:ext cx="7858125" cy="5029200"/>
          </a:xfrm>
          <a:prstGeom prst="roundRect">
            <a:avLst>
              <a:gd fmla="val 3409"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624" name="Google Shape;624;p33"/>
          <p:cNvPicPr preferRelativeResize="0"/>
          <p:nvPr/>
        </p:nvPicPr>
        <p:blipFill rotWithShape="1">
          <a:blip r:embed="rId3">
            <a:alphaModFix/>
          </a:blip>
          <a:srcRect b="0" l="0" r="0" t="0"/>
          <a:stretch/>
        </p:blipFill>
        <p:spPr>
          <a:xfrm>
            <a:off x="3228677" y="3397597"/>
            <a:ext cx="3496121" cy="4571851"/>
          </a:xfrm>
          <a:prstGeom prst="rect">
            <a:avLst/>
          </a:prstGeom>
          <a:noFill/>
          <a:ln>
            <a:noFill/>
          </a:ln>
        </p:spPr>
      </p:pic>
      <p:sp>
        <p:nvSpPr>
          <p:cNvPr id="625" name="Google Shape;625;p33"/>
          <p:cNvSpPr/>
          <p:nvPr/>
        </p:nvSpPr>
        <p:spPr>
          <a:xfrm>
            <a:off x="654844" y="8350597"/>
            <a:ext cx="8643938" cy="358080"/>
          </a:xfrm>
          <a:prstGeom prst="rect">
            <a:avLst/>
          </a:prstGeom>
          <a:noFill/>
          <a:ln>
            <a:noFill/>
          </a:ln>
        </p:spPr>
        <p:txBody>
          <a:bodyPr anchorCtr="0" anchor="t" bIns="25400" lIns="25400" spcFirstLastPara="1" rIns="25400" wrap="square" tIns="25400">
            <a:noAutofit/>
          </a:bodyPr>
          <a:lstStyle/>
          <a:p>
            <a:pPr indent="0" lvl="0" marL="0" marR="0" rtl="0" algn="ctr">
              <a:lnSpc>
                <a:spcPct val="120000"/>
              </a:lnSpc>
              <a:spcBef>
                <a:spcPts val="0"/>
              </a:spcBef>
              <a:spcAft>
                <a:spcPts val="0"/>
              </a:spcAft>
              <a:buClr>
                <a:srgbClr val="5B6B80"/>
              </a:buClr>
              <a:buSzPts val="1800"/>
              <a:buFont typeface="Arial"/>
              <a:buNone/>
            </a:pPr>
            <a:r>
              <a:rPr lang="en-US" sz="1800">
                <a:solidFill>
                  <a:srgbClr val="5B6B80"/>
                </a:solidFill>
                <a:latin typeface="Arial"/>
                <a:ea typeface="Arial"/>
                <a:cs typeface="Arial"/>
                <a:sym typeface="Arial"/>
              </a:rPr>
              <a:t>Figure 22 — endpoints GET /health, POST /predict, GET /metrics</a:t>
            </a:r>
            <a:endParaRPr sz="1800">
              <a:solidFill>
                <a:schemeClr val="dk1"/>
              </a:solidFill>
              <a:latin typeface="Calibri"/>
              <a:ea typeface="Calibri"/>
              <a:cs typeface="Calibri"/>
              <a:sym typeface="Calibri"/>
            </a:endParaRPr>
          </a:p>
        </p:txBody>
      </p:sp>
      <p:sp>
        <p:nvSpPr>
          <p:cNvPr id="626" name="Google Shape;626;p33"/>
          <p:cNvSpPr/>
          <p:nvPr/>
        </p:nvSpPr>
        <p:spPr>
          <a:xfrm>
            <a:off x="9382125" y="3009007"/>
            <a:ext cx="7858125" cy="5029200"/>
          </a:xfrm>
          <a:prstGeom prst="roundRect">
            <a:avLst>
              <a:gd fmla="val 3409"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627" name="Google Shape;627;p33"/>
          <p:cNvPicPr preferRelativeResize="0"/>
          <p:nvPr/>
        </p:nvPicPr>
        <p:blipFill rotWithShape="1">
          <a:blip r:embed="rId4">
            <a:alphaModFix/>
          </a:blip>
          <a:srcRect b="0" l="-4" r="-4" t="0"/>
          <a:stretch/>
        </p:blipFill>
        <p:spPr>
          <a:xfrm>
            <a:off x="9610725" y="4818162"/>
            <a:ext cx="7400925" cy="1410891"/>
          </a:xfrm>
          <a:prstGeom prst="rect">
            <a:avLst/>
          </a:prstGeom>
          <a:noFill/>
          <a:ln>
            <a:noFill/>
          </a:ln>
        </p:spPr>
      </p:pic>
      <p:sp>
        <p:nvSpPr>
          <p:cNvPr id="628" name="Google Shape;628;p33"/>
          <p:cNvSpPr/>
          <p:nvPr/>
        </p:nvSpPr>
        <p:spPr>
          <a:xfrm>
            <a:off x="9264253" y="8190607"/>
            <a:ext cx="8093869" cy="678061"/>
          </a:xfrm>
          <a:prstGeom prst="rect">
            <a:avLst/>
          </a:prstGeom>
          <a:noFill/>
          <a:ln>
            <a:noFill/>
          </a:ln>
        </p:spPr>
        <p:txBody>
          <a:bodyPr anchorCtr="0" anchor="t" bIns="25400" lIns="25400" spcFirstLastPara="1" rIns="25400" wrap="square" tIns="25400">
            <a:noAutofit/>
          </a:bodyPr>
          <a:lstStyle/>
          <a:p>
            <a:pPr indent="0" lvl="0" marL="0" marR="0" rtl="0" algn="ctr">
              <a:lnSpc>
                <a:spcPct val="120000"/>
              </a:lnSpc>
              <a:spcBef>
                <a:spcPts val="0"/>
              </a:spcBef>
              <a:spcAft>
                <a:spcPts val="0"/>
              </a:spcAft>
              <a:buClr>
                <a:srgbClr val="5B6B80"/>
              </a:buClr>
              <a:buSzPts val="1800"/>
              <a:buFont typeface="Arial"/>
              <a:buNone/>
            </a:pPr>
            <a:r>
              <a:rPr lang="en-US" sz="1800">
                <a:solidFill>
                  <a:srgbClr val="5B6B80"/>
                </a:solidFill>
                <a:latin typeface="Arial"/>
                <a:ea typeface="Arial"/>
                <a:cs typeface="Arial"/>
                <a:sym typeface="Arial"/>
              </a:rPr>
              <a:t>Figure 23 — appels curl réels, réponse JSON avec fraud_probability, is_fraud, model_version</a:t>
            </a:r>
            <a:endParaRPr sz="1800">
              <a:solidFill>
                <a:schemeClr val="dk1"/>
              </a:solidFill>
              <a:latin typeface="Calibri"/>
              <a:ea typeface="Calibri"/>
              <a:cs typeface="Calibri"/>
              <a:sym typeface="Calibri"/>
            </a:endParaRPr>
          </a:p>
        </p:txBody>
      </p:sp>
      <p:sp>
        <p:nvSpPr>
          <p:cNvPr id="629" name="Google Shape;629;p33"/>
          <p:cNvSpPr/>
          <p:nvPr/>
        </p:nvSpPr>
        <p:spPr>
          <a:xfrm>
            <a:off x="16367760" y="9648825"/>
            <a:ext cx="914400"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5B6B80"/>
              </a:buClr>
              <a:buSzPts val="1800"/>
              <a:buFont typeface="Courier New"/>
              <a:buNone/>
            </a:pPr>
            <a:r>
              <a:rPr lang="en-US" sz="1800">
                <a:solidFill>
                  <a:srgbClr val="5B6B80"/>
                </a:solidFill>
                <a:latin typeface="Courier New"/>
                <a:ea typeface="Courier New"/>
                <a:cs typeface="Courier New"/>
                <a:sym typeface="Courier New"/>
              </a:rPr>
              <a:t>32/41</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4" name="Shape 634"/>
        <p:cNvGrpSpPr/>
        <p:nvPr/>
      </p:nvGrpSpPr>
      <p:grpSpPr>
        <a:xfrm>
          <a:off x="0" y="0"/>
          <a:ext cx="0" cy="0"/>
          <a:chOff x="0" y="0"/>
          <a:chExt cx="0" cy="0"/>
        </a:xfrm>
      </p:grpSpPr>
      <p:sp>
        <p:nvSpPr>
          <p:cNvPr id="635" name="Google Shape;635;p34"/>
          <p:cNvSpPr/>
          <p:nvPr/>
        </p:nvSpPr>
        <p:spPr>
          <a:xfrm>
            <a:off x="1047750" y="914400"/>
            <a:ext cx="17811750"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1950">
                <a:solidFill>
                  <a:srgbClr val="0B7A6F"/>
                </a:solidFill>
                <a:latin typeface="Courier New"/>
                <a:ea typeface="Courier New"/>
                <a:cs typeface="Courier New"/>
                <a:sym typeface="Courier New"/>
              </a:rPr>
              <a:t>CHAPITRE 6 — MA CONTRIBUTION</a:t>
            </a:r>
            <a:endParaRPr sz="1950">
              <a:solidFill>
                <a:schemeClr val="dk1"/>
              </a:solidFill>
              <a:latin typeface="Calibri"/>
              <a:ea typeface="Calibri"/>
              <a:cs typeface="Calibri"/>
              <a:sym typeface="Calibri"/>
            </a:endParaRPr>
          </a:p>
        </p:txBody>
      </p:sp>
      <p:sp>
        <p:nvSpPr>
          <p:cNvPr id="636" name="Google Shape;636;p34"/>
          <p:cNvSpPr/>
          <p:nvPr/>
        </p:nvSpPr>
        <p:spPr>
          <a:xfrm>
            <a:off x="1047750" y="1419225"/>
            <a:ext cx="17811750" cy="5524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3450">
                <a:solidFill>
                  <a:srgbClr val="16212B"/>
                </a:solidFill>
                <a:latin typeface="Arial"/>
                <a:ea typeface="Arial"/>
                <a:cs typeface="Arial"/>
                <a:sym typeface="Arial"/>
              </a:rPr>
              <a:t>Assofi Nada — Évaluation, Registry, API, Monitoring &amp; Plateforme</a:t>
            </a:r>
            <a:endParaRPr/>
          </a:p>
        </p:txBody>
      </p:sp>
      <p:sp>
        <p:nvSpPr>
          <p:cNvPr id="637" name="Google Shape;637;p34"/>
          <p:cNvSpPr/>
          <p:nvPr/>
        </p:nvSpPr>
        <p:spPr>
          <a:xfrm>
            <a:off x="1047750" y="3300000"/>
            <a:ext cx="9880283" cy="38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2000">
                <a:solidFill>
                  <a:srgbClr val="0B7A6F"/>
                </a:solidFill>
                <a:latin typeface="Arial"/>
                <a:ea typeface="Arial"/>
                <a:cs typeface="Arial"/>
                <a:sym typeface="Arial"/>
              </a:rPr>
              <a:t>MA CONTRIBUTION PERSONNELLE</a:t>
            </a:r>
            <a:endParaRPr sz="2000">
              <a:solidFill>
                <a:schemeClr val="dk1"/>
              </a:solidFill>
              <a:latin typeface="Calibri"/>
              <a:ea typeface="Calibri"/>
              <a:cs typeface="Calibri"/>
              <a:sym typeface="Calibri"/>
            </a:endParaRPr>
          </a:p>
        </p:txBody>
      </p:sp>
      <p:sp>
        <p:nvSpPr>
          <p:cNvPr id="638" name="Google Shape;638;p34"/>
          <p:cNvSpPr/>
          <p:nvPr/>
        </p:nvSpPr>
        <p:spPr>
          <a:xfrm>
            <a:off x="1047750" y="3700000"/>
            <a:ext cx="9251537" cy="190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0" lang="en-US" sz="2000">
                <a:solidFill>
                  <a:srgbClr val="16212B"/>
                </a:solidFill>
                <a:latin typeface="Arial"/>
                <a:ea typeface="Arial"/>
                <a:cs typeface="Arial"/>
                <a:sym typeface="Arial"/>
              </a:rPr>
              <a:t>Évaluation et seuils (ml/evaluate.py), registry et porte de promotion avec détection d’un serveur MLflow vivant (ml/register_model.py), service API (api/*), CI (.github/workflows/ci.yml), tests (tests/*), dérive (monitoring/drift_check.py), plateforme d’entraînement continu (platform_api/) et interface d’opérations React (platform_ui/ : connexion, transactions versionnées, dérive, approbation).</a:t>
            </a:r>
            <a:endParaRPr/>
          </a:p>
        </p:txBody>
      </p:sp>
      <p:sp>
        <p:nvSpPr>
          <p:cNvPr id="639" name="Google Shape;639;p34"/>
          <p:cNvSpPr/>
          <p:nvPr/>
        </p:nvSpPr>
        <p:spPr>
          <a:xfrm>
            <a:off x="1047750" y="5900000"/>
            <a:ext cx="9880283" cy="38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2000">
                <a:solidFill>
                  <a:srgbClr val="0B7A6F"/>
                </a:solidFill>
                <a:latin typeface="Arial"/>
                <a:ea typeface="Arial"/>
                <a:cs typeface="Arial"/>
                <a:sym typeface="Arial"/>
              </a:rPr>
              <a:t>RÔLE DANS LE PIPELINE GLOBAL</a:t>
            </a:r>
            <a:endParaRPr sz="2000">
              <a:solidFill>
                <a:schemeClr val="dk1"/>
              </a:solidFill>
              <a:latin typeface="Calibri"/>
              <a:ea typeface="Calibri"/>
              <a:cs typeface="Calibri"/>
              <a:sym typeface="Calibri"/>
            </a:endParaRPr>
          </a:p>
        </p:txBody>
      </p:sp>
      <p:sp>
        <p:nvSpPr>
          <p:cNvPr id="640" name="Google Shape;640;p34"/>
          <p:cNvSpPr/>
          <p:nvPr/>
        </p:nvSpPr>
        <p:spPr>
          <a:xfrm>
            <a:off x="1047750" y="6300000"/>
            <a:ext cx="9251537" cy="110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0" lang="en-US" sz="2000">
                <a:solidFill>
                  <a:srgbClr val="16212B"/>
                </a:solidFill>
                <a:latin typeface="Arial"/>
                <a:ea typeface="Arial"/>
                <a:cs typeface="Arial"/>
                <a:sym typeface="Arial"/>
              </a:rPr>
              <a:t>Dernier maillon : transformer le meilleur modèle en service exposé, versionné, testé à chaque commit, et surveillé une fois en production — le périmètre le plus large de l'équipe.</a:t>
            </a:r>
            <a:endParaRPr sz="2000">
              <a:solidFill>
                <a:schemeClr val="dk1"/>
              </a:solidFill>
              <a:latin typeface="Calibri"/>
              <a:ea typeface="Calibri"/>
              <a:cs typeface="Calibri"/>
              <a:sym typeface="Calibri"/>
            </a:endParaRPr>
          </a:p>
        </p:txBody>
      </p:sp>
      <p:sp>
        <p:nvSpPr>
          <p:cNvPr id="641" name="Google Shape;641;p34"/>
          <p:cNvSpPr/>
          <p:nvPr/>
        </p:nvSpPr>
        <p:spPr>
          <a:xfrm>
            <a:off x="10601325" y="3300000"/>
            <a:ext cx="7302818" cy="38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2000">
                <a:solidFill>
                  <a:srgbClr val="0B7A6F"/>
                </a:solidFill>
                <a:latin typeface="Arial"/>
                <a:ea typeface="Arial"/>
                <a:cs typeface="Arial"/>
                <a:sym typeface="Arial"/>
              </a:rPr>
              <a:t>DÉCISION TECHNIQUE CLÉ</a:t>
            </a:r>
            <a:endParaRPr sz="2000">
              <a:solidFill>
                <a:schemeClr val="dk1"/>
              </a:solidFill>
              <a:latin typeface="Calibri"/>
              <a:ea typeface="Calibri"/>
              <a:cs typeface="Calibri"/>
              <a:sym typeface="Calibri"/>
            </a:endParaRPr>
          </a:p>
        </p:txBody>
      </p:sp>
      <p:sp>
        <p:nvSpPr>
          <p:cNvPr id="642" name="Google Shape;642;p34"/>
          <p:cNvSpPr/>
          <p:nvPr/>
        </p:nvSpPr>
        <p:spPr>
          <a:xfrm>
            <a:off x="10601325" y="3700000"/>
            <a:ext cx="7302818" cy="190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0" lang="en-US" sz="2000">
                <a:solidFill>
                  <a:srgbClr val="16212B"/>
                </a:solidFill>
                <a:latin typeface="Arial"/>
                <a:ea typeface="Arial"/>
                <a:cs typeface="Arial"/>
                <a:sym typeface="Arial"/>
              </a:rPr>
              <a:t>Seuil optimisé par F1 plutôt que 0,5 ; promotion en Production seulement si le PR-AUC du candidat bat celui du modèle en Production (sinon Staging) ; CI sur fixture synthétique, aucune donnée Kaggle réelle commitée.</a:t>
            </a:r>
            <a:endParaRPr/>
          </a:p>
        </p:txBody>
      </p:sp>
      <p:sp>
        <p:nvSpPr>
          <p:cNvPr id="643" name="Google Shape;643;p34"/>
          <p:cNvSpPr/>
          <p:nvPr/>
        </p:nvSpPr>
        <p:spPr>
          <a:xfrm>
            <a:off x="10601325" y="5900000"/>
            <a:ext cx="7302818" cy="38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2000">
                <a:solidFill>
                  <a:srgbClr val="0B7A6F"/>
                </a:solidFill>
                <a:latin typeface="Arial"/>
                <a:ea typeface="Arial"/>
                <a:cs typeface="Arial"/>
                <a:sym typeface="Arial"/>
              </a:rPr>
              <a:t>RÔLE AGILE</a:t>
            </a:r>
            <a:endParaRPr sz="2000">
              <a:solidFill>
                <a:schemeClr val="dk1"/>
              </a:solidFill>
              <a:latin typeface="Calibri"/>
              <a:ea typeface="Calibri"/>
              <a:cs typeface="Calibri"/>
              <a:sym typeface="Calibri"/>
            </a:endParaRPr>
          </a:p>
        </p:txBody>
      </p:sp>
      <p:sp>
        <p:nvSpPr>
          <p:cNvPr id="644" name="Google Shape;644;p34"/>
          <p:cNvSpPr/>
          <p:nvPr/>
        </p:nvSpPr>
        <p:spPr>
          <a:xfrm>
            <a:off x="10601325" y="6300000"/>
            <a:ext cx="7302818" cy="110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0" lang="en-US" sz="2000">
                <a:solidFill>
                  <a:srgbClr val="16212B"/>
                </a:solidFill>
                <a:latin typeface="Arial"/>
                <a:ea typeface="Arial"/>
                <a:cs typeface="Arial"/>
                <a:sym typeface="Arial"/>
              </a:rPr>
              <a:t>Data Analyst — périmètre ML Évaluation, Registry, API &amp; CI/CD/Monitoring, de la sortie du modèle jusqu'à sa supervision en production.</a:t>
            </a:r>
            <a:endParaRPr sz="2000">
              <a:solidFill>
                <a:schemeClr val="dk1"/>
              </a:solidFill>
              <a:latin typeface="Calibri"/>
              <a:ea typeface="Calibri"/>
              <a:cs typeface="Calibri"/>
              <a:sym typeface="Calibri"/>
            </a:endParaRPr>
          </a:p>
        </p:txBody>
      </p:sp>
      <p:sp>
        <p:nvSpPr>
          <p:cNvPr id="645" name="Google Shape;645;p34"/>
          <p:cNvSpPr/>
          <p:nvPr/>
        </p:nvSpPr>
        <p:spPr>
          <a:xfrm>
            <a:off x="16367760" y="9648825"/>
            <a:ext cx="914400"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0" lang="en-US" sz="1800">
                <a:solidFill>
                  <a:srgbClr val="5B6B80"/>
                </a:solidFill>
                <a:latin typeface="Courier New"/>
                <a:ea typeface="Courier New"/>
                <a:cs typeface="Courier New"/>
                <a:sym typeface="Courier New"/>
              </a:rPr>
              <a:t>33/41</a:t>
            </a: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0" name="Shape 650"/>
        <p:cNvGrpSpPr/>
        <p:nvPr/>
      </p:nvGrpSpPr>
      <p:grpSpPr>
        <a:xfrm>
          <a:off x="0" y="0"/>
          <a:ext cx="0" cy="0"/>
          <a:chOff x="0" y="0"/>
          <a:chExt cx="0" cy="0"/>
        </a:xfrm>
      </p:grpSpPr>
      <p:sp>
        <p:nvSpPr>
          <p:cNvPr id="651" name="Google Shape;651;p35"/>
          <p:cNvSpPr txBox="1"/>
          <p:nvPr/>
        </p:nvSpPr>
        <p:spPr>
          <a:xfrm>
            <a:off x="1047720" y="914400"/>
            <a:ext cx="17811598" cy="371246"/>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950"/>
              <a:buFont typeface="Courier New"/>
              <a:buNone/>
            </a:pPr>
            <a:r>
              <a:rPr b="1" lang="en-US" sz="1950">
                <a:solidFill>
                  <a:srgbClr val="0B7A6F"/>
                </a:solidFill>
                <a:latin typeface="Courier New"/>
                <a:ea typeface="Courier New"/>
                <a:cs typeface="Courier New"/>
                <a:sym typeface="Courier New"/>
              </a:rPr>
              <a:t>DÉMONSTRATION</a:t>
            </a:r>
            <a:endParaRPr/>
          </a:p>
        </p:txBody>
      </p:sp>
      <p:sp>
        <p:nvSpPr>
          <p:cNvPr id="652" name="Google Shape;652;p35"/>
          <p:cNvSpPr txBox="1"/>
          <p:nvPr/>
        </p:nvSpPr>
        <p:spPr>
          <a:xfrm>
            <a:off x="1047720" y="1419149"/>
            <a:ext cx="17811598" cy="55229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3450"/>
              <a:buFont typeface="Arial"/>
              <a:buNone/>
            </a:pPr>
            <a:r>
              <a:rPr b="1" lang="en-US" sz="3450">
                <a:solidFill>
                  <a:srgbClr val="16212B"/>
                </a:solidFill>
                <a:latin typeface="Arial"/>
                <a:ea typeface="Arial"/>
                <a:cs typeface="Arial"/>
                <a:sym typeface="Arial"/>
              </a:rPr>
              <a:t>Supervision sur Komodo : Grafana et Prometheus</a:t>
            </a:r>
            <a:endParaRPr/>
          </a:p>
        </p:txBody>
      </p:sp>
      <p:sp>
        <p:nvSpPr>
          <p:cNvPr id="653" name="Google Shape;653;p35"/>
          <p:cNvSpPr txBox="1"/>
          <p:nvPr/>
        </p:nvSpPr>
        <p:spPr>
          <a:xfrm>
            <a:off x="16367760" y="9646920"/>
            <a:ext cx="914400" cy="333756"/>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B6B80"/>
              </a:buClr>
              <a:buSzPts val="1800"/>
              <a:buFont typeface="Courier New"/>
              <a:buNone/>
            </a:pPr>
            <a:r>
              <a:rPr lang="en-US" sz="1800">
                <a:solidFill>
                  <a:srgbClr val="5B6B80"/>
                </a:solidFill>
                <a:latin typeface="Courier New"/>
                <a:ea typeface="Courier New"/>
                <a:cs typeface="Courier New"/>
                <a:sym typeface="Courier New"/>
              </a:rPr>
              <a:t>34/41</a:t>
            </a:r>
            <a:endParaRPr/>
          </a:p>
        </p:txBody>
      </p:sp>
      <p:sp>
        <p:nvSpPr>
          <p:cNvPr id="654" name="Google Shape;654;p35"/>
          <p:cNvSpPr/>
          <p:nvPr/>
        </p:nvSpPr>
        <p:spPr>
          <a:xfrm>
            <a:off x="1047902" y="2331720"/>
            <a:ext cx="10972800" cy="5296470"/>
          </a:xfrm>
          <a:prstGeom prst="roundRect">
            <a:avLst>
              <a:gd fmla="val 4000"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Tableau de bord Grafana Fraud Detection API" id="655" name="Google Shape;655;p35"/>
          <p:cNvPicPr preferRelativeResize="0"/>
          <p:nvPr/>
        </p:nvPicPr>
        <p:blipFill rotWithShape="1">
          <a:blip r:embed="rId3">
            <a:alphaModFix/>
          </a:blip>
          <a:srcRect b="0" l="0" r="0" t="0"/>
          <a:stretch/>
        </p:blipFill>
        <p:spPr>
          <a:xfrm>
            <a:off x="1230782" y="2514600"/>
            <a:ext cx="10607040" cy="4930710"/>
          </a:xfrm>
          <a:prstGeom prst="rect">
            <a:avLst/>
          </a:prstGeom>
          <a:noFill/>
          <a:ln>
            <a:noFill/>
          </a:ln>
        </p:spPr>
      </p:pic>
      <p:sp>
        <p:nvSpPr>
          <p:cNvPr id="656" name="Google Shape;656;p35"/>
          <p:cNvSpPr txBox="1"/>
          <p:nvPr/>
        </p:nvSpPr>
        <p:spPr>
          <a:xfrm>
            <a:off x="1047902" y="7719630"/>
            <a:ext cx="10972800" cy="73152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5B6B80"/>
              </a:buClr>
              <a:buSzPts val="1500"/>
              <a:buFont typeface="Arial"/>
              <a:buNone/>
            </a:pPr>
            <a:r>
              <a:rPr lang="en-US" sz="1500">
                <a:solidFill>
                  <a:srgbClr val="5B6B80"/>
                </a:solidFill>
                <a:latin typeface="Arial"/>
                <a:ea typeface="Arial"/>
                <a:cs typeface="Arial"/>
                <a:sym typeface="Arial"/>
              </a:rPr>
              <a:t>Figure 38 — Grafana « Fraud Detection API » (exp.s3.fsbm.ma:4603), capture du 19/09/2026</a:t>
            </a:r>
            <a:endParaRPr/>
          </a:p>
        </p:txBody>
      </p:sp>
      <p:sp>
        <p:nvSpPr>
          <p:cNvPr id="657" name="Google Shape;657;p35"/>
          <p:cNvSpPr txBox="1"/>
          <p:nvPr/>
        </p:nvSpPr>
        <p:spPr>
          <a:xfrm>
            <a:off x="12252960" y="2331720"/>
            <a:ext cx="4983480" cy="310896"/>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800"/>
              <a:buFont typeface="Courier New"/>
              <a:buNone/>
            </a:pPr>
            <a:r>
              <a:rPr b="1" lang="en-US" sz="1800">
                <a:solidFill>
                  <a:srgbClr val="0B7A6F"/>
                </a:solidFill>
                <a:latin typeface="Courier New"/>
                <a:ea typeface="Courier New"/>
                <a:cs typeface="Courier New"/>
                <a:sym typeface="Courier New"/>
              </a:rPr>
              <a:t>CE QUE MONTRE LE TABLEAU</a:t>
            </a:r>
            <a:endParaRPr/>
          </a:p>
        </p:txBody>
      </p:sp>
      <p:sp>
        <p:nvSpPr>
          <p:cNvPr id="658" name="Google Shape;658;p35"/>
          <p:cNvSpPr/>
          <p:nvPr/>
        </p:nvSpPr>
        <p:spPr>
          <a:xfrm>
            <a:off x="12252960" y="2788920"/>
            <a:ext cx="4983480" cy="914400"/>
          </a:xfrm>
          <a:prstGeom prst="roundRect">
            <a:avLst>
              <a:gd fmla="val 4000" name="adj"/>
            </a:avLst>
          </a:prstGeom>
          <a:solidFill>
            <a:srgbClr val="F5F7FA"/>
          </a:solidFill>
          <a:ln>
            <a:noFill/>
          </a:ln>
        </p:spPr>
        <p:txBody>
          <a:bodyPr anchorCtr="0" anchor="ctr" bIns="91425" lIns="182875" spcFirstLastPara="1" rIns="182875" wrap="square" tIns="91425">
            <a:noAutofit/>
          </a:bodyPr>
          <a:lstStyle/>
          <a:p>
            <a:pPr indent="0" lvl="0" marL="0" marR="0" rtl="0" algn="l">
              <a:spcBef>
                <a:spcPts val="0"/>
              </a:spcBef>
              <a:spcAft>
                <a:spcPts val="0"/>
              </a:spcAft>
              <a:buClr>
                <a:srgbClr val="0B7A6F"/>
              </a:buClr>
              <a:buSzPts val="1700"/>
              <a:buFont typeface="Arial"/>
              <a:buNone/>
            </a:pPr>
            <a:r>
              <a:rPr b="1" lang="en-US" sz="1700">
                <a:solidFill>
                  <a:srgbClr val="0B7A6F"/>
                </a:solidFill>
                <a:latin typeface="Arial"/>
                <a:ea typeface="Arial"/>
                <a:cs typeface="Arial"/>
                <a:sym typeface="Arial"/>
              </a:rPr>
              <a:t>API up : UP</a:t>
            </a:r>
            <a:endParaRPr/>
          </a:p>
          <a:p>
            <a:pPr indent="0" lvl="0" marL="0" marR="0" rtl="0" algn="l">
              <a:spcBef>
                <a:spcPts val="150"/>
              </a:spcBef>
              <a:spcAft>
                <a:spcPts val="0"/>
              </a:spcAft>
              <a:buClr>
                <a:srgbClr val="16212B"/>
              </a:buClr>
              <a:buSzPts val="1500"/>
              <a:buFont typeface="Arial"/>
              <a:buNone/>
            </a:pPr>
            <a:r>
              <a:rPr lang="en-US" sz="1500">
                <a:solidFill>
                  <a:srgbClr val="16212B"/>
                </a:solidFill>
                <a:latin typeface="Arial"/>
                <a:ea typeface="Arial"/>
                <a:cs typeface="Arial"/>
                <a:sym typeface="Arial"/>
              </a:rPr>
              <a:t>disponibilité de l’API de scoring</a:t>
            </a:r>
            <a:endParaRPr/>
          </a:p>
        </p:txBody>
      </p:sp>
      <p:sp>
        <p:nvSpPr>
          <p:cNvPr id="659" name="Google Shape;659;p35"/>
          <p:cNvSpPr/>
          <p:nvPr/>
        </p:nvSpPr>
        <p:spPr>
          <a:xfrm>
            <a:off x="12252960" y="3840480"/>
            <a:ext cx="4983480" cy="914400"/>
          </a:xfrm>
          <a:prstGeom prst="roundRect">
            <a:avLst>
              <a:gd fmla="val 4000" name="adj"/>
            </a:avLst>
          </a:prstGeom>
          <a:solidFill>
            <a:srgbClr val="F5F7FA"/>
          </a:solidFill>
          <a:ln>
            <a:noFill/>
          </a:ln>
        </p:spPr>
        <p:txBody>
          <a:bodyPr anchorCtr="0" anchor="ctr" bIns="91425" lIns="182875" spcFirstLastPara="1" rIns="182875" wrap="square" tIns="91425">
            <a:noAutofit/>
          </a:bodyPr>
          <a:lstStyle/>
          <a:p>
            <a:pPr indent="0" lvl="0" marL="0" marR="0" rtl="0" algn="l">
              <a:spcBef>
                <a:spcPts val="0"/>
              </a:spcBef>
              <a:spcAft>
                <a:spcPts val="0"/>
              </a:spcAft>
              <a:buClr>
                <a:srgbClr val="0B7A6F"/>
              </a:buClr>
              <a:buSzPts val="1700"/>
              <a:buFont typeface="Arial"/>
              <a:buNone/>
            </a:pPr>
            <a:r>
              <a:rPr b="1" lang="en-US" sz="1700">
                <a:solidFill>
                  <a:srgbClr val="0B7A6F"/>
                </a:solidFill>
                <a:latin typeface="Arial"/>
                <a:ea typeface="Arial"/>
                <a:cs typeface="Arial"/>
                <a:sym typeface="Arial"/>
              </a:rPr>
              <a:t>Taux de requêtes</a:t>
            </a:r>
            <a:endParaRPr/>
          </a:p>
          <a:p>
            <a:pPr indent="0" lvl="0" marL="0" marR="0" rtl="0" algn="l">
              <a:spcBef>
                <a:spcPts val="150"/>
              </a:spcBef>
              <a:spcAft>
                <a:spcPts val="0"/>
              </a:spcAft>
              <a:buClr>
                <a:srgbClr val="16212B"/>
              </a:buClr>
              <a:buSzPts val="1500"/>
              <a:buFont typeface="Arial"/>
              <a:buNone/>
            </a:pPr>
            <a:r>
              <a:rPr lang="en-US" sz="1500">
                <a:solidFill>
                  <a:srgbClr val="16212B"/>
                </a:solidFill>
                <a:latin typeface="Arial"/>
                <a:ea typeface="Arial"/>
                <a:cs typeface="Arial"/>
                <a:sym typeface="Arial"/>
              </a:rPr>
              <a:t>par endpoint : /health, /metrics, /docs</a:t>
            </a:r>
            <a:endParaRPr/>
          </a:p>
        </p:txBody>
      </p:sp>
      <p:sp>
        <p:nvSpPr>
          <p:cNvPr id="660" name="Google Shape;660;p35"/>
          <p:cNvSpPr/>
          <p:nvPr/>
        </p:nvSpPr>
        <p:spPr>
          <a:xfrm>
            <a:off x="12252960" y="4892040"/>
            <a:ext cx="4983480" cy="914400"/>
          </a:xfrm>
          <a:prstGeom prst="roundRect">
            <a:avLst>
              <a:gd fmla="val 4000" name="adj"/>
            </a:avLst>
          </a:prstGeom>
          <a:solidFill>
            <a:srgbClr val="F5F7FA"/>
          </a:solidFill>
          <a:ln>
            <a:noFill/>
          </a:ln>
        </p:spPr>
        <p:txBody>
          <a:bodyPr anchorCtr="0" anchor="ctr" bIns="91425" lIns="182875" spcFirstLastPara="1" rIns="182875" wrap="square" tIns="91425">
            <a:noAutofit/>
          </a:bodyPr>
          <a:lstStyle/>
          <a:p>
            <a:pPr indent="0" lvl="0" marL="0" marR="0" rtl="0" algn="l">
              <a:spcBef>
                <a:spcPts val="0"/>
              </a:spcBef>
              <a:spcAft>
                <a:spcPts val="0"/>
              </a:spcAft>
              <a:buClr>
                <a:srgbClr val="0B7A6F"/>
              </a:buClr>
              <a:buSzPts val="1700"/>
              <a:buFont typeface="Arial"/>
              <a:buNone/>
            </a:pPr>
            <a:r>
              <a:rPr b="1" lang="en-US" sz="1700">
                <a:solidFill>
                  <a:srgbClr val="0B7A6F"/>
                </a:solidFill>
                <a:latin typeface="Arial"/>
                <a:ea typeface="Arial"/>
                <a:cs typeface="Arial"/>
                <a:sym typeface="Arial"/>
              </a:rPr>
              <a:t>Latence p95</a:t>
            </a:r>
            <a:endParaRPr/>
          </a:p>
          <a:p>
            <a:pPr indent="0" lvl="0" marL="0" marR="0" rtl="0" algn="l">
              <a:spcBef>
                <a:spcPts val="150"/>
              </a:spcBef>
              <a:spcAft>
                <a:spcPts val="0"/>
              </a:spcAft>
              <a:buClr>
                <a:srgbClr val="16212B"/>
              </a:buClr>
              <a:buSzPts val="1500"/>
              <a:buFont typeface="Arial"/>
              <a:buNone/>
            </a:pPr>
            <a:r>
              <a:rPr lang="en-US" sz="1500">
                <a:solidFill>
                  <a:srgbClr val="16212B"/>
                </a:solidFill>
                <a:latin typeface="Arial"/>
                <a:ea typeface="Arial"/>
                <a:cs typeface="Arial"/>
                <a:sym typeface="Arial"/>
              </a:rPr>
              <a:t>≈ 100 ms pour /metrics</a:t>
            </a:r>
            <a:endParaRPr/>
          </a:p>
        </p:txBody>
      </p:sp>
      <p:sp>
        <p:nvSpPr>
          <p:cNvPr id="661" name="Google Shape;661;p35"/>
          <p:cNvSpPr/>
          <p:nvPr/>
        </p:nvSpPr>
        <p:spPr>
          <a:xfrm>
            <a:off x="12252960" y="5943600"/>
            <a:ext cx="4983480" cy="914400"/>
          </a:xfrm>
          <a:prstGeom prst="roundRect">
            <a:avLst>
              <a:gd fmla="val 4000" name="adj"/>
            </a:avLst>
          </a:prstGeom>
          <a:solidFill>
            <a:srgbClr val="F5F7FA"/>
          </a:solidFill>
          <a:ln>
            <a:noFill/>
          </a:ln>
        </p:spPr>
        <p:txBody>
          <a:bodyPr anchorCtr="0" anchor="ctr" bIns="91425" lIns="182875" spcFirstLastPara="1" rIns="182875" wrap="square" tIns="91425">
            <a:noAutofit/>
          </a:bodyPr>
          <a:lstStyle/>
          <a:p>
            <a:pPr indent="0" lvl="0" marL="0" marR="0" rtl="0" algn="l">
              <a:spcBef>
                <a:spcPts val="0"/>
              </a:spcBef>
              <a:spcAft>
                <a:spcPts val="0"/>
              </a:spcAft>
              <a:buClr>
                <a:srgbClr val="0B7A6F"/>
              </a:buClr>
              <a:buSzPts val="1700"/>
              <a:buFont typeface="Arial"/>
              <a:buNone/>
            </a:pPr>
            <a:r>
              <a:rPr b="1" lang="en-US" sz="1700">
                <a:solidFill>
                  <a:srgbClr val="0B7A6F"/>
                </a:solidFill>
                <a:latin typeface="Arial"/>
                <a:ea typeface="Arial"/>
                <a:cs typeface="Arial"/>
                <a:sym typeface="Arial"/>
              </a:rPr>
              <a:t>Erreurs 5xx</a:t>
            </a:r>
            <a:endParaRPr/>
          </a:p>
          <a:p>
            <a:pPr indent="0" lvl="0" marL="0" marR="0" rtl="0" algn="l">
              <a:spcBef>
                <a:spcPts val="150"/>
              </a:spcBef>
              <a:spcAft>
                <a:spcPts val="0"/>
              </a:spcAft>
              <a:buClr>
                <a:srgbClr val="16212B"/>
              </a:buClr>
              <a:buSzPts val="1500"/>
              <a:buFont typeface="Arial"/>
              <a:buNone/>
            </a:pPr>
            <a:r>
              <a:rPr lang="en-US" sz="1500">
                <a:solidFill>
                  <a:srgbClr val="16212B"/>
                </a:solidFill>
                <a:latin typeface="Arial"/>
                <a:ea typeface="Arial"/>
                <a:cs typeface="Arial"/>
                <a:sym typeface="Arial"/>
              </a:rPr>
              <a:t>aucune donnée : aucune erreur</a:t>
            </a:r>
            <a:endParaRPr/>
          </a:p>
        </p:txBody>
      </p:sp>
      <p:sp>
        <p:nvSpPr>
          <p:cNvPr id="662" name="Google Shape;662;p35"/>
          <p:cNvSpPr/>
          <p:nvPr/>
        </p:nvSpPr>
        <p:spPr>
          <a:xfrm>
            <a:off x="12252960" y="7086600"/>
            <a:ext cx="4983480" cy="1481110"/>
          </a:xfrm>
          <a:prstGeom prst="roundRect">
            <a:avLst>
              <a:gd fmla="val 4000"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Cible Prometheus fraud-api UP" id="663" name="Google Shape;663;p35"/>
          <p:cNvPicPr preferRelativeResize="0"/>
          <p:nvPr/>
        </p:nvPicPr>
        <p:blipFill rotWithShape="1">
          <a:blip r:embed="rId4">
            <a:alphaModFix/>
          </a:blip>
          <a:srcRect b="0" l="0" r="0" t="0"/>
          <a:stretch/>
        </p:blipFill>
        <p:spPr>
          <a:xfrm>
            <a:off x="12344400" y="7269480"/>
            <a:ext cx="4800600" cy="1074420"/>
          </a:xfrm>
          <a:prstGeom prst="rect">
            <a:avLst/>
          </a:prstGeom>
          <a:noFill/>
          <a:ln>
            <a:noFill/>
          </a:ln>
        </p:spPr>
      </p:pic>
      <p:sp>
        <p:nvSpPr>
          <p:cNvPr id="664" name="Google Shape;664;p35"/>
          <p:cNvSpPr txBox="1"/>
          <p:nvPr/>
        </p:nvSpPr>
        <p:spPr>
          <a:xfrm>
            <a:off x="12252960" y="8659150"/>
            <a:ext cx="4983480" cy="73152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5B6B80"/>
              </a:buClr>
              <a:buSzPts val="1400"/>
              <a:buFont typeface="Arial"/>
              <a:buNone/>
            </a:pPr>
            <a:r>
              <a:rPr lang="en-US" sz="1400">
                <a:solidFill>
                  <a:srgbClr val="5B6B80"/>
                </a:solidFill>
                <a:latin typeface="Arial"/>
                <a:ea typeface="Arial"/>
                <a:cs typeface="Arial"/>
                <a:sym typeface="Arial"/>
              </a:rPr>
              <a:t>Figure 36 — Prometheus : cible fraud-api UP (1/1)</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9" name="Shape 669"/>
        <p:cNvGrpSpPr/>
        <p:nvPr/>
      </p:nvGrpSpPr>
      <p:grpSpPr>
        <a:xfrm>
          <a:off x="0" y="0"/>
          <a:ext cx="0" cy="0"/>
          <a:chOff x="0" y="0"/>
          <a:chExt cx="0" cy="0"/>
        </a:xfrm>
      </p:grpSpPr>
      <p:sp>
        <p:nvSpPr>
          <p:cNvPr id="670" name="Google Shape;670;p36"/>
          <p:cNvSpPr/>
          <p:nvPr/>
        </p:nvSpPr>
        <p:spPr>
          <a:xfrm>
            <a:off x="1047750" y="914400"/>
            <a:ext cx="17811750"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1950"/>
              <a:buFont typeface="Courier New"/>
              <a:buNone/>
            </a:pPr>
            <a:r>
              <a:rPr b="1" lang="en-US" sz="1950">
                <a:solidFill>
                  <a:srgbClr val="0B7A6F"/>
                </a:solidFill>
                <a:latin typeface="Courier New"/>
                <a:ea typeface="Courier New"/>
                <a:cs typeface="Courier New"/>
                <a:sym typeface="Courier New"/>
              </a:rPr>
              <a:t>CHAPITRE 6</a:t>
            </a:r>
            <a:endParaRPr sz="1950">
              <a:solidFill>
                <a:schemeClr val="dk1"/>
              </a:solidFill>
              <a:latin typeface="Calibri"/>
              <a:ea typeface="Calibri"/>
              <a:cs typeface="Calibri"/>
              <a:sym typeface="Calibri"/>
            </a:endParaRPr>
          </a:p>
        </p:txBody>
      </p:sp>
      <p:sp>
        <p:nvSpPr>
          <p:cNvPr id="671" name="Google Shape;671;p36"/>
          <p:cNvSpPr/>
          <p:nvPr/>
        </p:nvSpPr>
        <p:spPr>
          <a:xfrm>
            <a:off x="1047750" y="1419225"/>
            <a:ext cx="17811750" cy="5524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3450"/>
              <a:buFont typeface="Arial"/>
              <a:buNone/>
            </a:pPr>
            <a:r>
              <a:rPr b="1" lang="en-US" sz="3450">
                <a:solidFill>
                  <a:srgbClr val="16212B"/>
                </a:solidFill>
                <a:latin typeface="Arial"/>
                <a:ea typeface="Arial"/>
                <a:cs typeface="Arial"/>
                <a:sym typeface="Arial"/>
              </a:rPr>
              <a:t>Monitoring, dérive et tests automatisés</a:t>
            </a:r>
            <a:endParaRPr sz="3450">
              <a:solidFill>
                <a:schemeClr val="dk1"/>
              </a:solidFill>
              <a:latin typeface="Calibri"/>
              <a:ea typeface="Calibri"/>
              <a:cs typeface="Calibri"/>
              <a:sym typeface="Calibri"/>
            </a:endParaRPr>
          </a:p>
        </p:txBody>
      </p:sp>
      <p:sp>
        <p:nvSpPr>
          <p:cNvPr id="672" name="Google Shape;672;p36"/>
          <p:cNvSpPr/>
          <p:nvPr/>
        </p:nvSpPr>
        <p:spPr>
          <a:xfrm>
            <a:off x="1047750" y="3430935"/>
            <a:ext cx="5206901" cy="3581400"/>
          </a:xfrm>
          <a:prstGeom prst="roundRect">
            <a:avLst>
              <a:gd fmla="val 4255"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673" name="Google Shape;673;p36"/>
          <p:cNvPicPr preferRelativeResize="0"/>
          <p:nvPr/>
        </p:nvPicPr>
        <p:blipFill rotWithShape="1">
          <a:blip r:embed="rId3">
            <a:alphaModFix/>
          </a:blip>
          <a:srcRect b="0" l="-1" r="-1" t="0"/>
          <a:stretch/>
        </p:blipFill>
        <p:spPr>
          <a:xfrm>
            <a:off x="1821954" y="3602385"/>
            <a:ext cx="3658344" cy="3238351"/>
          </a:xfrm>
          <a:prstGeom prst="rect">
            <a:avLst/>
          </a:prstGeom>
          <a:noFill/>
          <a:ln>
            <a:noFill/>
          </a:ln>
        </p:spPr>
      </p:pic>
      <p:sp>
        <p:nvSpPr>
          <p:cNvPr id="674" name="Google Shape;674;p36"/>
          <p:cNvSpPr/>
          <p:nvPr/>
        </p:nvSpPr>
        <p:spPr>
          <a:xfrm>
            <a:off x="787405" y="7145685"/>
            <a:ext cx="5727591" cy="358080"/>
          </a:xfrm>
          <a:prstGeom prst="rect">
            <a:avLst/>
          </a:prstGeom>
          <a:noFill/>
          <a:ln>
            <a:noFill/>
          </a:ln>
        </p:spPr>
        <p:txBody>
          <a:bodyPr anchorCtr="0" anchor="t" bIns="25400" lIns="25400" spcFirstLastPara="1" rIns="25400" wrap="square" tIns="25400">
            <a:noAutofit/>
          </a:bodyPr>
          <a:lstStyle/>
          <a:p>
            <a:pPr indent="0" lvl="0" marL="0" marR="0" rtl="0" algn="ctr">
              <a:lnSpc>
                <a:spcPct val="120000"/>
              </a:lnSpc>
              <a:spcBef>
                <a:spcPts val="0"/>
              </a:spcBef>
              <a:spcAft>
                <a:spcPts val="0"/>
              </a:spcAft>
              <a:buClr>
                <a:srgbClr val="5B6B80"/>
              </a:buClr>
              <a:buSzPts val="1800"/>
              <a:buFont typeface="Arial"/>
              <a:buNone/>
            </a:pPr>
            <a:r>
              <a:rPr lang="en-US" sz="1800">
                <a:solidFill>
                  <a:srgbClr val="5B6B80"/>
                </a:solidFill>
                <a:latin typeface="Arial"/>
                <a:ea typeface="Arial"/>
                <a:cs typeface="Arial"/>
                <a:sym typeface="Arial"/>
              </a:rPr>
              <a:t>Figure 27 — sortie Prometheus /metrics</a:t>
            </a:r>
            <a:endParaRPr sz="1800">
              <a:solidFill>
                <a:schemeClr val="dk1"/>
              </a:solidFill>
              <a:latin typeface="Calibri"/>
              <a:ea typeface="Calibri"/>
              <a:cs typeface="Calibri"/>
              <a:sym typeface="Calibri"/>
            </a:endParaRPr>
          </a:p>
        </p:txBody>
      </p:sp>
      <p:sp>
        <p:nvSpPr>
          <p:cNvPr id="675" name="Google Shape;675;p36"/>
          <p:cNvSpPr/>
          <p:nvPr/>
        </p:nvSpPr>
        <p:spPr>
          <a:xfrm>
            <a:off x="6540401" y="3430935"/>
            <a:ext cx="5207050" cy="3581400"/>
          </a:xfrm>
          <a:prstGeom prst="roundRect">
            <a:avLst>
              <a:gd fmla="val 4255"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676" name="Google Shape;676;p36"/>
          <p:cNvPicPr preferRelativeResize="0"/>
          <p:nvPr/>
        </p:nvPicPr>
        <p:blipFill rotWithShape="1">
          <a:blip r:embed="rId4">
            <a:alphaModFix/>
          </a:blip>
          <a:srcRect b="0" l="-1" r="-1" t="0"/>
          <a:stretch/>
        </p:blipFill>
        <p:spPr>
          <a:xfrm>
            <a:off x="6711851" y="4229249"/>
            <a:ext cx="4864150" cy="1984772"/>
          </a:xfrm>
          <a:prstGeom prst="rect">
            <a:avLst/>
          </a:prstGeom>
          <a:noFill/>
          <a:ln>
            <a:noFill/>
          </a:ln>
        </p:spPr>
      </p:pic>
      <p:sp>
        <p:nvSpPr>
          <p:cNvPr id="677" name="Google Shape;677;p36"/>
          <p:cNvSpPr/>
          <p:nvPr/>
        </p:nvSpPr>
        <p:spPr>
          <a:xfrm>
            <a:off x="6280048" y="7145685"/>
            <a:ext cx="5727755" cy="358080"/>
          </a:xfrm>
          <a:prstGeom prst="rect">
            <a:avLst/>
          </a:prstGeom>
          <a:noFill/>
          <a:ln>
            <a:noFill/>
          </a:ln>
        </p:spPr>
        <p:txBody>
          <a:bodyPr anchorCtr="0" anchor="t" bIns="25400" lIns="25400" spcFirstLastPara="1" rIns="25400" wrap="square" tIns="25400">
            <a:noAutofit/>
          </a:bodyPr>
          <a:lstStyle/>
          <a:p>
            <a:pPr indent="0" lvl="0" marL="0" marR="0" rtl="0" algn="ctr">
              <a:lnSpc>
                <a:spcPct val="120000"/>
              </a:lnSpc>
              <a:spcBef>
                <a:spcPts val="0"/>
              </a:spcBef>
              <a:spcAft>
                <a:spcPts val="0"/>
              </a:spcAft>
              <a:buClr>
                <a:srgbClr val="5B6B80"/>
              </a:buClr>
              <a:buSzPts val="1800"/>
              <a:buFont typeface="Arial"/>
              <a:buNone/>
            </a:pPr>
            <a:r>
              <a:rPr lang="en-US" sz="1800">
                <a:solidFill>
                  <a:srgbClr val="5B6B80"/>
                </a:solidFill>
                <a:latin typeface="Arial"/>
                <a:ea typeface="Arial"/>
                <a:cs typeface="Arial"/>
                <a:sym typeface="Arial"/>
              </a:rPr>
              <a:t>Figure 28 — contrôle de dérive (PSI)</a:t>
            </a:r>
            <a:endParaRPr sz="1800">
              <a:solidFill>
                <a:schemeClr val="dk1"/>
              </a:solidFill>
              <a:latin typeface="Calibri"/>
              <a:ea typeface="Calibri"/>
              <a:cs typeface="Calibri"/>
              <a:sym typeface="Calibri"/>
            </a:endParaRPr>
          </a:p>
        </p:txBody>
      </p:sp>
      <p:sp>
        <p:nvSpPr>
          <p:cNvPr id="678" name="Google Shape;678;p36"/>
          <p:cNvSpPr/>
          <p:nvPr/>
        </p:nvSpPr>
        <p:spPr>
          <a:xfrm>
            <a:off x="12033200" y="3430935"/>
            <a:ext cx="5207050" cy="3581400"/>
          </a:xfrm>
          <a:prstGeom prst="roundRect">
            <a:avLst>
              <a:gd fmla="val 4255"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679" name="Google Shape;679;p36"/>
          <p:cNvPicPr preferRelativeResize="0"/>
          <p:nvPr/>
        </p:nvPicPr>
        <p:blipFill rotWithShape="1">
          <a:blip r:embed="rId5">
            <a:alphaModFix/>
          </a:blip>
          <a:srcRect b="0" l="0" r="0" t="0"/>
          <a:stretch/>
        </p:blipFill>
        <p:spPr>
          <a:xfrm>
            <a:off x="12204650" y="4218831"/>
            <a:ext cx="4864150" cy="2005608"/>
          </a:xfrm>
          <a:prstGeom prst="rect">
            <a:avLst/>
          </a:prstGeom>
          <a:noFill/>
          <a:ln>
            <a:noFill/>
          </a:ln>
        </p:spPr>
      </p:pic>
      <p:sp>
        <p:nvSpPr>
          <p:cNvPr id="680" name="Google Shape;680;p36"/>
          <p:cNvSpPr/>
          <p:nvPr/>
        </p:nvSpPr>
        <p:spPr>
          <a:xfrm>
            <a:off x="11772848" y="7145685"/>
            <a:ext cx="5727755" cy="358080"/>
          </a:xfrm>
          <a:prstGeom prst="rect">
            <a:avLst/>
          </a:prstGeom>
          <a:noFill/>
          <a:ln>
            <a:noFill/>
          </a:ln>
        </p:spPr>
        <p:txBody>
          <a:bodyPr anchorCtr="0" anchor="t" bIns="25400" lIns="25400" spcFirstLastPara="1" rIns="25400" wrap="square" tIns="25400">
            <a:noAutofit/>
          </a:bodyPr>
          <a:lstStyle/>
          <a:p>
            <a:pPr indent="0" lvl="0" marL="0" marR="0" rtl="0" algn="ctr">
              <a:lnSpc>
                <a:spcPct val="120000"/>
              </a:lnSpc>
              <a:spcBef>
                <a:spcPts val="0"/>
              </a:spcBef>
              <a:spcAft>
                <a:spcPts val="0"/>
              </a:spcAft>
              <a:buClr>
                <a:srgbClr val="5B6B80"/>
              </a:buClr>
              <a:buSzPts val="1800"/>
              <a:buFont typeface="Arial"/>
              <a:buNone/>
            </a:pPr>
            <a:r>
              <a:rPr lang="en-US" sz="1800">
                <a:solidFill>
                  <a:srgbClr val="5B6B80"/>
                </a:solidFill>
                <a:latin typeface="Arial"/>
                <a:ea typeface="Arial"/>
                <a:cs typeface="Arial"/>
                <a:sym typeface="Arial"/>
              </a:rPr>
              <a:t>Figure 30 — 12/12 PASS (suite initiale ; 71/71 à ce jour)</a:t>
            </a:r>
            <a:endParaRPr/>
          </a:p>
        </p:txBody>
      </p:sp>
      <p:sp>
        <p:nvSpPr>
          <p:cNvPr id="681" name="Google Shape;681;p36"/>
          <p:cNvSpPr/>
          <p:nvPr/>
        </p:nvSpPr>
        <p:spPr>
          <a:xfrm>
            <a:off x="1047750" y="7589520"/>
            <a:ext cx="16678275" cy="1371600"/>
          </a:xfrm>
          <a:prstGeom prst="rect">
            <a:avLst/>
          </a:prstGeom>
          <a:noFill/>
          <a:ln>
            <a:noFill/>
          </a:ln>
        </p:spPr>
        <p:txBody>
          <a:bodyPr anchorCtr="0" anchor="t" bIns="25400" lIns="25400" spcFirstLastPara="1" rIns="25400" wrap="square" tIns="25400">
            <a:noAutofit/>
          </a:bodyPr>
          <a:lstStyle/>
          <a:p>
            <a:pPr indent="0" lvl="0" marL="0" marR="0" rtl="0" algn="l">
              <a:lnSpc>
                <a:spcPct val="127778"/>
              </a:lnSpc>
              <a:spcBef>
                <a:spcPts val="0"/>
              </a:spcBef>
              <a:spcAft>
                <a:spcPts val="0"/>
              </a:spcAft>
              <a:buClr>
                <a:srgbClr val="5B6B80"/>
              </a:buClr>
              <a:buSzPts val="1725"/>
              <a:buFont typeface="Arial"/>
              <a:buNone/>
            </a:pPr>
            <a:r>
              <a:rPr lang="en-US" sz="1725">
                <a:solidFill>
                  <a:srgbClr val="5B6B80"/>
                </a:solidFill>
                <a:latin typeface="Arial"/>
                <a:ea typeface="Arial"/>
                <a:cs typeface="Arial"/>
                <a:sym typeface="Arial"/>
              </a:rPr>
              <a:t>PSI sur amount / log_amount / hour_of_day (142 403 vs 142 404 transactions) : &lt; 0,01 — pas de dérive significative. Nuance honnête : sur les 2 seules requêtes API journalisées à ce stade, le PSI contre les prédictions réelles atteint 12,45 — un échantillon trop faible pour conclure, à réévaluer avec un vrai volume de trafic. Suite complète : 71 tests (57 précédents + 14 nouveaux : serveur MLflow vivant, /metrics, déploiement Komodo gardé par la CI), tous passants.</a:t>
            </a:r>
            <a:endParaRPr/>
          </a:p>
        </p:txBody>
      </p:sp>
      <p:sp>
        <p:nvSpPr>
          <p:cNvPr id="682" name="Google Shape;682;p36"/>
          <p:cNvSpPr/>
          <p:nvPr/>
        </p:nvSpPr>
        <p:spPr>
          <a:xfrm>
            <a:off x="16367760" y="9648825"/>
            <a:ext cx="914400"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5B6B80"/>
              </a:buClr>
              <a:buSzPts val="1800"/>
              <a:buFont typeface="Courier New"/>
              <a:buNone/>
            </a:pPr>
            <a:r>
              <a:rPr lang="en-US" sz="1800">
                <a:solidFill>
                  <a:srgbClr val="5B6B80"/>
                </a:solidFill>
                <a:latin typeface="Courier New"/>
                <a:ea typeface="Courier New"/>
                <a:cs typeface="Courier New"/>
                <a:sym typeface="Courier New"/>
              </a:rPr>
              <a:t>35/41</a:t>
            </a:r>
            <a:endParaRPr sz="1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7" name="Shape 687"/>
        <p:cNvGrpSpPr/>
        <p:nvPr/>
      </p:nvGrpSpPr>
      <p:grpSpPr>
        <a:xfrm>
          <a:off x="0" y="0"/>
          <a:ext cx="0" cy="0"/>
          <a:chOff x="0" y="0"/>
          <a:chExt cx="0" cy="0"/>
        </a:xfrm>
      </p:grpSpPr>
      <p:sp>
        <p:nvSpPr>
          <p:cNvPr id="688" name="Google Shape;688;p37"/>
          <p:cNvSpPr txBox="1"/>
          <p:nvPr/>
        </p:nvSpPr>
        <p:spPr>
          <a:xfrm>
            <a:off x="1047720" y="914400"/>
            <a:ext cx="17811598" cy="371246"/>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950"/>
              <a:buFont typeface="Courier New"/>
              <a:buNone/>
            </a:pPr>
            <a:r>
              <a:rPr b="1" lang="en-US" sz="1950">
                <a:solidFill>
                  <a:srgbClr val="0B7A6F"/>
                </a:solidFill>
                <a:latin typeface="Courier New"/>
                <a:ea typeface="Courier New"/>
                <a:cs typeface="Courier New"/>
                <a:sym typeface="Courier New"/>
              </a:rPr>
              <a:t>CHAPITRE 3 — §6 · SUPERVISION</a:t>
            </a:r>
            <a:endParaRPr/>
          </a:p>
        </p:txBody>
      </p:sp>
      <p:sp>
        <p:nvSpPr>
          <p:cNvPr id="689" name="Google Shape;689;p37"/>
          <p:cNvSpPr txBox="1"/>
          <p:nvPr/>
        </p:nvSpPr>
        <p:spPr>
          <a:xfrm>
            <a:off x="1047720" y="1419149"/>
            <a:ext cx="17811598" cy="55229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3450"/>
              <a:buFont typeface="Arial"/>
              <a:buNone/>
            </a:pPr>
            <a:r>
              <a:rPr b="1" lang="en-US" sz="3450">
                <a:solidFill>
                  <a:srgbClr val="16212B"/>
                </a:solidFill>
                <a:latin typeface="Arial"/>
                <a:ea typeface="Arial"/>
                <a:cs typeface="Arial"/>
                <a:sym typeface="Arial"/>
              </a:rPr>
              <a:t>Un serveur MLflow vivant, et des alertes de dérive et de pipeline</a:t>
            </a:r>
            <a:endParaRPr/>
          </a:p>
        </p:txBody>
      </p:sp>
      <p:sp>
        <p:nvSpPr>
          <p:cNvPr id="690" name="Google Shape;690;p37"/>
          <p:cNvSpPr txBox="1"/>
          <p:nvPr/>
        </p:nvSpPr>
        <p:spPr>
          <a:xfrm>
            <a:off x="16367760" y="9646920"/>
            <a:ext cx="914400" cy="333756"/>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B6B80"/>
              </a:buClr>
              <a:buSzPts val="1800"/>
              <a:buFont typeface="Courier New"/>
              <a:buNone/>
            </a:pPr>
            <a:r>
              <a:rPr lang="en-US" sz="1800">
                <a:solidFill>
                  <a:srgbClr val="5B6B80"/>
                </a:solidFill>
                <a:latin typeface="Courier New"/>
                <a:ea typeface="Courier New"/>
                <a:cs typeface="Courier New"/>
                <a:sym typeface="Courier New"/>
              </a:rPr>
              <a:t>36/41</a:t>
            </a:r>
            <a:endParaRPr/>
          </a:p>
        </p:txBody>
      </p:sp>
      <p:sp>
        <p:nvSpPr>
          <p:cNvPr id="691" name="Google Shape;691;p37"/>
          <p:cNvSpPr/>
          <p:nvPr/>
        </p:nvSpPr>
        <p:spPr>
          <a:xfrm>
            <a:off x="1047902" y="2331720"/>
            <a:ext cx="9144000" cy="5978513"/>
          </a:xfrm>
          <a:prstGeom prst="roundRect">
            <a:avLst>
              <a:gd fmla="val 4000"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2" name="Google Shape;692;p37"/>
          <p:cNvSpPr txBox="1"/>
          <p:nvPr/>
        </p:nvSpPr>
        <p:spPr>
          <a:xfrm>
            <a:off x="1047902" y="8401673"/>
            <a:ext cx="9144000" cy="822960"/>
          </a:xfrm>
          <a:prstGeom prst="rect">
            <a:avLst/>
          </a:prstGeom>
          <a:noFill/>
          <a:ln>
            <a:noFill/>
          </a:ln>
        </p:spPr>
        <p:txBody>
          <a:bodyPr anchorCtr="0" anchor="t" bIns="25400" lIns="25400" spcFirstLastPara="1" rIns="25400" wrap="square" tIns="25400">
            <a:normAutofit/>
          </a:bodyPr>
          <a:lstStyle/>
          <a:p>
            <a:pPr indent="0" lvl="0" marL="0" marR="0" rtl="0" algn="ctr">
              <a:lnSpc>
                <a:spcPct val="115000"/>
              </a:lnSpc>
              <a:spcBef>
                <a:spcPts val="0"/>
              </a:spcBef>
              <a:spcAft>
                <a:spcPts val="0"/>
              </a:spcAft>
              <a:buClr>
                <a:srgbClr val="5B6B80"/>
              </a:buClr>
              <a:buSzPts val="1500"/>
              <a:buFont typeface="Arial"/>
              <a:buNone/>
            </a:pPr>
            <a:r>
              <a:rPr lang="en-US" sz="1500">
                <a:solidFill>
                  <a:srgbClr val="5B6B80"/>
                </a:solidFill>
                <a:latin typeface="Arial"/>
                <a:ea typeface="Arial"/>
                <a:cs typeface="Arial"/>
                <a:sym typeface="Arial"/>
              </a:rPr>
              <a:t>Figures 56–57 — fraud-detection-classifier v1 en Staging ; tableau de bord Grafana « Dérive &amp; pipeline »</a:t>
            </a:r>
            <a:endParaRPr/>
          </a:p>
        </p:txBody>
      </p:sp>
      <p:sp>
        <p:nvSpPr>
          <p:cNvPr id="693" name="Google Shape;693;p37"/>
          <p:cNvSpPr txBox="1"/>
          <p:nvPr/>
        </p:nvSpPr>
        <p:spPr>
          <a:xfrm>
            <a:off x="10515600" y="2331720"/>
            <a:ext cx="6720840" cy="310896"/>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800"/>
              <a:buFont typeface="Courier New"/>
              <a:buNone/>
            </a:pPr>
            <a:r>
              <a:rPr b="1" lang="en-US" sz="1800">
                <a:solidFill>
                  <a:srgbClr val="0B7A6F"/>
                </a:solidFill>
                <a:latin typeface="Courier New"/>
                <a:ea typeface="Courier New"/>
                <a:cs typeface="Courier New"/>
                <a:sym typeface="Courier New"/>
              </a:rPr>
              <a:t>CE QUI A CHANGÉ</a:t>
            </a:r>
            <a:endParaRPr/>
          </a:p>
        </p:txBody>
      </p:sp>
      <p:sp>
        <p:nvSpPr>
          <p:cNvPr id="694" name="Google Shape;694;p37"/>
          <p:cNvSpPr/>
          <p:nvPr/>
        </p:nvSpPr>
        <p:spPr>
          <a:xfrm>
            <a:off x="10515600" y="2788920"/>
            <a:ext cx="6720840" cy="1051560"/>
          </a:xfrm>
          <a:prstGeom prst="roundRect">
            <a:avLst>
              <a:gd fmla="val 4000" name="adj"/>
            </a:avLst>
          </a:prstGeom>
          <a:solidFill>
            <a:srgbClr val="F5F7FA"/>
          </a:solidFill>
          <a:ln>
            <a:noFill/>
          </a:ln>
        </p:spPr>
        <p:txBody>
          <a:bodyPr anchorCtr="0" anchor="ctr" bIns="91425" lIns="182875" spcFirstLastPara="1" rIns="182875" wrap="square" tIns="91425">
            <a:noAutofit/>
          </a:bodyPr>
          <a:lstStyle/>
          <a:p>
            <a:pPr indent="0" lvl="0" marL="0" marR="0" rtl="0" algn="l">
              <a:spcBef>
                <a:spcPts val="0"/>
              </a:spcBef>
              <a:spcAft>
                <a:spcPts val="0"/>
              </a:spcAft>
              <a:buClr>
                <a:srgbClr val="0B7A6F"/>
              </a:buClr>
              <a:buSzPts val="1800"/>
              <a:buFont typeface="Arial"/>
              <a:buNone/>
            </a:pPr>
            <a:r>
              <a:rPr b="1" lang="en-US" sz="1800">
                <a:solidFill>
                  <a:srgbClr val="0B7A6F"/>
                </a:solidFill>
                <a:latin typeface="Arial"/>
                <a:ea typeface="Arial"/>
                <a:cs typeface="Arial"/>
                <a:sym typeface="Arial"/>
              </a:rPr>
              <a:t>Serveur vivant, pas un instantané</a:t>
            </a:r>
            <a:endParaRPr/>
          </a:p>
          <a:p>
            <a:pPr indent="0" lvl="0" marL="0" marR="0" rtl="0" algn="l">
              <a:spcBef>
                <a:spcPts val="200"/>
              </a:spcBef>
              <a:spcAft>
                <a:spcPts val="0"/>
              </a:spcAft>
              <a:buClr>
                <a:srgbClr val="16212B"/>
              </a:buClr>
              <a:buSzPts val="1600"/>
              <a:buFont typeface="Arial"/>
              <a:buNone/>
            </a:pPr>
            <a:r>
              <a:rPr lang="en-US" sz="1600">
                <a:solidFill>
                  <a:srgbClr val="16212B"/>
                </a:solidFill>
                <a:latin typeface="Arial"/>
                <a:ea typeface="Arial"/>
                <a:cs typeface="Arial"/>
                <a:sym typeface="Arial"/>
              </a:rPr>
              <a:t>backend PostgreSQL, artefacts MinIO ; register_model.py détecte le mode serveur depuis le schéma de l’URI</a:t>
            </a:r>
            <a:endParaRPr/>
          </a:p>
        </p:txBody>
      </p:sp>
      <p:sp>
        <p:nvSpPr>
          <p:cNvPr id="695" name="Google Shape;695;p37"/>
          <p:cNvSpPr/>
          <p:nvPr/>
        </p:nvSpPr>
        <p:spPr>
          <a:xfrm>
            <a:off x="10515600" y="3977640"/>
            <a:ext cx="6720840" cy="1051560"/>
          </a:xfrm>
          <a:prstGeom prst="roundRect">
            <a:avLst>
              <a:gd fmla="val 4000" name="adj"/>
            </a:avLst>
          </a:prstGeom>
          <a:solidFill>
            <a:srgbClr val="F5F7FA"/>
          </a:solidFill>
          <a:ln>
            <a:noFill/>
          </a:ln>
        </p:spPr>
        <p:txBody>
          <a:bodyPr anchorCtr="0" anchor="ctr" bIns="91425" lIns="182875" spcFirstLastPara="1" rIns="182875" wrap="square" tIns="91425">
            <a:noAutofit/>
          </a:bodyPr>
          <a:lstStyle/>
          <a:p>
            <a:pPr indent="0" lvl="0" marL="0" marR="0" rtl="0" algn="l">
              <a:spcBef>
                <a:spcPts val="0"/>
              </a:spcBef>
              <a:spcAft>
                <a:spcPts val="0"/>
              </a:spcAft>
              <a:buClr>
                <a:srgbClr val="0B7A6F"/>
              </a:buClr>
              <a:buSzPts val="1800"/>
              <a:buFont typeface="Arial"/>
              <a:buNone/>
            </a:pPr>
            <a:r>
              <a:rPr b="1" lang="en-US" sz="1800">
                <a:solidFill>
                  <a:srgbClr val="0B7A6F"/>
                </a:solidFill>
                <a:latin typeface="Arial"/>
                <a:ea typeface="Arial"/>
                <a:cs typeface="Arial"/>
                <a:sym typeface="Arial"/>
              </a:rPr>
              <a:t>Registre neuf : Staging, pas Production</a:t>
            </a:r>
            <a:endParaRPr/>
          </a:p>
          <a:p>
            <a:pPr indent="0" lvl="0" marL="0" marR="0" rtl="0" algn="l">
              <a:spcBef>
                <a:spcPts val="200"/>
              </a:spcBef>
              <a:spcAft>
                <a:spcPts val="0"/>
              </a:spcAft>
              <a:buClr>
                <a:srgbClr val="16212B"/>
              </a:buClr>
              <a:buSzPts val="1600"/>
              <a:buFont typeface="Arial"/>
              <a:buNone/>
            </a:pPr>
            <a:r>
              <a:rPr lang="en-US" sz="1600">
                <a:solidFill>
                  <a:srgbClr val="16212B"/>
                </a:solidFill>
                <a:latin typeface="Arial"/>
                <a:ea typeface="Arial"/>
                <a:cs typeface="Arial"/>
                <a:sym typeface="Arial"/>
              </a:rPr>
              <a:t>le premier candidat attend une approbation humaine — auto_promote reste faux</a:t>
            </a:r>
            <a:endParaRPr/>
          </a:p>
        </p:txBody>
      </p:sp>
      <p:sp>
        <p:nvSpPr>
          <p:cNvPr id="696" name="Google Shape;696;p37"/>
          <p:cNvSpPr/>
          <p:nvPr/>
        </p:nvSpPr>
        <p:spPr>
          <a:xfrm>
            <a:off x="10515600" y="5166360"/>
            <a:ext cx="6720840" cy="1051560"/>
          </a:xfrm>
          <a:prstGeom prst="roundRect">
            <a:avLst>
              <a:gd fmla="val 4000" name="adj"/>
            </a:avLst>
          </a:prstGeom>
          <a:solidFill>
            <a:srgbClr val="F5F7FA"/>
          </a:solidFill>
          <a:ln>
            <a:noFill/>
          </a:ln>
        </p:spPr>
        <p:txBody>
          <a:bodyPr anchorCtr="0" anchor="ctr" bIns="91425" lIns="182875" spcFirstLastPara="1" rIns="182875" wrap="square" tIns="91425">
            <a:noAutofit/>
          </a:bodyPr>
          <a:lstStyle/>
          <a:p>
            <a:pPr indent="0" lvl="0" marL="0" marR="0" rtl="0" algn="l">
              <a:spcBef>
                <a:spcPts val="0"/>
              </a:spcBef>
              <a:spcAft>
                <a:spcPts val="0"/>
              </a:spcAft>
              <a:buClr>
                <a:srgbClr val="0B7A6F"/>
              </a:buClr>
              <a:buSzPts val="1800"/>
              <a:buFont typeface="Arial"/>
              <a:buNone/>
            </a:pPr>
            <a:r>
              <a:rPr b="1" lang="en-US" sz="1800">
                <a:solidFill>
                  <a:srgbClr val="0B7A6F"/>
                </a:solidFill>
                <a:latin typeface="Arial"/>
                <a:ea typeface="Arial"/>
                <a:cs typeface="Arial"/>
                <a:sym typeface="Arial"/>
              </a:rPr>
              <a:t>Sept règles d’alerte Prometheus</a:t>
            </a:r>
            <a:endParaRPr/>
          </a:p>
          <a:p>
            <a:pPr indent="0" lvl="0" marL="0" marR="0" rtl="0" algn="l">
              <a:spcBef>
                <a:spcPts val="200"/>
              </a:spcBef>
              <a:spcAft>
                <a:spcPts val="0"/>
              </a:spcAft>
              <a:buClr>
                <a:srgbClr val="16212B"/>
              </a:buClr>
              <a:buSzPts val="1600"/>
              <a:buFont typeface="Arial"/>
              <a:buNone/>
            </a:pPr>
            <a:r>
              <a:rPr lang="en-US" sz="1600">
                <a:solidFill>
                  <a:srgbClr val="16212B"/>
                </a:solidFill>
                <a:latin typeface="Arial"/>
                <a:ea typeface="Arial"/>
                <a:cs typeface="Arial"/>
                <a:sym typeface="Arial"/>
              </a:rPr>
              <a:t>dérive (PSI), pipeline (échec, run périmé), disponibilité — toutes inactives (Figure 58)</a:t>
            </a:r>
            <a:endParaRPr/>
          </a:p>
        </p:txBody>
      </p:sp>
      <p:sp>
        <p:nvSpPr>
          <p:cNvPr id="697" name="Google Shape;697;p37"/>
          <p:cNvSpPr/>
          <p:nvPr/>
        </p:nvSpPr>
        <p:spPr>
          <a:xfrm>
            <a:off x="10515600" y="6355080"/>
            <a:ext cx="6720840" cy="1051560"/>
          </a:xfrm>
          <a:prstGeom prst="roundRect">
            <a:avLst>
              <a:gd fmla="val 4000" name="adj"/>
            </a:avLst>
          </a:prstGeom>
          <a:solidFill>
            <a:srgbClr val="F5F7FA"/>
          </a:solidFill>
          <a:ln>
            <a:noFill/>
          </a:ln>
        </p:spPr>
        <p:txBody>
          <a:bodyPr anchorCtr="0" anchor="ctr" bIns="91425" lIns="182875" spcFirstLastPara="1" rIns="182875" wrap="square" tIns="91425">
            <a:noAutofit/>
          </a:bodyPr>
          <a:lstStyle/>
          <a:p>
            <a:pPr indent="0" lvl="0" marL="0" marR="0" rtl="0" algn="l">
              <a:spcBef>
                <a:spcPts val="0"/>
              </a:spcBef>
              <a:spcAft>
                <a:spcPts val="0"/>
              </a:spcAft>
              <a:buClr>
                <a:srgbClr val="0B7A6F"/>
              </a:buClr>
              <a:buSzPts val="1800"/>
              <a:buFont typeface="Arial"/>
              <a:buNone/>
            </a:pPr>
            <a:r>
              <a:rPr b="1" lang="en-US" sz="1800">
                <a:solidFill>
                  <a:srgbClr val="0B7A6F"/>
                </a:solidFill>
                <a:latin typeface="Arial"/>
                <a:ea typeface="Arial"/>
                <a:cs typeface="Arial"/>
                <a:sym typeface="Arial"/>
              </a:rPr>
              <a:t>Pas d’Alertmanager</a:t>
            </a:r>
            <a:endParaRPr/>
          </a:p>
          <a:p>
            <a:pPr indent="0" lvl="0" marL="0" marR="0" rtl="0" algn="l">
              <a:spcBef>
                <a:spcPts val="200"/>
              </a:spcBef>
              <a:spcAft>
                <a:spcPts val="0"/>
              </a:spcAft>
              <a:buClr>
                <a:srgbClr val="16212B"/>
              </a:buClr>
              <a:buSzPts val="1600"/>
              <a:buFont typeface="Arial"/>
              <a:buNone/>
            </a:pPr>
            <a:r>
              <a:rPr lang="en-US" sz="1600">
                <a:solidFill>
                  <a:srgbClr val="16212B"/>
                </a:solidFill>
                <a:latin typeface="Arial"/>
                <a:ea typeface="Arial"/>
                <a:cs typeface="Arial"/>
                <a:sym typeface="Arial"/>
              </a:rPr>
              <a:t>les alertes se consultent dans Prometheus /alerts et le panneau Grafana « Alertes en cours »</a:t>
            </a:r>
            <a:endParaRPr/>
          </a:p>
        </p:txBody>
      </p:sp>
      <p:sp>
        <p:nvSpPr>
          <p:cNvPr id="698" name="Google Shape;698;p37"/>
          <p:cNvSpPr/>
          <p:nvPr/>
        </p:nvSpPr>
        <p:spPr>
          <a:xfrm>
            <a:off x="10515600" y="7589520"/>
            <a:ext cx="6720840" cy="1463040"/>
          </a:xfrm>
          <a:prstGeom prst="roundRect">
            <a:avLst>
              <a:gd fmla="val 4000" name="adj"/>
            </a:avLst>
          </a:prstGeom>
          <a:solidFill>
            <a:srgbClr val="FBEAEA"/>
          </a:solidFill>
          <a:ln>
            <a:noFill/>
          </a:ln>
        </p:spPr>
        <p:txBody>
          <a:bodyPr anchorCtr="0" anchor="ctr" bIns="114300" lIns="228600" spcFirstLastPara="1" rIns="228600" wrap="square" tIns="114300">
            <a:noAutofit/>
          </a:bodyPr>
          <a:lstStyle/>
          <a:p>
            <a:pPr indent="0" lvl="0" marL="0" marR="0" rtl="0" algn="l">
              <a:lnSpc>
                <a:spcPct val="115000"/>
              </a:lnSpc>
              <a:spcBef>
                <a:spcPts val="0"/>
              </a:spcBef>
              <a:spcAft>
                <a:spcPts val="0"/>
              </a:spcAft>
              <a:buClr>
                <a:srgbClr val="B03A2E"/>
              </a:buClr>
              <a:buSzPts val="1600"/>
              <a:buFont typeface="Arial"/>
              <a:buNone/>
            </a:pPr>
            <a:r>
              <a:rPr b="1" lang="en-US" sz="1600">
                <a:solidFill>
                  <a:srgbClr val="B03A2E"/>
                </a:solidFill>
                <a:latin typeface="Arial"/>
                <a:ea typeface="Arial"/>
                <a:cs typeface="Arial"/>
                <a:sym typeface="Arial"/>
              </a:rPr>
              <a:t>Propriété : </a:t>
            </a:r>
            <a:r>
              <a:rPr lang="en-US" sz="1600">
                <a:solidFill>
                  <a:srgbClr val="16212B"/>
                </a:solidFill>
                <a:latin typeface="Arial"/>
                <a:ea typeface="Arial"/>
                <a:cs typeface="Arial"/>
                <a:sym typeface="Arial"/>
              </a:rPr>
              <a:t>register_model.py, platform_api/*, monitoring/prometheus|grafana, ci.yml, scripts/komodo_deploy.py (Assofi Nada).</a:t>
            </a:r>
            <a:endParaRPr/>
          </a:p>
        </p:txBody>
      </p:sp>
      <p:pic>
        <p:nvPicPr>
          <p:cNvPr descr="f56_mlflow_staging.png" id="699" name="Google Shape;699;p37"/>
          <p:cNvPicPr preferRelativeResize="0"/>
          <p:nvPr/>
        </p:nvPicPr>
        <p:blipFill rotWithShape="1">
          <a:blip r:embed="rId3">
            <a:alphaModFix/>
          </a:blip>
          <a:srcRect b="0" l="0" r="0" t="0"/>
          <a:stretch/>
        </p:blipFill>
        <p:spPr>
          <a:xfrm>
            <a:off x="1234440" y="2343476"/>
            <a:ext cx="8778240" cy="1903445"/>
          </a:xfrm>
          <a:prstGeom prst="rect">
            <a:avLst/>
          </a:prstGeom>
          <a:noFill/>
          <a:ln>
            <a:noFill/>
          </a:ln>
        </p:spPr>
      </p:pic>
      <p:pic>
        <p:nvPicPr>
          <p:cNvPr descr="f57_grafana_derive.png" id="700" name="Google Shape;700;p37"/>
          <p:cNvPicPr preferRelativeResize="0"/>
          <p:nvPr/>
        </p:nvPicPr>
        <p:blipFill rotWithShape="1">
          <a:blip r:embed="rId4">
            <a:alphaModFix/>
          </a:blip>
          <a:srcRect b="0" l="0" r="0" t="0"/>
          <a:stretch/>
        </p:blipFill>
        <p:spPr>
          <a:xfrm>
            <a:off x="1234440" y="4521241"/>
            <a:ext cx="8778240" cy="377889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5" name="Shape 705"/>
        <p:cNvGrpSpPr/>
        <p:nvPr/>
      </p:nvGrpSpPr>
      <p:grpSpPr>
        <a:xfrm>
          <a:off x="0" y="0"/>
          <a:ext cx="0" cy="0"/>
          <a:chOff x="0" y="0"/>
          <a:chExt cx="0" cy="0"/>
        </a:xfrm>
      </p:grpSpPr>
      <p:sp>
        <p:nvSpPr>
          <p:cNvPr id="706" name="Google Shape;706;p38"/>
          <p:cNvSpPr txBox="1"/>
          <p:nvPr/>
        </p:nvSpPr>
        <p:spPr>
          <a:xfrm>
            <a:off x="1047720" y="914400"/>
            <a:ext cx="17811598" cy="371246"/>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950"/>
              <a:buFont typeface="Courier New"/>
              <a:buNone/>
            </a:pPr>
            <a:r>
              <a:rPr b="1" lang="en-US" sz="1950">
                <a:solidFill>
                  <a:srgbClr val="0B7A6F"/>
                </a:solidFill>
                <a:latin typeface="Courier New"/>
                <a:ea typeface="Courier New"/>
                <a:cs typeface="Courier New"/>
                <a:sym typeface="Courier New"/>
              </a:rPr>
              <a:t>CHAPITRE 3 — §5 · INTERFACE D’OPÉRATIONS</a:t>
            </a:r>
            <a:endParaRPr/>
          </a:p>
        </p:txBody>
      </p:sp>
      <p:sp>
        <p:nvSpPr>
          <p:cNvPr id="707" name="Google Shape;707;p38"/>
          <p:cNvSpPr txBox="1"/>
          <p:nvPr/>
        </p:nvSpPr>
        <p:spPr>
          <a:xfrm>
            <a:off x="1047720" y="1419149"/>
            <a:ext cx="17811598" cy="55229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3450"/>
              <a:buFont typeface="Arial"/>
              <a:buNone/>
            </a:pPr>
            <a:r>
              <a:rPr b="1" lang="en-US" sz="3450">
                <a:solidFill>
                  <a:srgbClr val="16212B"/>
                </a:solidFill>
                <a:latin typeface="Arial"/>
                <a:ea typeface="Arial"/>
                <a:cs typeface="Arial"/>
                <a:sym typeface="Arial"/>
              </a:rPr>
              <a:t>Une interface d’opérations : corrections versionnées</a:t>
            </a:r>
            <a:endParaRPr/>
          </a:p>
        </p:txBody>
      </p:sp>
      <p:sp>
        <p:nvSpPr>
          <p:cNvPr id="708" name="Google Shape;708;p38"/>
          <p:cNvSpPr txBox="1"/>
          <p:nvPr/>
        </p:nvSpPr>
        <p:spPr>
          <a:xfrm>
            <a:off x="16367760" y="9646920"/>
            <a:ext cx="914400" cy="333756"/>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B6B80"/>
              </a:buClr>
              <a:buSzPts val="1800"/>
              <a:buFont typeface="Courier New"/>
              <a:buNone/>
            </a:pPr>
            <a:r>
              <a:rPr lang="en-US" sz="1800">
                <a:solidFill>
                  <a:srgbClr val="5B6B80"/>
                </a:solidFill>
                <a:latin typeface="Courier New"/>
                <a:ea typeface="Courier New"/>
                <a:cs typeface="Courier New"/>
                <a:sym typeface="Courier New"/>
              </a:rPr>
              <a:t>37/41</a:t>
            </a:r>
            <a:endParaRPr/>
          </a:p>
        </p:txBody>
      </p:sp>
      <p:sp>
        <p:nvSpPr>
          <p:cNvPr id="709" name="Google Shape;709;p38"/>
          <p:cNvSpPr/>
          <p:nvPr/>
        </p:nvSpPr>
        <p:spPr>
          <a:xfrm>
            <a:off x="1047902" y="2331720"/>
            <a:ext cx="9144000" cy="5978513"/>
          </a:xfrm>
          <a:prstGeom prst="roundRect">
            <a:avLst>
              <a:gd fmla="val 4000"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0" name="Google Shape;710;p38"/>
          <p:cNvSpPr txBox="1"/>
          <p:nvPr/>
        </p:nvSpPr>
        <p:spPr>
          <a:xfrm>
            <a:off x="1047902" y="8401673"/>
            <a:ext cx="9144000" cy="822960"/>
          </a:xfrm>
          <a:prstGeom prst="rect">
            <a:avLst/>
          </a:prstGeom>
          <a:noFill/>
          <a:ln>
            <a:noFill/>
          </a:ln>
        </p:spPr>
        <p:txBody>
          <a:bodyPr anchorCtr="0" anchor="t" bIns="25400" lIns="25400" spcFirstLastPara="1" rIns="25400" wrap="square" tIns="25400">
            <a:normAutofit/>
          </a:bodyPr>
          <a:lstStyle/>
          <a:p>
            <a:pPr indent="0" lvl="0" marL="0" marR="0" rtl="0" algn="ctr">
              <a:lnSpc>
                <a:spcPct val="115000"/>
              </a:lnSpc>
              <a:spcBef>
                <a:spcPts val="0"/>
              </a:spcBef>
              <a:spcAft>
                <a:spcPts val="0"/>
              </a:spcAft>
              <a:buClr>
                <a:srgbClr val="5B6B80"/>
              </a:buClr>
              <a:buSzPts val="1500"/>
              <a:buFont typeface="Arial"/>
              <a:buNone/>
            </a:pPr>
            <a:r>
              <a:rPr lang="en-US" sz="1500">
                <a:solidFill>
                  <a:srgbClr val="5B6B80"/>
                </a:solidFill>
                <a:latin typeface="Arial"/>
                <a:ea typeface="Arial"/>
                <a:cs typeface="Arial"/>
                <a:sym typeface="Arial"/>
              </a:rPr>
              <a:t>Figure 43 — Table Transactions : une correction en attente (instance locale de démonstration)</a:t>
            </a:r>
            <a:endParaRPr/>
          </a:p>
        </p:txBody>
      </p:sp>
      <p:sp>
        <p:nvSpPr>
          <p:cNvPr id="711" name="Google Shape;711;p38"/>
          <p:cNvSpPr txBox="1"/>
          <p:nvPr/>
        </p:nvSpPr>
        <p:spPr>
          <a:xfrm>
            <a:off x="10515600" y="2331720"/>
            <a:ext cx="6720840" cy="310896"/>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800"/>
              <a:buFont typeface="Courier New"/>
              <a:buNone/>
            </a:pPr>
            <a:r>
              <a:rPr b="1" lang="en-US" sz="1800">
                <a:solidFill>
                  <a:srgbClr val="0B7A6F"/>
                </a:solidFill>
                <a:latin typeface="Courier New"/>
                <a:ea typeface="Courier New"/>
                <a:cs typeface="Courier New"/>
                <a:sym typeface="Courier New"/>
              </a:rPr>
              <a:t>CE QUE MONTRE L’INTERFACE</a:t>
            </a:r>
            <a:endParaRPr/>
          </a:p>
        </p:txBody>
      </p:sp>
      <p:sp>
        <p:nvSpPr>
          <p:cNvPr id="712" name="Google Shape;712;p38"/>
          <p:cNvSpPr/>
          <p:nvPr/>
        </p:nvSpPr>
        <p:spPr>
          <a:xfrm>
            <a:off x="10515600" y="2788920"/>
            <a:ext cx="6720840" cy="1051560"/>
          </a:xfrm>
          <a:prstGeom prst="roundRect">
            <a:avLst>
              <a:gd fmla="val 4000" name="adj"/>
            </a:avLst>
          </a:prstGeom>
          <a:solidFill>
            <a:srgbClr val="F5F7FA"/>
          </a:solidFill>
          <a:ln>
            <a:noFill/>
          </a:ln>
        </p:spPr>
        <p:txBody>
          <a:bodyPr anchorCtr="0" anchor="ctr" bIns="91425" lIns="182875" spcFirstLastPara="1" rIns="182875" wrap="square" tIns="91425">
            <a:noAutofit/>
          </a:bodyPr>
          <a:lstStyle/>
          <a:p>
            <a:pPr indent="0" lvl="0" marL="0" marR="0" rtl="0" algn="l">
              <a:spcBef>
                <a:spcPts val="0"/>
              </a:spcBef>
              <a:spcAft>
                <a:spcPts val="0"/>
              </a:spcAft>
              <a:buClr>
                <a:srgbClr val="0B7A6F"/>
              </a:buClr>
              <a:buSzPts val="1800"/>
              <a:buFont typeface="Arial"/>
              <a:buNone/>
            </a:pPr>
            <a:r>
              <a:rPr b="1" lang="en-US" sz="1800">
                <a:solidFill>
                  <a:srgbClr val="0B7A6F"/>
                </a:solidFill>
                <a:latin typeface="Arial"/>
                <a:ea typeface="Arial"/>
                <a:cs typeface="Arial"/>
                <a:sym typeface="Arial"/>
              </a:rPr>
              <a:t>Connexion vérifiée côté API</a:t>
            </a:r>
            <a:endParaRPr/>
          </a:p>
          <a:p>
            <a:pPr indent="0" lvl="0" marL="0" marR="0" rtl="0" algn="l">
              <a:spcBef>
                <a:spcPts val="200"/>
              </a:spcBef>
              <a:spcAft>
                <a:spcPts val="0"/>
              </a:spcAft>
              <a:buClr>
                <a:srgbClr val="16212B"/>
              </a:buClr>
              <a:buSzPts val="1600"/>
              <a:buFont typeface="Arial"/>
              <a:buNone/>
            </a:pPr>
            <a:r>
              <a:rPr lang="en-US" sz="1600">
                <a:solidFill>
                  <a:srgbClr val="16212B"/>
                </a:solidFill>
                <a:latin typeface="Arial"/>
                <a:ea typeface="Arial"/>
                <a:cs typeface="Arial"/>
                <a:sym typeface="Arial"/>
              </a:rPr>
              <a:t>jeton signé HMAC (8 h), contrôlé sur chaque route</a:t>
            </a:r>
            <a:endParaRPr/>
          </a:p>
        </p:txBody>
      </p:sp>
      <p:sp>
        <p:nvSpPr>
          <p:cNvPr id="713" name="Google Shape;713;p38"/>
          <p:cNvSpPr/>
          <p:nvPr/>
        </p:nvSpPr>
        <p:spPr>
          <a:xfrm>
            <a:off x="10515600" y="3977640"/>
            <a:ext cx="6720840" cy="1051560"/>
          </a:xfrm>
          <a:prstGeom prst="roundRect">
            <a:avLst>
              <a:gd fmla="val 4000" name="adj"/>
            </a:avLst>
          </a:prstGeom>
          <a:solidFill>
            <a:srgbClr val="F5F7FA"/>
          </a:solidFill>
          <a:ln>
            <a:noFill/>
          </a:ln>
        </p:spPr>
        <p:txBody>
          <a:bodyPr anchorCtr="0" anchor="ctr" bIns="91425" lIns="182875" spcFirstLastPara="1" rIns="182875" wrap="square" tIns="91425">
            <a:noAutofit/>
          </a:bodyPr>
          <a:lstStyle/>
          <a:p>
            <a:pPr indent="0" lvl="0" marL="0" marR="0" rtl="0" algn="l">
              <a:spcBef>
                <a:spcPts val="0"/>
              </a:spcBef>
              <a:spcAft>
                <a:spcPts val="0"/>
              </a:spcAft>
              <a:buClr>
                <a:srgbClr val="0B7A6F"/>
              </a:buClr>
              <a:buSzPts val="1800"/>
              <a:buFont typeface="Arial"/>
              <a:buNone/>
            </a:pPr>
            <a:r>
              <a:rPr b="1" lang="en-US" sz="1800">
                <a:solidFill>
                  <a:srgbClr val="0B7A6F"/>
                </a:solidFill>
                <a:latin typeface="Arial"/>
                <a:ea typeface="Arial"/>
                <a:cs typeface="Arial"/>
                <a:sym typeface="Arial"/>
              </a:rPr>
              <a:t>Table paginée côté serveur</a:t>
            </a:r>
            <a:endParaRPr/>
          </a:p>
          <a:p>
            <a:pPr indent="0" lvl="0" marL="0" marR="0" rtl="0" algn="l">
              <a:spcBef>
                <a:spcPts val="200"/>
              </a:spcBef>
              <a:spcAft>
                <a:spcPts val="0"/>
              </a:spcAft>
              <a:buClr>
                <a:srgbClr val="16212B"/>
              </a:buClr>
              <a:buSzPts val="1600"/>
              <a:buFont typeface="Arial"/>
              <a:buNone/>
            </a:pPr>
            <a:r>
              <a:rPr lang="en-US" sz="1600">
                <a:solidFill>
                  <a:srgbClr val="16212B"/>
                </a:solidFill>
                <a:latin typeface="Arial"/>
                <a:ea typeface="Arial"/>
                <a:cs typeface="Arial"/>
                <a:sym typeface="Arial"/>
              </a:rPr>
              <a:t>492 fraudes filtrables, V1–V28 dépliables</a:t>
            </a:r>
            <a:endParaRPr/>
          </a:p>
        </p:txBody>
      </p:sp>
      <p:sp>
        <p:nvSpPr>
          <p:cNvPr id="714" name="Google Shape;714;p38"/>
          <p:cNvSpPr/>
          <p:nvPr/>
        </p:nvSpPr>
        <p:spPr>
          <a:xfrm>
            <a:off x="10515600" y="5166360"/>
            <a:ext cx="6720840" cy="1051560"/>
          </a:xfrm>
          <a:prstGeom prst="roundRect">
            <a:avLst>
              <a:gd fmla="val 4000" name="adj"/>
            </a:avLst>
          </a:prstGeom>
          <a:solidFill>
            <a:srgbClr val="F5F7FA"/>
          </a:solidFill>
          <a:ln>
            <a:noFill/>
          </a:ln>
        </p:spPr>
        <p:txBody>
          <a:bodyPr anchorCtr="0" anchor="ctr" bIns="91425" lIns="182875" spcFirstLastPara="1" rIns="182875" wrap="square" tIns="91425">
            <a:noAutofit/>
          </a:bodyPr>
          <a:lstStyle/>
          <a:p>
            <a:pPr indent="0" lvl="0" marL="0" marR="0" rtl="0" algn="l">
              <a:spcBef>
                <a:spcPts val="0"/>
              </a:spcBef>
              <a:spcAft>
                <a:spcPts val="0"/>
              </a:spcAft>
              <a:buClr>
                <a:srgbClr val="0B7A6F"/>
              </a:buClr>
              <a:buSzPts val="1800"/>
              <a:buFont typeface="Arial"/>
              <a:buNone/>
            </a:pPr>
            <a:r>
              <a:rPr b="1" lang="en-US" sz="1800">
                <a:solidFill>
                  <a:srgbClr val="0B7A6F"/>
                </a:solidFill>
                <a:latin typeface="Arial"/>
                <a:ea typeface="Arial"/>
                <a:cs typeface="Arial"/>
                <a:sym typeface="Arial"/>
              </a:rPr>
              <a:t>Corrections par lot, en attente</a:t>
            </a:r>
            <a:endParaRPr/>
          </a:p>
          <a:p>
            <a:pPr indent="0" lvl="0" marL="0" marR="0" rtl="0" algn="l">
              <a:spcBef>
                <a:spcPts val="200"/>
              </a:spcBef>
              <a:spcAft>
                <a:spcPts val="0"/>
              </a:spcAft>
              <a:buClr>
                <a:srgbClr val="16212B"/>
              </a:buClr>
              <a:buSzPts val="1600"/>
              <a:buFont typeface="Arial"/>
              <a:buNone/>
            </a:pPr>
            <a:r>
              <a:rPr lang="en-US" sz="1600">
                <a:solidFill>
                  <a:srgbClr val="16212B"/>
                </a:solidFill>
                <a:latin typeface="Arial"/>
                <a:ea typeface="Arial"/>
                <a:cs typeface="Arial"/>
                <a:sym typeface="Arial"/>
              </a:rPr>
              <a:t>rien n’est écrit avant « Enregistrer »</a:t>
            </a:r>
            <a:endParaRPr/>
          </a:p>
        </p:txBody>
      </p:sp>
      <p:sp>
        <p:nvSpPr>
          <p:cNvPr id="715" name="Google Shape;715;p38"/>
          <p:cNvSpPr/>
          <p:nvPr/>
        </p:nvSpPr>
        <p:spPr>
          <a:xfrm>
            <a:off x="10515600" y="6355080"/>
            <a:ext cx="6720840" cy="1051560"/>
          </a:xfrm>
          <a:prstGeom prst="roundRect">
            <a:avLst>
              <a:gd fmla="val 4000" name="adj"/>
            </a:avLst>
          </a:prstGeom>
          <a:solidFill>
            <a:srgbClr val="F5F7FA"/>
          </a:solidFill>
          <a:ln>
            <a:noFill/>
          </a:ln>
        </p:spPr>
        <p:txBody>
          <a:bodyPr anchorCtr="0" anchor="ctr" bIns="91425" lIns="182875" spcFirstLastPara="1" rIns="182875" wrap="square" tIns="91425">
            <a:noAutofit/>
          </a:bodyPr>
          <a:lstStyle/>
          <a:p>
            <a:pPr indent="0" lvl="0" marL="0" marR="0" rtl="0" algn="l">
              <a:spcBef>
                <a:spcPts val="0"/>
              </a:spcBef>
              <a:spcAft>
                <a:spcPts val="0"/>
              </a:spcAft>
              <a:buClr>
                <a:srgbClr val="0B7A6F"/>
              </a:buClr>
              <a:buSzPts val="1800"/>
              <a:buFont typeface="Arial"/>
              <a:buNone/>
            </a:pPr>
            <a:r>
              <a:rPr b="1" lang="en-US" sz="1800">
                <a:solidFill>
                  <a:srgbClr val="0B7A6F"/>
                </a:solidFill>
                <a:latin typeface="Arial"/>
                <a:ea typeface="Arial"/>
                <a:cs typeface="Arial"/>
                <a:sym typeface="Arial"/>
              </a:rPr>
              <a:t>Versionnement à l’enregistrement</a:t>
            </a:r>
            <a:endParaRPr/>
          </a:p>
          <a:p>
            <a:pPr indent="0" lvl="0" marL="0" marR="0" rtl="0" algn="l">
              <a:spcBef>
                <a:spcPts val="200"/>
              </a:spcBef>
              <a:spcAft>
                <a:spcPts val="0"/>
              </a:spcAft>
              <a:buClr>
                <a:srgbClr val="16212B"/>
              </a:buClr>
              <a:buSzPts val="1600"/>
              <a:buFont typeface="Arial"/>
              <a:buNone/>
            </a:pPr>
            <a:r>
              <a:rPr lang="en-US" sz="1600">
                <a:solidFill>
                  <a:srgbClr val="16212B"/>
                </a:solidFill>
                <a:latin typeface="Arial"/>
                <a:ea typeface="Arial"/>
                <a:cs typeface="Arial"/>
                <a:sym typeface="Arial"/>
              </a:rPr>
              <a:t>dvc add + push, commit « anass via Fraud Pipeline Bot »</a:t>
            </a:r>
            <a:endParaRPr/>
          </a:p>
        </p:txBody>
      </p:sp>
      <p:sp>
        <p:nvSpPr>
          <p:cNvPr id="716" name="Google Shape;716;p38"/>
          <p:cNvSpPr/>
          <p:nvPr/>
        </p:nvSpPr>
        <p:spPr>
          <a:xfrm>
            <a:off x="10515600" y="7589520"/>
            <a:ext cx="6720840" cy="1463040"/>
          </a:xfrm>
          <a:prstGeom prst="roundRect">
            <a:avLst>
              <a:gd fmla="val 4000" name="adj"/>
            </a:avLst>
          </a:prstGeom>
          <a:solidFill>
            <a:srgbClr val="FBEAEA"/>
          </a:solidFill>
          <a:ln>
            <a:noFill/>
          </a:ln>
        </p:spPr>
        <p:txBody>
          <a:bodyPr anchorCtr="0" anchor="ctr" bIns="114300" lIns="228600" spcFirstLastPara="1" rIns="228600" wrap="square" tIns="114300">
            <a:noAutofit/>
          </a:bodyPr>
          <a:lstStyle/>
          <a:p>
            <a:pPr indent="0" lvl="0" marL="0" marR="0" rtl="0" algn="l">
              <a:lnSpc>
                <a:spcPct val="115000"/>
              </a:lnSpc>
              <a:spcBef>
                <a:spcPts val="0"/>
              </a:spcBef>
              <a:spcAft>
                <a:spcPts val="0"/>
              </a:spcAft>
              <a:buClr>
                <a:srgbClr val="B03A2E"/>
              </a:buClr>
              <a:buSzPts val="1600"/>
              <a:buFont typeface="Arial"/>
              <a:buNone/>
            </a:pPr>
            <a:r>
              <a:rPr b="1" lang="en-US" sz="1600">
                <a:solidFill>
                  <a:srgbClr val="B03A2E"/>
                </a:solidFill>
                <a:latin typeface="Arial"/>
                <a:ea typeface="Arial"/>
                <a:cs typeface="Arial"/>
                <a:sym typeface="Arial"/>
              </a:rPr>
              <a:t>Limite : </a:t>
            </a:r>
            <a:r>
              <a:rPr lang="en-US" sz="1600">
                <a:solidFill>
                  <a:srgbClr val="16212B"/>
                </a:solidFill>
                <a:latin typeface="Arial"/>
                <a:ea typeface="Arial"/>
                <a:cs typeface="Arial"/>
                <a:sym typeface="Arial"/>
              </a:rPr>
              <a:t>comptes en variable d’environnement, un seul niveau de droits ; compte de démonstration à surcharger sur Komodo.</a:t>
            </a:r>
            <a:endParaRPr/>
          </a:p>
        </p:txBody>
      </p:sp>
      <p:pic>
        <p:nvPicPr>
          <p:cNvPr descr="f43_en_attente.png" id="717" name="Google Shape;717;p38"/>
          <p:cNvPicPr preferRelativeResize="0"/>
          <p:nvPr/>
        </p:nvPicPr>
        <p:blipFill rotWithShape="1">
          <a:blip r:embed="rId3">
            <a:alphaModFix/>
          </a:blip>
          <a:srcRect b="0" l="0" r="0" t="0"/>
          <a:stretch/>
        </p:blipFill>
        <p:spPr>
          <a:xfrm>
            <a:off x="1234440" y="2578608"/>
            <a:ext cx="8778240" cy="54864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2" name="Shape 722"/>
        <p:cNvGrpSpPr/>
        <p:nvPr/>
      </p:nvGrpSpPr>
      <p:grpSpPr>
        <a:xfrm>
          <a:off x="0" y="0"/>
          <a:ext cx="0" cy="0"/>
          <a:chOff x="0" y="0"/>
          <a:chExt cx="0" cy="0"/>
        </a:xfrm>
      </p:grpSpPr>
      <p:sp>
        <p:nvSpPr>
          <p:cNvPr id="723" name="Google Shape;723;p39"/>
          <p:cNvSpPr txBox="1"/>
          <p:nvPr/>
        </p:nvSpPr>
        <p:spPr>
          <a:xfrm>
            <a:off x="1047720" y="914400"/>
            <a:ext cx="17811598" cy="371246"/>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950"/>
              <a:buFont typeface="Courier New"/>
              <a:buNone/>
            </a:pPr>
            <a:r>
              <a:rPr b="1" lang="en-US" sz="1950">
                <a:solidFill>
                  <a:srgbClr val="0B7A6F"/>
                </a:solidFill>
                <a:latin typeface="Courier New"/>
                <a:ea typeface="Courier New"/>
                <a:cs typeface="Courier New"/>
                <a:sym typeface="Courier New"/>
              </a:rPr>
              <a:t>CHAPITRE 3 — §5 · PIPELINE, DÉRIVE, APPROBATION</a:t>
            </a:r>
            <a:endParaRPr/>
          </a:p>
        </p:txBody>
      </p:sp>
      <p:sp>
        <p:nvSpPr>
          <p:cNvPr id="724" name="Google Shape;724;p39"/>
          <p:cNvSpPr txBox="1"/>
          <p:nvPr/>
        </p:nvSpPr>
        <p:spPr>
          <a:xfrm>
            <a:off x="1047720" y="1419149"/>
            <a:ext cx="17811598" cy="55229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3450"/>
              <a:buFont typeface="Arial"/>
              <a:buNone/>
            </a:pPr>
            <a:r>
              <a:rPr b="1" lang="en-US" sz="3450">
                <a:solidFill>
                  <a:srgbClr val="16212B"/>
                </a:solidFill>
                <a:latin typeface="Arial"/>
                <a:ea typeface="Arial"/>
                <a:cs typeface="Arial"/>
                <a:sym typeface="Arial"/>
              </a:rPr>
              <a:t>Du job suivi par étape à la décision humaine</a:t>
            </a:r>
            <a:endParaRPr/>
          </a:p>
        </p:txBody>
      </p:sp>
      <p:sp>
        <p:nvSpPr>
          <p:cNvPr id="725" name="Google Shape;725;p39"/>
          <p:cNvSpPr txBox="1"/>
          <p:nvPr/>
        </p:nvSpPr>
        <p:spPr>
          <a:xfrm>
            <a:off x="16367760" y="9646920"/>
            <a:ext cx="914400" cy="333756"/>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B6B80"/>
              </a:buClr>
              <a:buSzPts val="1800"/>
              <a:buFont typeface="Courier New"/>
              <a:buNone/>
            </a:pPr>
            <a:r>
              <a:rPr lang="en-US" sz="1800">
                <a:solidFill>
                  <a:srgbClr val="5B6B80"/>
                </a:solidFill>
                <a:latin typeface="Courier New"/>
                <a:ea typeface="Courier New"/>
                <a:cs typeface="Courier New"/>
                <a:sym typeface="Courier New"/>
              </a:rPr>
              <a:t>38/41</a:t>
            </a:r>
            <a:endParaRPr/>
          </a:p>
        </p:txBody>
      </p:sp>
      <p:sp>
        <p:nvSpPr>
          <p:cNvPr id="726" name="Google Shape;726;p39"/>
          <p:cNvSpPr/>
          <p:nvPr/>
        </p:nvSpPr>
        <p:spPr>
          <a:xfrm>
            <a:off x="1051560" y="2286000"/>
            <a:ext cx="8001000" cy="5349240"/>
          </a:xfrm>
          <a:prstGeom prst="roundRect">
            <a:avLst>
              <a:gd fmla="val 4000"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7" name="Google Shape;727;p39"/>
          <p:cNvSpPr txBox="1"/>
          <p:nvPr/>
        </p:nvSpPr>
        <p:spPr>
          <a:xfrm>
            <a:off x="1051560" y="7699248"/>
            <a:ext cx="8001000" cy="457200"/>
          </a:xfrm>
          <a:prstGeom prst="rect">
            <a:avLst/>
          </a:prstGeom>
          <a:noFill/>
          <a:ln>
            <a:noFill/>
          </a:ln>
        </p:spPr>
        <p:txBody>
          <a:bodyPr anchorCtr="0" anchor="t" bIns="25400" lIns="25400" spcFirstLastPara="1" rIns="25400" wrap="square" tIns="25400">
            <a:normAutofit/>
          </a:bodyPr>
          <a:lstStyle/>
          <a:p>
            <a:pPr indent="0" lvl="0" marL="0" marR="0" rtl="0" algn="ctr">
              <a:lnSpc>
                <a:spcPct val="115000"/>
              </a:lnSpc>
              <a:spcBef>
                <a:spcPts val="0"/>
              </a:spcBef>
              <a:spcAft>
                <a:spcPts val="0"/>
              </a:spcAft>
              <a:buClr>
                <a:srgbClr val="5B6B80"/>
              </a:buClr>
              <a:buSzPts val="1500"/>
              <a:buFont typeface="Arial"/>
              <a:buNone/>
            </a:pPr>
            <a:r>
              <a:rPr lang="en-US" sz="1500">
                <a:solidFill>
                  <a:srgbClr val="5B6B80"/>
                </a:solidFill>
                <a:latin typeface="Arial"/>
                <a:ea typeface="Arial"/>
                <a:cs typeface="Arial"/>
                <a:sym typeface="Arial"/>
              </a:rPr>
              <a:t>Figures 45–46 — job suivi par étape, puis candidat v3 (Staging) contre Production v2</a:t>
            </a:r>
            <a:endParaRPr/>
          </a:p>
        </p:txBody>
      </p:sp>
      <p:sp>
        <p:nvSpPr>
          <p:cNvPr id="728" name="Google Shape;728;p39"/>
          <p:cNvSpPr/>
          <p:nvPr/>
        </p:nvSpPr>
        <p:spPr>
          <a:xfrm>
            <a:off x="1051560" y="8275320"/>
            <a:ext cx="5212080" cy="1234440"/>
          </a:xfrm>
          <a:prstGeom prst="roundRect">
            <a:avLst>
              <a:gd fmla="val 4000" name="adj"/>
            </a:avLst>
          </a:prstGeom>
          <a:solidFill>
            <a:srgbClr val="F5F7FA"/>
          </a:solidFill>
          <a:ln>
            <a:noFill/>
          </a:ln>
        </p:spPr>
        <p:txBody>
          <a:bodyPr anchorCtr="0" anchor="ctr" bIns="91425" lIns="182875" spcFirstLastPara="1" rIns="182875" wrap="square" tIns="91425">
            <a:noAutofit/>
          </a:bodyPr>
          <a:lstStyle/>
          <a:p>
            <a:pPr indent="0" lvl="0" marL="0" marR="0" rtl="0" algn="l">
              <a:spcBef>
                <a:spcPts val="0"/>
              </a:spcBef>
              <a:spcAft>
                <a:spcPts val="0"/>
              </a:spcAft>
              <a:buClr>
                <a:srgbClr val="0B7A6F"/>
              </a:buClr>
              <a:buSzPts val="1800"/>
              <a:buFont typeface="Arial"/>
              <a:buNone/>
            </a:pPr>
            <a:r>
              <a:rPr b="1" lang="en-US" sz="1800">
                <a:solidFill>
                  <a:srgbClr val="0B7A6F"/>
                </a:solidFill>
                <a:latin typeface="Arial"/>
                <a:ea typeface="Arial"/>
                <a:cs typeface="Arial"/>
                <a:sym typeface="Arial"/>
              </a:rPr>
              <a:t>Suivi par étape</a:t>
            </a:r>
            <a:endParaRPr/>
          </a:p>
          <a:p>
            <a:pPr indent="0" lvl="0" marL="0" marR="0" rtl="0" algn="l">
              <a:spcBef>
                <a:spcPts val="200"/>
              </a:spcBef>
              <a:spcAft>
                <a:spcPts val="0"/>
              </a:spcAft>
              <a:buClr>
                <a:srgbClr val="16212B"/>
              </a:buClr>
              <a:buSzPts val="1600"/>
              <a:buFont typeface="Arial"/>
              <a:buNone/>
            </a:pPr>
            <a:r>
              <a:rPr lang="en-US" sz="1600">
                <a:solidFill>
                  <a:srgbClr val="16212B"/>
                </a:solidFill>
                <a:latin typeface="Arial"/>
                <a:ea typeface="Arial"/>
                <a:cs typeface="Arial"/>
                <a:sym typeface="Arial"/>
              </a:rPr>
              <a:t>STEP_START / STEP_SUCCESS lus dans le journal Dagster</a:t>
            </a:r>
            <a:endParaRPr/>
          </a:p>
        </p:txBody>
      </p:sp>
      <p:sp>
        <p:nvSpPr>
          <p:cNvPr id="729" name="Google Shape;729;p39"/>
          <p:cNvSpPr/>
          <p:nvPr/>
        </p:nvSpPr>
        <p:spPr>
          <a:xfrm>
            <a:off x="6537960" y="8275320"/>
            <a:ext cx="5212080" cy="1234440"/>
          </a:xfrm>
          <a:prstGeom prst="roundRect">
            <a:avLst>
              <a:gd fmla="val 4000" name="adj"/>
            </a:avLst>
          </a:prstGeom>
          <a:solidFill>
            <a:srgbClr val="F5F7FA"/>
          </a:solidFill>
          <a:ln>
            <a:noFill/>
          </a:ln>
        </p:spPr>
        <p:txBody>
          <a:bodyPr anchorCtr="0" anchor="ctr" bIns="91425" lIns="182875" spcFirstLastPara="1" rIns="182875" wrap="square" tIns="91425">
            <a:noAutofit/>
          </a:bodyPr>
          <a:lstStyle/>
          <a:p>
            <a:pPr indent="0" lvl="0" marL="0" marR="0" rtl="0" algn="l">
              <a:spcBef>
                <a:spcPts val="0"/>
              </a:spcBef>
              <a:spcAft>
                <a:spcPts val="0"/>
              </a:spcAft>
              <a:buClr>
                <a:srgbClr val="0B7A6F"/>
              </a:buClr>
              <a:buSzPts val="1800"/>
              <a:buFont typeface="Arial"/>
              <a:buNone/>
            </a:pPr>
            <a:r>
              <a:rPr b="1" lang="en-US" sz="1800">
                <a:solidFill>
                  <a:srgbClr val="0B7A6F"/>
                </a:solidFill>
                <a:latin typeface="Arial"/>
                <a:ea typeface="Arial"/>
                <a:cs typeface="Arial"/>
                <a:sym typeface="Arial"/>
              </a:rPr>
              <a:t>Approbation humaine</a:t>
            </a:r>
            <a:endParaRPr/>
          </a:p>
          <a:p>
            <a:pPr indent="0" lvl="0" marL="0" marR="0" rtl="0" algn="l">
              <a:spcBef>
                <a:spcPts val="200"/>
              </a:spcBef>
              <a:spcAft>
                <a:spcPts val="0"/>
              </a:spcAft>
              <a:buClr>
                <a:srgbClr val="16212B"/>
              </a:buClr>
              <a:buSzPts val="1600"/>
              <a:buFont typeface="Arial"/>
              <a:buNone/>
            </a:pPr>
            <a:r>
              <a:rPr lang="en-US" sz="1600">
                <a:solidFill>
                  <a:srgbClr val="16212B"/>
                </a:solidFill>
                <a:latin typeface="Arial"/>
                <a:ea typeface="Arial"/>
                <a:cs typeface="Arial"/>
                <a:sym typeface="Arial"/>
              </a:rPr>
              <a:t>« Enregistrer &amp; déployer… » ou « Rejeter »</a:t>
            </a:r>
            <a:endParaRPr/>
          </a:p>
        </p:txBody>
      </p:sp>
      <p:sp>
        <p:nvSpPr>
          <p:cNvPr id="730" name="Google Shape;730;p39"/>
          <p:cNvSpPr/>
          <p:nvPr/>
        </p:nvSpPr>
        <p:spPr>
          <a:xfrm>
            <a:off x="12024360" y="8275320"/>
            <a:ext cx="5212080" cy="1234440"/>
          </a:xfrm>
          <a:prstGeom prst="roundRect">
            <a:avLst>
              <a:gd fmla="val 4000" name="adj"/>
            </a:avLst>
          </a:prstGeom>
          <a:solidFill>
            <a:srgbClr val="F5F7FA"/>
          </a:solidFill>
          <a:ln>
            <a:noFill/>
          </a:ln>
        </p:spPr>
        <p:txBody>
          <a:bodyPr anchorCtr="0" anchor="ctr" bIns="91425" lIns="182875" spcFirstLastPara="1" rIns="182875" wrap="square" tIns="91425">
            <a:noAutofit/>
          </a:bodyPr>
          <a:lstStyle/>
          <a:p>
            <a:pPr indent="0" lvl="0" marL="0" marR="0" rtl="0" algn="l">
              <a:spcBef>
                <a:spcPts val="0"/>
              </a:spcBef>
              <a:spcAft>
                <a:spcPts val="0"/>
              </a:spcAft>
              <a:buClr>
                <a:srgbClr val="0B7A6F"/>
              </a:buClr>
              <a:buSzPts val="1800"/>
              <a:buFont typeface="Arial"/>
              <a:buNone/>
            </a:pPr>
            <a:r>
              <a:rPr b="1" lang="en-US" sz="1800">
                <a:solidFill>
                  <a:srgbClr val="0B7A6F"/>
                </a:solidFill>
                <a:latin typeface="Arial"/>
                <a:ea typeface="Arial"/>
                <a:cs typeface="Arial"/>
                <a:sym typeface="Arial"/>
              </a:rPr>
              <a:t>Ici : candidat rejeté</a:t>
            </a:r>
            <a:endParaRPr/>
          </a:p>
          <a:p>
            <a:pPr indent="0" lvl="0" marL="0" marR="0" rtl="0" algn="l">
              <a:spcBef>
                <a:spcPts val="200"/>
              </a:spcBef>
              <a:spcAft>
                <a:spcPts val="0"/>
              </a:spcAft>
              <a:buClr>
                <a:srgbClr val="16212B"/>
              </a:buClr>
              <a:buSzPts val="1600"/>
              <a:buFont typeface="Arial"/>
              <a:buNone/>
            </a:pPr>
            <a:r>
              <a:rPr lang="en-US" sz="1600">
                <a:solidFill>
                  <a:srgbClr val="16212B"/>
                </a:solidFill>
                <a:latin typeface="Arial"/>
                <a:ea typeface="Arial"/>
                <a:cs typeface="Arial"/>
                <a:sym typeface="Arial"/>
              </a:rPr>
              <a:t>PR-AUC 0,6771 &lt; 0,8444 : la Production reste v2</a:t>
            </a:r>
            <a:endParaRPr/>
          </a:p>
        </p:txBody>
      </p:sp>
      <p:sp>
        <p:nvSpPr>
          <p:cNvPr id="731" name="Google Shape;731;p39"/>
          <p:cNvSpPr/>
          <p:nvPr/>
        </p:nvSpPr>
        <p:spPr>
          <a:xfrm>
            <a:off x="9235440" y="2286000"/>
            <a:ext cx="8001000" cy="5349240"/>
          </a:xfrm>
          <a:prstGeom prst="roundRect">
            <a:avLst>
              <a:gd fmla="val 4000"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2" name="Google Shape;732;p39"/>
          <p:cNvSpPr txBox="1"/>
          <p:nvPr/>
        </p:nvSpPr>
        <p:spPr>
          <a:xfrm>
            <a:off x="9235440" y="7699248"/>
            <a:ext cx="8001000" cy="457200"/>
          </a:xfrm>
          <a:prstGeom prst="rect">
            <a:avLst/>
          </a:prstGeom>
          <a:noFill/>
          <a:ln>
            <a:noFill/>
          </a:ln>
        </p:spPr>
        <p:txBody>
          <a:bodyPr anchorCtr="0" anchor="t" bIns="25400" lIns="25400" spcFirstLastPara="1" rIns="25400" wrap="square" tIns="25400">
            <a:normAutofit/>
          </a:bodyPr>
          <a:lstStyle/>
          <a:p>
            <a:pPr indent="0" lvl="0" marL="0" marR="0" rtl="0" algn="ctr">
              <a:lnSpc>
                <a:spcPct val="115000"/>
              </a:lnSpc>
              <a:spcBef>
                <a:spcPts val="0"/>
              </a:spcBef>
              <a:spcAft>
                <a:spcPts val="0"/>
              </a:spcAft>
              <a:buClr>
                <a:srgbClr val="5B6B80"/>
              </a:buClr>
              <a:buSzPts val="1500"/>
              <a:buFont typeface="Arial"/>
              <a:buNone/>
            </a:pPr>
            <a:r>
              <a:rPr lang="en-US" sz="1500">
                <a:solidFill>
                  <a:srgbClr val="5B6B80"/>
                </a:solidFill>
                <a:latin typeface="Arial"/>
                <a:ea typeface="Arial"/>
                <a:cs typeface="Arial"/>
                <a:sym typeface="Arial"/>
              </a:rPr>
              <a:t>Figure 47 — dérive après simulation : PSI 0,489 ≥ seuil 0,25</a:t>
            </a:r>
            <a:endParaRPr/>
          </a:p>
        </p:txBody>
      </p:sp>
      <p:pic>
        <p:nvPicPr>
          <p:cNvPr descr="f45_job_en_cours.png" id="733" name="Google Shape;733;p39"/>
          <p:cNvPicPr preferRelativeResize="0"/>
          <p:nvPr/>
        </p:nvPicPr>
        <p:blipFill rotWithShape="1">
          <a:blip r:embed="rId3">
            <a:alphaModFix/>
          </a:blip>
          <a:srcRect b="0" l="0" r="0" t="0"/>
          <a:stretch/>
        </p:blipFill>
        <p:spPr>
          <a:xfrm>
            <a:off x="2034540" y="2456037"/>
            <a:ext cx="6035040" cy="2068188"/>
          </a:xfrm>
          <a:prstGeom prst="rect">
            <a:avLst/>
          </a:prstGeom>
          <a:noFill/>
          <a:ln>
            <a:noFill/>
          </a:ln>
        </p:spPr>
      </p:pic>
      <p:pic>
        <p:nvPicPr>
          <p:cNvPr descr="f46_termine_candidat.png" id="734" name="Google Shape;734;p39"/>
          <p:cNvPicPr preferRelativeResize="0"/>
          <p:nvPr/>
        </p:nvPicPr>
        <p:blipFill rotWithShape="1">
          <a:blip r:embed="rId4">
            <a:alphaModFix/>
          </a:blip>
          <a:srcRect b="0" l="0" r="0" t="0"/>
          <a:stretch/>
        </p:blipFill>
        <p:spPr>
          <a:xfrm>
            <a:off x="2034540" y="4752825"/>
            <a:ext cx="6035040" cy="2712378"/>
          </a:xfrm>
          <a:prstGeom prst="rect">
            <a:avLst/>
          </a:prstGeom>
          <a:noFill/>
          <a:ln>
            <a:noFill/>
          </a:ln>
        </p:spPr>
      </p:pic>
      <p:pic>
        <p:nvPicPr>
          <p:cNvPr descr="f47_derive_alerte.png" id="735" name="Google Shape;735;p39"/>
          <p:cNvPicPr preferRelativeResize="0"/>
          <p:nvPr/>
        </p:nvPicPr>
        <p:blipFill rotWithShape="1">
          <a:blip r:embed="rId5">
            <a:alphaModFix/>
          </a:blip>
          <a:srcRect b="0" l="0" r="0" t="0"/>
          <a:stretch/>
        </p:blipFill>
        <p:spPr>
          <a:xfrm>
            <a:off x="9761220" y="2783128"/>
            <a:ext cx="6949440" cy="4354982"/>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0" name="Shape 740"/>
        <p:cNvGrpSpPr/>
        <p:nvPr/>
      </p:nvGrpSpPr>
      <p:grpSpPr>
        <a:xfrm>
          <a:off x="0" y="0"/>
          <a:ext cx="0" cy="0"/>
          <a:chOff x="0" y="0"/>
          <a:chExt cx="0" cy="0"/>
        </a:xfrm>
      </p:grpSpPr>
      <p:sp>
        <p:nvSpPr>
          <p:cNvPr id="741" name="Google Shape;741;p40"/>
          <p:cNvSpPr txBox="1"/>
          <p:nvPr/>
        </p:nvSpPr>
        <p:spPr>
          <a:xfrm>
            <a:off x="1047720" y="914400"/>
            <a:ext cx="17811598" cy="371246"/>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950"/>
              <a:buFont typeface="Courier New"/>
              <a:buNone/>
            </a:pPr>
            <a:r>
              <a:rPr b="1" lang="en-US" sz="1950">
                <a:solidFill>
                  <a:srgbClr val="0B7A6F"/>
                </a:solidFill>
                <a:latin typeface="Courier New"/>
                <a:ea typeface="Courier New"/>
                <a:cs typeface="Courier New"/>
                <a:sym typeface="Courier New"/>
              </a:rPr>
              <a:t>CHAPITRE 3 — §2 · TABLEAU 2</a:t>
            </a:r>
            <a:endParaRPr/>
          </a:p>
        </p:txBody>
      </p:sp>
      <p:sp>
        <p:nvSpPr>
          <p:cNvPr id="742" name="Google Shape;742;p40"/>
          <p:cNvSpPr txBox="1"/>
          <p:nvPr/>
        </p:nvSpPr>
        <p:spPr>
          <a:xfrm>
            <a:off x="1047720" y="1419149"/>
            <a:ext cx="17811598" cy="55229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3450"/>
              <a:buFont typeface="Arial"/>
              <a:buNone/>
            </a:pPr>
            <a:r>
              <a:rPr b="1" lang="en-US" sz="3450">
                <a:solidFill>
                  <a:srgbClr val="16212B"/>
                </a:solidFill>
                <a:latin typeface="Arial"/>
                <a:ea typeface="Arial"/>
                <a:cs typeface="Arial"/>
                <a:sym typeface="Arial"/>
              </a:rPr>
              <a:t>Composants technologiques</a:t>
            </a:r>
            <a:endParaRPr/>
          </a:p>
        </p:txBody>
      </p:sp>
      <p:sp>
        <p:nvSpPr>
          <p:cNvPr id="743" name="Google Shape;743;p40"/>
          <p:cNvSpPr txBox="1"/>
          <p:nvPr/>
        </p:nvSpPr>
        <p:spPr>
          <a:xfrm>
            <a:off x="16367760" y="9646920"/>
            <a:ext cx="914400" cy="333756"/>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B6B80"/>
              </a:buClr>
              <a:buSzPts val="1800"/>
              <a:buFont typeface="Courier New"/>
              <a:buNone/>
            </a:pPr>
            <a:r>
              <a:rPr lang="en-US" sz="1800">
                <a:solidFill>
                  <a:srgbClr val="5B6B80"/>
                </a:solidFill>
                <a:latin typeface="Courier New"/>
                <a:ea typeface="Courier New"/>
                <a:cs typeface="Courier New"/>
                <a:sym typeface="Courier New"/>
              </a:rPr>
              <a:t>39/41</a:t>
            </a:r>
            <a:endParaRPr/>
          </a:p>
        </p:txBody>
      </p:sp>
      <p:sp>
        <p:nvSpPr>
          <p:cNvPr id="744" name="Google Shape;744;p40"/>
          <p:cNvSpPr txBox="1"/>
          <p:nvPr/>
        </p:nvSpPr>
        <p:spPr>
          <a:xfrm>
            <a:off x="1295339" y="2103120"/>
            <a:ext cx="3657600" cy="30175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800"/>
              <a:buFont typeface="Courier New"/>
              <a:buNone/>
            </a:pPr>
            <a:r>
              <a:rPr b="1" lang="en-US" sz="1800">
                <a:solidFill>
                  <a:srgbClr val="0B7A6F"/>
                </a:solidFill>
                <a:latin typeface="Courier New"/>
                <a:ea typeface="Courier New"/>
                <a:cs typeface="Courier New"/>
                <a:sym typeface="Courier New"/>
              </a:rPr>
              <a:t>COMPOSANT</a:t>
            </a:r>
            <a:endParaRPr/>
          </a:p>
        </p:txBody>
      </p:sp>
      <p:sp>
        <p:nvSpPr>
          <p:cNvPr id="745" name="Google Shape;745;p40"/>
          <p:cNvSpPr txBox="1"/>
          <p:nvPr/>
        </p:nvSpPr>
        <p:spPr>
          <a:xfrm>
            <a:off x="4663440" y="2103120"/>
            <a:ext cx="3657600" cy="30175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800"/>
              <a:buFont typeface="Courier New"/>
              <a:buNone/>
            </a:pPr>
            <a:r>
              <a:rPr b="1" lang="en-US" sz="1800">
                <a:solidFill>
                  <a:srgbClr val="0B7A6F"/>
                </a:solidFill>
                <a:latin typeface="Courier New"/>
                <a:ea typeface="Courier New"/>
                <a:cs typeface="Courier New"/>
                <a:sym typeface="Courier New"/>
              </a:rPr>
              <a:t>RÔLE</a:t>
            </a:r>
            <a:endParaRPr/>
          </a:p>
        </p:txBody>
      </p:sp>
      <p:sp>
        <p:nvSpPr>
          <p:cNvPr id="746" name="Google Shape;746;p40"/>
          <p:cNvSpPr txBox="1"/>
          <p:nvPr/>
        </p:nvSpPr>
        <p:spPr>
          <a:xfrm>
            <a:off x="14218920" y="2103120"/>
            <a:ext cx="3657600" cy="301752"/>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800"/>
              <a:buFont typeface="Courier New"/>
              <a:buNone/>
            </a:pPr>
            <a:r>
              <a:rPr b="1" lang="en-US" sz="1800">
                <a:solidFill>
                  <a:srgbClr val="0B7A6F"/>
                </a:solidFill>
                <a:latin typeface="Courier New"/>
                <a:ea typeface="Courier New"/>
                <a:cs typeface="Courier New"/>
                <a:sym typeface="Courier New"/>
              </a:rPr>
              <a:t>TECHNOLOGIE</a:t>
            </a:r>
            <a:endParaRPr/>
          </a:p>
        </p:txBody>
      </p:sp>
      <p:sp>
        <p:nvSpPr>
          <p:cNvPr id="747" name="Google Shape;747;p40"/>
          <p:cNvSpPr/>
          <p:nvPr/>
        </p:nvSpPr>
        <p:spPr>
          <a:xfrm>
            <a:off x="1047902" y="2487168"/>
            <a:ext cx="16184880" cy="457200"/>
          </a:xfrm>
          <a:prstGeom prst="rect">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8" name="Google Shape;748;p40"/>
          <p:cNvSpPr txBox="1"/>
          <p:nvPr/>
        </p:nvSpPr>
        <p:spPr>
          <a:xfrm>
            <a:off x="1295339" y="2569464"/>
            <a:ext cx="329184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600"/>
              <a:buFont typeface="Arial"/>
              <a:buNone/>
            </a:pPr>
            <a:r>
              <a:rPr lang="en-US" sz="1600">
                <a:solidFill>
                  <a:srgbClr val="16212B"/>
                </a:solidFill>
                <a:latin typeface="Arial"/>
                <a:ea typeface="Arial"/>
                <a:cs typeface="Arial"/>
                <a:sym typeface="Arial"/>
              </a:rPr>
              <a:t>Ingestion</a:t>
            </a:r>
            <a:endParaRPr/>
          </a:p>
        </p:txBody>
      </p:sp>
      <p:sp>
        <p:nvSpPr>
          <p:cNvPr id="749" name="Google Shape;749;p40"/>
          <p:cNvSpPr txBox="1"/>
          <p:nvPr/>
        </p:nvSpPr>
        <p:spPr>
          <a:xfrm>
            <a:off x="4663440" y="2569464"/>
            <a:ext cx="941832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600"/>
              <a:buFont typeface="Arial"/>
              <a:buNone/>
            </a:pPr>
            <a:r>
              <a:rPr lang="en-US" sz="1600">
                <a:solidFill>
                  <a:srgbClr val="16212B"/>
                </a:solidFill>
                <a:latin typeface="Arial"/>
                <a:ea typeface="Arial"/>
                <a:cs typeface="Arial"/>
                <a:sym typeface="Arial"/>
              </a:rPr>
              <a:t>Automatiser la collecte des transactions vers l’entrepôt</a:t>
            </a:r>
            <a:endParaRPr/>
          </a:p>
        </p:txBody>
      </p:sp>
      <p:sp>
        <p:nvSpPr>
          <p:cNvPr id="750" name="Google Shape;750;p40"/>
          <p:cNvSpPr txBox="1"/>
          <p:nvPr/>
        </p:nvSpPr>
        <p:spPr>
          <a:xfrm>
            <a:off x="14218920" y="2569464"/>
            <a:ext cx="292608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600"/>
              <a:buFont typeface="Arial"/>
              <a:buNone/>
            </a:pPr>
            <a:r>
              <a:rPr lang="en-US" sz="1600">
                <a:solidFill>
                  <a:srgbClr val="0B7A6F"/>
                </a:solidFill>
                <a:latin typeface="Arial"/>
                <a:ea typeface="Arial"/>
                <a:cs typeface="Arial"/>
                <a:sym typeface="Arial"/>
              </a:rPr>
              <a:t>dlt</a:t>
            </a:r>
            <a:endParaRPr/>
          </a:p>
        </p:txBody>
      </p:sp>
      <p:sp>
        <p:nvSpPr>
          <p:cNvPr id="751" name="Google Shape;751;p40"/>
          <p:cNvSpPr txBox="1"/>
          <p:nvPr/>
        </p:nvSpPr>
        <p:spPr>
          <a:xfrm>
            <a:off x="1295339" y="3026664"/>
            <a:ext cx="329184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600"/>
              <a:buFont typeface="Arial"/>
              <a:buNone/>
            </a:pPr>
            <a:r>
              <a:rPr lang="en-US" sz="1600">
                <a:solidFill>
                  <a:srgbClr val="16212B"/>
                </a:solidFill>
                <a:latin typeface="Arial"/>
                <a:ea typeface="Arial"/>
                <a:cs typeface="Arial"/>
                <a:sym typeface="Arial"/>
              </a:rPr>
              <a:t>Stockage</a:t>
            </a:r>
            <a:endParaRPr/>
          </a:p>
        </p:txBody>
      </p:sp>
      <p:sp>
        <p:nvSpPr>
          <p:cNvPr id="752" name="Google Shape;752;p40"/>
          <p:cNvSpPr txBox="1"/>
          <p:nvPr/>
        </p:nvSpPr>
        <p:spPr>
          <a:xfrm>
            <a:off x="4663440" y="3026664"/>
            <a:ext cx="941832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600"/>
              <a:buFont typeface="Arial"/>
              <a:buNone/>
            </a:pPr>
            <a:r>
              <a:rPr lang="en-US" sz="1600">
                <a:solidFill>
                  <a:srgbClr val="16212B"/>
                </a:solidFill>
                <a:latin typeface="Arial"/>
                <a:ea typeface="Arial"/>
                <a:cs typeface="Arial"/>
                <a:sym typeface="Arial"/>
              </a:rPr>
              <a:t>Stocker les données ingérées localement</a:t>
            </a:r>
            <a:endParaRPr/>
          </a:p>
        </p:txBody>
      </p:sp>
      <p:sp>
        <p:nvSpPr>
          <p:cNvPr id="753" name="Google Shape;753;p40"/>
          <p:cNvSpPr txBox="1"/>
          <p:nvPr/>
        </p:nvSpPr>
        <p:spPr>
          <a:xfrm>
            <a:off x="14218920" y="3026664"/>
            <a:ext cx="292608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600"/>
              <a:buFont typeface="Arial"/>
              <a:buNone/>
            </a:pPr>
            <a:r>
              <a:rPr lang="en-US" sz="1600">
                <a:solidFill>
                  <a:srgbClr val="0B7A6F"/>
                </a:solidFill>
                <a:latin typeface="Arial"/>
                <a:ea typeface="Arial"/>
                <a:cs typeface="Arial"/>
                <a:sym typeface="Arial"/>
              </a:rPr>
              <a:t>DuckDB</a:t>
            </a:r>
            <a:endParaRPr/>
          </a:p>
        </p:txBody>
      </p:sp>
      <p:sp>
        <p:nvSpPr>
          <p:cNvPr id="754" name="Google Shape;754;p40"/>
          <p:cNvSpPr/>
          <p:nvPr/>
        </p:nvSpPr>
        <p:spPr>
          <a:xfrm>
            <a:off x="1047902" y="3401568"/>
            <a:ext cx="16184880" cy="457200"/>
          </a:xfrm>
          <a:prstGeom prst="rect">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5" name="Google Shape;755;p40"/>
          <p:cNvSpPr txBox="1"/>
          <p:nvPr/>
        </p:nvSpPr>
        <p:spPr>
          <a:xfrm>
            <a:off x="1295339" y="3483864"/>
            <a:ext cx="329184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600"/>
              <a:buFont typeface="Arial"/>
              <a:buNone/>
            </a:pPr>
            <a:r>
              <a:rPr lang="en-US" sz="1600">
                <a:solidFill>
                  <a:srgbClr val="16212B"/>
                </a:solidFill>
                <a:latin typeface="Arial"/>
                <a:ea typeface="Arial"/>
                <a:cs typeface="Arial"/>
                <a:sym typeface="Arial"/>
              </a:rPr>
              <a:t>Transformation</a:t>
            </a:r>
            <a:endParaRPr/>
          </a:p>
        </p:txBody>
      </p:sp>
      <p:sp>
        <p:nvSpPr>
          <p:cNvPr id="756" name="Google Shape;756;p40"/>
          <p:cNvSpPr txBox="1"/>
          <p:nvPr/>
        </p:nvSpPr>
        <p:spPr>
          <a:xfrm>
            <a:off x="4663440" y="3483864"/>
            <a:ext cx="941832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600"/>
              <a:buFont typeface="Arial"/>
              <a:buNone/>
            </a:pPr>
            <a:r>
              <a:rPr lang="en-US" sz="1600">
                <a:solidFill>
                  <a:srgbClr val="16212B"/>
                </a:solidFill>
                <a:latin typeface="Arial"/>
                <a:ea typeface="Arial"/>
                <a:cs typeface="Arial"/>
                <a:sym typeface="Arial"/>
              </a:rPr>
              <a:t>Modéliser et transformer les données, exécuter les tests qualité</a:t>
            </a:r>
            <a:endParaRPr/>
          </a:p>
        </p:txBody>
      </p:sp>
      <p:sp>
        <p:nvSpPr>
          <p:cNvPr id="757" name="Google Shape;757;p40"/>
          <p:cNvSpPr txBox="1"/>
          <p:nvPr/>
        </p:nvSpPr>
        <p:spPr>
          <a:xfrm>
            <a:off x="14218920" y="3483864"/>
            <a:ext cx="292608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600"/>
              <a:buFont typeface="Arial"/>
              <a:buNone/>
            </a:pPr>
            <a:r>
              <a:rPr lang="en-US" sz="1600">
                <a:solidFill>
                  <a:srgbClr val="0B7A6F"/>
                </a:solidFill>
                <a:latin typeface="Arial"/>
                <a:ea typeface="Arial"/>
                <a:cs typeface="Arial"/>
                <a:sym typeface="Arial"/>
              </a:rPr>
              <a:t>dbt</a:t>
            </a:r>
            <a:endParaRPr/>
          </a:p>
        </p:txBody>
      </p:sp>
      <p:sp>
        <p:nvSpPr>
          <p:cNvPr id="758" name="Google Shape;758;p40"/>
          <p:cNvSpPr txBox="1"/>
          <p:nvPr/>
        </p:nvSpPr>
        <p:spPr>
          <a:xfrm>
            <a:off x="1295339" y="3941064"/>
            <a:ext cx="329184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600"/>
              <a:buFont typeface="Arial"/>
              <a:buNone/>
            </a:pPr>
            <a:r>
              <a:rPr lang="en-US" sz="1600">
                <a:solidFill>
                  <a:srgbClr val="16212B"/>
                </a:solidFill>
                <a:latin typeface="Arial"/>
                <a:ea typeface="Arial"/>
                <a:cs typeface="Arial"/>
                <a:sym typeface="Arial"/>
              </a:rPr>
              <a:t>Orchestration</a:t>
            </a:r>
            <a:endParaRPr/>
          </a:p>
        </p:txBody>
      </p:sp>
      <p:sp>
        <p:nvSpPr>
          <p:cNvPr id="759" name="Google Shape;759;p40"/>
          <p:cNvSpPr txBox="1"/>
          <p:nvPr/>
        </p:nvSpPr>
        <p:spPr>
          <a:xfrm>
            <a:off x="4663440" y="3941064"/>
            <a:ext cx="941832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600"/>
              <a:buFont typeface="Arial"/>
              <a:buNone/>
            </a:pPr>
            <a:r>
              <a:rPr lang="en-US" sz="1600">
                <a:solidFill>
                  <a:srgbClr val="16212B"/>
                </a:solidFill>
                <a:latin typeface="Arial"/>
                <a:ea typeface="Arial"/>
                <a:cs typeface="Arial"/>
                <a:sym typeface="Arial"/>
              </a:rPr>
              <a:t>Exécuter le pipeline de données et l’entraînement continu</a:t>
            </a:r>
            <a:endParaRPr/>
          </a:p>
        </p:txBody>
      </p:sp>
      <p:sp>
        <p:nvSpPr>
          <p:cNvPr id="760" name="Google Shape;760;p40"/>
          <p:cNvSpPr txBox="1"/>
          <p:nvPr/>
        </p:nvSpPr>
        <p:spPr>
          <a:xfrm>
            <a:off x="14218920" y="3941064"/>
            <a:ext cx="292608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600"/>
              <a:buFont typeface="Arial"/>
              <a:buNone/>
            </a:pPr>
            <a:r>
              <a:rPr lang="en-US" sz="1600">
                <a:solidFill>
                  <a:srgbClr val="0B7A6F"/>
                </a:solidFill>
                <a:latin typeface="Arial"/>
                <a:ea typeface="Arial"/>
                <a:cs typeface="Arial"/>
                <a:sym typeface="Arial"/>
              </a:rPr>
              <a:t>Dagster</a:t>
            </a:r>
            <a:endParaRPr/>
          </a:p>
        </p:txBody>
      </p:sp>
      <p:sp>
        <p:nvSpPr>
          <p:cNvPr id="761" name="Google Shape;761;p40"/>
          <p:cNvSpPr/>
          <p:nvPr/>
        </p:nvSpPr>
        <p:spPr>
          <a:xfrm>
            <a:off x="1047902" y="4315968"/>
            <a:ext cx="16184880" cy="457200"/>
          </a:xfrm>
          <a:prstGeom prst="rect">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2" name="Google Shape;762;p40"/>
          <p:cNvSpPr txBox="1"/>
          <p:nvPr/>
        </p:nvSpPr>
        <p:spPr>
          <a:xfrm>
            <a:off x="1295339" y="4398264"/>
            <a:ext cx="329184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600"/>
              <a:buFont typeface="Arial"/>
              <a:buNone/>
            </a:pPr>
            <a:r>
              <a:rPr lang="en-US" sz="1600">
                <a:solidFill>
                  <a:srgbClr val="16212B"/>
                </a:solidFill>
                <a:latin typeface="Arial"/>
                <a:ea typeface="Arial"/>
                <a:cs typeface="Arial"/>
                <a:sym typeface="Arial"/>
              </a:rPr>
              <a:t>Modélisation</a:t>
            </a:r>
            <a:endParaRPr/>
          </a:p>
        </p:txBody>
      </p:sp>
      <p:sp>
        <p:nvSpPr>
          <p:cNvPr id="763" name="Google Shape;763;p40"/>
          <p:cNvSpPr txBox="1"/>
          <p:nvPr/>
        </p:nvSpPr>
        <p:spPr>
          <a:xfrm>
            <a:off x="4663440" y="4398264"/>
            <a:ext cx="941832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600"/>
              <a:buFont typeface="Arial"/>
              <a:buNone/>
            </a:pPr>
            <a:r>
              <a:rPr lang="en-US" sz="1600">
                <a:solidFill>
                  <a:srgbClr val="16212B"/>
                </a:solidFill>
                <a:latin typeface="Arial"/>
                <a:ea typeface="Arial"/>
                <a:cs typeface="Arial"/>
                <a:sym typeface="Arial"/>
              </a:rPr>
              <a:t>Entraîner et évaluer les modèles de classification</a:t>
            </a:r>
            <a:endParaRPr/>
          </a:p>
        </p:txBody>
      </p:sp>
      <p:sp>
        <p:nvSpPr>
          <p:cNvPr id="764" name="Google Shape;764;p40"/>
          <p:cNvSpPr txBox="1"/>
          <p:nvPr/>
        </p:nvSpPr>
        <p:spPr>
          <a:xfrm>
            <a:off x="14218920" y="4398264"/>
            <a:ext cx="292608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600"/>
              <a:buFont typeface="Arial"/>
              <a:buNone/>
            </a:pPr>
            <a:r>
              <a:rPr lang="en-US" sz="1600">
                <a:solidFill>
                  <a:srgbClr val="0B7A6F"/>
                </a:solidFill>
                <a:latin typeface="Arial"/>
                <a:ea typeface="Arial"/>
                <a:cs typeface="Arial"/>
                <a:sym typeface="Arial"/>
              </a:rPr>
              <a:t>Scikit-Learn</a:t>
            </a:r>
            <a:endParaRPr/>
          </a:p>
        </p:txBody>
      </p:sp>
      <p:sp>
        <p:nvSpPr>
          <p:cNvPr id="765" name="Google Shape;765;p40"/>
          <p:cNvSpPr txBox="1"/>
          <p:nvPr/>
        </p:nvSpPr>
        <p:spPr>
          <a:xfrm>
            <a:off x="1295339" y="4855464"/>
            <a:ext cx="329184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600"/>
              <a:buFont typeface="Arial"/>
              <a:buNone/>
            </a:pPr>
            <a:r>
              <a:rPr lang="en-US" sz="1600">
                <a:solidFill>
                  <a:srgbClr val="16212B"/>
                </a:solidFill>
                <a:latin typeface="Arial"/>
                <a:ea typeface="Arial"/>
                <a:cs typeface="Arial"/>
                <a:sym typeface="Arial"/>
              </a:rPr>
              <a:t>Tracking &amp; Registry</a:t>
            </a:r>
            <a:endParaRPr/>
          </a:p>
        </p:txBody>
      </p:sp>
      <p:sp>
        <p:nvSpPr>
          <p:cNvPr id="766" name="Google Shape;766;p40"/>
          <p:cNvSpPr txBox="1"/>
          <p:nvPr/>
        </p:nvSpPr>
        <p:spPr>
          <a:xfrm>
            <a:off x="4663440" y="4855464"/>
            <a:ext cx="941832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600"/>
              <a:buFont typeface="Arial"/>
              <a:buNone/>
            </a:pPr>
            <a:r>
              <a:rPr lang="en-US" sz="1600">
                <a:solidFill>
                  <a:srgbClr val="16212B"/>
                </a:solidFill>
                <a:latin typeface="Arial"/>
                <a:ea typeface="Arial"/>
                <a:cs typeface="Arial"/>
                <a:sym typeface="Arial"/>
              </a:rPr>
              <a:t>Tracer les expériences, gérer le registre, contrôler la promotion</a:t>
            </a:r>
            <a:endParaRPr/>
          </a:p>
        </p:txBody>
      </p:sp>
      <p:sp>
        <p:nvSpPr>
          <p:cNvPr id="767" name="Google Shape;767;p40"/>
          <p:cNvSpPr txBox="1"/>
          <p:nvPr/>
        </p:nvSpPr>
        <p:spPr>
          <a:xfrm>
            <a:off x="14218920" y="4855464"/>
            <a:ext cx="292608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600"/>
              <a:buFont typeface="Arial"/>
              <a:buNone/>
            </a:pPr>
            <a:r>
              <a:rPr lang="en-US" sz="1600">
                <a:solidFill>
                  <a:srgbClr val="0B7A6F"/>
                </a:solidFill>
                <a:latin typeface="Arial"/>
                <a:ea typeface="Arial"/>
                <a:cs typeface="Arial"/>
                <a:sym typeface="Arial"/>
              </a:rPr>
              <a:t>MLflow</a:t>
            </a:r>
            <a:endParaRPr/>
          </a:p>
        </p:txBody>
      </p:sp>
      <p:sp>
        <p:nvSpPr>
          <p:cNvPr id="768" name="Google Shape;768;p40"/>
          <p:cNvSpPr/>
          <p:nvPr/>
        </p:nvSpPr>
        <p:spPr>
          <a:xfrm>
            <a:off x="1047902" y="5230368"/>
            <a:ext cx="16184880" cy="457200"/>
          </a:xfrm>
          <a:prstGeom prst="rect">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9" name="Google Shape;769;p40"/>
          <p:cNvSpPr txBox="1"/>
          <p:nvPr/>
        </p:nvSpPr>
        <p:spPr>
          <a:xfrm>
            <a:off x="1295339" y="5312664"/>
            <a:ext cx="329184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600"/>
              <a:buFont typeface="Arial"/>
              <a:buNone/>
            </a:pPr>
            <a:r>
              <a:rPr lang="en-US" sz="1600">
                <a:solidFill>
                  <a:srgbClr val="16212B"/>
                </a:solidFill>
                <a:latin typeface="Arial"/>
                <a:ea typeface="Arial"/>
                <a:cs typeface="Arial"/>
                <a:sym typeface="Arial"/>
              </a:rPr>
              <a:t>Service ML</a:t>
            </a:r>
            <a:endParaRPr/>
          </a:p>
        </p:txBody>
      </p:sp>
      <p:sp>
        <p:nvSpPr>
          <p:cNvPr id="770" name="Google Shape;770;p40"/>
          <p:cNvSpPr txBox="1"/>
          <p:nvPr/>
        </p:nvSpPr>
        <p:spPr>
          <a:xfrm>
            <a:off x="4663440" y="5312664"/>
            <a:ext cx="941832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600"/>
              <a:buFont typeface="Arial"/>
              <a:buNone/>
            </a:pPr>
            <a:r>
              <a:rPr lang="en-US" sz="1600">
                <a:solidFill>
                  <a:srgbClr val="16212B"/>
                </a:solidFill>
                <a:latin typeface="Arial"/>
                <a:ea typeface="Arial"/>
                <a:cs typeface="Arial"/>
                <a:sym typeface="Arial"/>
              </a:rPr>
              <a:t>Exposer le modèle retenu via une API</a:t>
            </a:r>
            <a:endParaRPr/>
          </a:p>
        </p:txBody>
      </p:sp>
      <p:sp>
        <p:nvSpPr>
          <p:cNvPr id="771" name="Google Shape;771;p40"/>
          <p:cNvSpPr txBox="1"/>
          <p:nvPr/>
        </p:nvSpPr>
        <p:spPr>
          <a:xfrm>
            <a:off x="14218920" y="5312664"/>
            <a:ext cx="292608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600"/>
              <a:buFont typeface="Arial"/>
              <a:buNone/>
            </a:pPr>
            <a:r>
              <a:rPr lang="en-US" sz="1600">
                <a:solidFill>
                  <a:srgbClr val="0B7A6F"/>
                </a:solidFill>
                <a:latin typeface="Arial"/>
                <a:ea typeface="Arial"/>
                <a:cs typeface="Arial"/>
                <a:sym typeface="Arial"/>
              </a:rPr>
              <a:t>FastAPI</a:t>
            </a:r>
            <a:endParaRPr/>
          </a:p>
        </p:txBody>
      </p:sp>
      <p:sp>
        <p:nvSpPr>
          <p:cNvPr id="772" name="Google Shape;772;p40"/>
          <p:cNvSpPr txBox="1"/>
          <p:nvPr/>
        </p:nvSpPr>
        <p:spPr>
          <a:xfrm>
            <a:off x="1295339" y="5769864"/>
            <a:ext cx="329184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600"/>
              <a:buFont typeface="Arial"/>
              <a:buNone/>
            </a:pPr>
            <a:r>
              <a:rPr lang="en-US" sz="1600">
                <a:solidFill>
                  <a:srgbClr val="16212B"/>
                </a:solidFill>
                <a:latin typeface="Arial"/>
                <a:ea typeface="Arial"/>
                <a:cs typeface="Arial"/>
                <a:sym typeface="Arial"/>
              </a:rPr>
              <a:t>Conteneurisation</a:t>
            </a:r>
            <a:endParaRPr/>
          </a:p>
        </p:txBody>
      </p:sp>
      <p:sp>
        <p:nvSpPr>
          <p:cNvPr id="773" name="Google Shape;773;p40"/>
          <p:cNvSpPr txBox="1"/>
          <p:nvPr/>
        </p:nvSpPr>
        <p:spPr>
          <a:xfrm>
            <a:off x="4663440" y="5769864"/>
            <a:ext cx="941832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600"/>
              <a:buFont typeface="Arial"/>
              <a:buNone/>
            </a:pPr>
            <a:r>
              <a:rPr lang="en-US" sz="1600">
                <a:solidFill>
                  <a:srgbClr val="16212B"/>
                </a:solidFill>
                <a:latin typeface="Arial"/>
                <a:ea typeface="Arial"/>
                <a:cs typeface="Arial"/>
                <a:sym typeface="Arial"/>
              </a:rPr>
              <a:t>Packager les services pour un déploiement reproductible</a:t>
            </a:r>
            <a:endParaRPr/>
          </a:p>
        </p:txBody>
      </p:sp>
      <p:sp>
        <p:nvSpPr>
          <p:cNvPr id="774" name="Google Shape;774;p40"/>
          <p:cNvSpPr txBox="1"/>
          <p:nvPr/>
        </p:nvSpPr>
        <p:spPr>
          <a:xfrm>
            <a:off x="14218920" y="5769864"/>
            <a:ext cx="292608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600"/>
              <a:buFont typeface="Arial"/>
              <a:buNone/>
            </a:pPr>
            <a:r>
              <a:rPr lang="en-US" sz="1600">
                <a:solidFill>
                  <a:srgbClr val="0B7A6F"/>
                </a:solidFill>
                <a:latin typeface="Arial"/>
                <a:ea typeface="Arial"/>
                <a:cs typeface="Arial"/>
                <a:sym typeface="Arial"/>
              </a:rPr>
              <a:t>Docker</a:t>
            </a:r>
            <a:endParaRPr/>
          </a:p>
        </p:txBody>
      </p:sp>
      <p:sp>
        <p:nvSpPr>
          <p:cNvPr id="775" name="Google Shape;775;p40"/>
          <p:cNvSpPr/>
          <p:nvPr/>
        </p:nvSpPr>
        <p:spPr>
          <a:xfrm>
            <a:off x="1047902" y="6144768"/>
            <a:ext cx="16184880" cy="457200"/>
          </a:xfrm>
          <a:prstGeom prst="rect">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6" name="Google Shape;776;p40"/>
          <p:cNvSpPr txBox="1"/>
          <p:nvPr/>
        </p:nvSpPr>
        <p:spPr>
          <a:xfrm>
            <a:off x="1295339" y="6227064"/>
            <a:ext cx="329184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600"/>
              <a:buFont typeface="Arial"/>
              <a:buNone/>
            </a:pPr>
            <a:r>
              <a:rPr lang="en-US" sz="1600">
                <a:solidFill>
                  <a:srgbClr val="16212B"/>
                </a:solidFill>
                <a:latin typeface="Arial"/>
                <a:ea typeface="Arial"/>
                <a:cs typeface="Arial"/>
                <a:sym typeface="Arial"/>
              </a:rPr>
              <a:t>CI/CD</a:t>
            </a:r>
            <a:endParaRPr/>
          </a:p>
        </p:txBody>
      </p:sp>
      <p:sp>
        <p:nvSpPr>
          <p:cNvPr id="777" name="Google Shape;777;p40"/>
          <p:cNvSpPr txBox="1"/>
          <p:nvPr/>
        </p:nvSpPr>
        <p:spPr>
          <a:xfrm>
            <a:off x="4663440" y="6227064"/>
            <a:ext cx="941832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600"/>
              <a:buFont typeface="Arial"/>
              <a:buNone/>
            </a:pPr>
            <a:r>
              <a:rPr lang="en-US" sz="1600">
                <a:solidFill>
                  <a:srgbClr val="16212B"/>
                </a:solidFill>
                <a:latin typeface="Arial"/>
                <a:ea typeface="Arial"/>
                <a:cs typeface="Arial"/>
                <a:sym typeface="Arial"/>
              </a:rPr>
              <a:t>Automatiser lint, tests et déploiement à chaque changement</a:t>
            </a:r>
            <a:endParaRPr/>
          </a:p>
        </p:txBody>
      </p:sp>
      <p:sp>
        <p:nvSpPr>
          <p:cNvPr id="778" name="Google Shape;778;p40"/>
          <p:cNvSpPr txBox="1"/>
          <p:nvPr/>
        </p:nvSpPr>
        <p:spPr>
          <a:xfrm>
            <a:off x="14218920" y="6227064"/>
            <a:ext cx="292608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600"/>
              <a:buFont typeface="Arial"/>
              <a:buNone/>
            </a:pPr>
            <a:r>
              <a:rPr lang="en-US" sz="1600">
                <a:solidFill>
                  <a:srgbClr val="0B7A6F"/>
                </a:solidFill>
                <a:latin typeface="Arial"/>
                <a:ea typeface="Arial"/>
                <a:cs typeface="Arial"/>
                <a:sym typeface="Arial"/>
              </a:rPr>
              <a:t>GitHub Actions</a:t>
            </a:r>
            <a:endParaRPr/>
          </a:p>
        </p:txBody>
      </p:sp>
      <p:sp>
        <p:nvSpPr>
          <p:cNvPr id="779" name="Google Shape;779;p40"/>
          <p:cNvSpPr txBox="1"/>
          <p:nvPr/>
        </p:nvSpPr>
        <p:spPr>
          <a:xfrm>
            <a:off x="1295339" y="6684264"/>
            <a:ext cx="329184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600"/>
              <a:buFont typeface="Arial"/>
              <a:buNone/>
            </a:pPr>
            <a:r>
              <a:rPr lang="en-US" sz="1600">
                <a:solidFill>
                  <a:srgbClr val="16212B"/>
                </a:solidFill>
                <a:latin typeface="Arial"/>
                <a:ea typeface="Arial"/>
                <a:cs typeface="Arial"/>
                <a:sym typeface="Arial"/>
              </a:rPr>
              <a:t>Monitoring</a:t>
            </a:r>
            <a:endParaRPr/>
          </a:p>
        </p:txBody>
      </p:sp>
      <p:sp>
        <p:nvSpPr>
          <p:cNvPr id="780" name="Google Shape;780;p40"/>
          <p:cNvSpPr txBox="1"/>
          <p:nvPr/>
        </p:nvSpPr>
        <p:spPr>
          <a:xfrm>
            <a:off x="4663440" y="6684264"/>
            <a:ext cx="941832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600"/>
              <a:buFont typeface="Arial"/>
              <a:buNone/>
            </a:pPr>
            <a:r>
              <a:rPr lang="en-US" sz="1600">
                <a:solidFill>
                  <a:srgbClr val="16212B"/>
                </a:solidFill>
                <a:latin typeface="Arial"/>
                <a:ea typeface="Arial"/>
                <a:cs typeface="Arial"/>
                <a:sym typeface="Arial"/>
              </a:rPr>
              <a:t>Superviser le service et détecter la dérive des données</a:t>
            </a:r>
            <a:endParaRPr/>
          </a:p>
        </p:txBody>
      </p:sp>
      <p:sp>
        <p:nvSpPr>
          <p:cNvPr id="781" name="Google Shape;781;p40"/>
          <p:cNvSpPr txBox="1"/>
          <p:nvPr/>
        </p:nvSpPr>
        <p:spPr>
          <a:xfrm>
            <a:off x="14218920" y="6684264"/>
            <a:ext cx="292608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600"/>
              <a:buFont typeface="Arial"/>
              <a:buNone/>
            </a:pPr>
            <a:r>
              <a:rPr lang="en-US" sz="1600">
                <a:solidFill>
                  <a:srgbClr val="0B7A6F"/>
                </a:solidFill>
                <a:latin typeface="Arial"/>
                <a:ea typeface="Arial"/>
                <a:cs typeface="Arial"/>
                <a:sym typeface="Arial"/>
              </a:rPr>
              <a:t>Prometheus, Grafana, PSI</a:t>
            </a:r>
            <a:endParaRPr/>
          </a:p>
        </p:txBody>
      </p:sp>
      <p:sp>
        <p:nvSpPr>
          <p:cNvPr id="782" name="Google Shape;782;p40"/>
          <p:cNvSpPr/>
          <p:nvPr/>
        </p:nvSpPr>
        <p:spPr>
          <a:xfrm>
            <a:off x="1047902" y="7059168"/>
            <a:ext cx="16184880" cy="457200"/>
          </a:xfrm>
          <a:prstGeom prst="rect">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3" name="Google Shape;783;p40"/>
          <p:cNvSpPr txBox="1"/>
          <p:nvPr/>
        </p:nvSpPr>
        <p:spPr>
          <a:xfrm>
            <a:off x="1295339" y="7141464"/>
            <a:ext cx="329184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600"/>
              <a:buFont typeface="Arial"/>
              <a:buNone/>
            </a:pPr>
            <a:r>
              <a:rPr b="1" lang="en-US" sz="1600">
                <a:solidFill>
                  <a:srgbClr val="16212B"/>
                </a:solidFill>
                <a:latin typeface="Arial"/>
                <a:ea typeface="Arial"/>
                <a:cs typeface="Arial"/>
                <a:sym typeface="Arial"/>
              </a:rPr>
              <a:t>Versioning des données</a:t>
            </a:r>
            <a:endParaRPr/>
          </a:p>
        </p:txBody>
      </p:sp>
      <p:sp>
        <p:nvSpPr>
          <p:cNvPr id="784" name="Google Shape;784;p40"/>
          <p:cNvSpPr txBox="1"/>
          <p:nvPr/>
        </p:nvSpPr>
        <p:spPr>
          <a:xfrm>
            <a:off x="4663440" y="7141464"/>
            <a:ext cx="941832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600"/>
              <a:buFont typeface="Arial"/>
              <a:buNone/>
            </a:pPr>
            <a:r>
              <a:rPr lang="en-US" sz="1600">
                <a:solidFill>
                  <a:srgbClr val="16212B"/>
                </a:solidFill>
                <a:latin typeface="Arial"/>
                <a:ea typeface="Arial"/>
                <a:cs typeface="Arial"/>
                <a:sym typeface="Arial"/>
              </a:rPr>
              <a:t>Suivre le dataset par un pointeur .dvc versionné dans Git</a:t>
            </a:r>
            <a:endParaRPr/>
          </a:p>
        </p:txBody>
      </p:sp>
      <p:sp>
        <p:nvSpPr>
          <p:cNvPr id="785" name="Google Shape;785;p40"/>
          <p:cNvSpPr txBox="1"/>
          <p:nvPr/>
        </p:nvSpPr>
        <p:spPr>
          <a:xfrm>
            <a:off x="14218920" y="7141464"/>
            <a:ext cx="292608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600"/>
              <a:buFont typeface="Arial"/>
              <a:buNone/>
            </a:pPr>
            <a:r>
              <a:rPr b="1" lang="en-US" sz="1600">
                <a:solidFill>
                  <a:srgbClr val="0B7A6F"/>
                </a:solidFill>
                <a:latin typeface="Arial"/>
                <a:ea typeface="Arial"/>
                <a:cs typeface="Arial"/>
                <a:sym typeface="Arial"/>
              </a:rPr>
              <a:t>DVC</a:t>
            </a:r>
            <a:endParaRPr/>
          </a:p>
        </p:txBody>
      </p:sp>
      <p:sp>
        <p:nvSpPr>
          <p:cNvPr id="786" name="Google Shape;786;p40"/>
          <p:cNvSpPr txBox="1"/>
          <p:nvPr/>
        </p:nvSpPr>
        <p:spPr>
          <a:xfrm>
            <a:off x="1295339" y="7598664"/>
            <a:ext cx="329184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600"/>
              <a:buFont typeface="Arial"/>
              <a:buNone/>
            </a:pPr>
            <a:r>
              <a:rPr b="1" lang="en-US" sz="1600">
                <a:solidFill>
                  <a:srgbClr val="16212B"/>
                </a:solidFill>
                <a:latin typeface="Arial"/>
                <a:ea typeface="Arial"/>
                <a:cs typeface="Arial"/>
                <a:sym typeface="Arial"/>
              </a:rPr>
              <a:t>Stockage objet</a:t>
            </a:r>
            <a:endParaRPr/>
          </a:p>
        </p:txBody>
      </p:sp>
      <p:sp>
        <p:nvSpPr>
          <p:cNvPr id="787" name="Google Shape;787;p40"/>
          <p:cNvSpPr txBox="1"/>
          <p:nvPr/>
        </p:nvSpPr>
        <p:spPr>
          <a:xfrm>
            <a:off x="4663440" y="7598664"/>
            <a:ext cx="941832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600"/>
              <a:buFont typeface="Arial"/>
              <a:buNone/>
            </a:pPr>
            <a:r>
              <a:rPr lang="en-US" sz="1600">
                <a:solidFill>
                  <a:srgbClr val="16212B"/>
                </a:solidFill>
                <a:latin typeface="Arial"/>
                <a:ea typeface="Arial"/>
                <a:cs typeface="Arial"/>
                <a:sym typeface="Arial"/>
              </a:rPr>
              <a:t>Héberger le remote DVC partagé (bucket dvc-store)</a:t>
            </a:r>
            <a:endParaRPr/>
          </a:p>
        </p:txBody>
      </p:sp>
      <p:sp>
        <p:nvSpPr>
          <p:cNvPr id="788" name="Google Shape;788;p40"/>
          <p:cNvSpPr txBox="1"/>
          <p:nvPr/>
        </p:nvSpPr>
        <p:spPr>
          <a:xfrm>
            <a:off x="14218920" y="7598664"/>
            <a:ext cx="292608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600"/>
              <a:buFont typeface="Arial"/>
              <a:buNone/>
            </a:pPr>
            <a:r>
              <a:rPr b="1" lang="en-US" sz="1600">
                <a:solidFill>
                  <a:srgbClr val="0B7A6F"/>
                </a:solidFill>
                <a:latin typeface="Arial"/>
                <a:ea typeface="Arial"/>
                <a:cs typeface="Arial"/>
                <a:sym typeface="Arial"/>
              </a:rPr>
              <a:t>MinIO</a:t>
            </a:r>
            <a:endParaRPr/>
          </a:p>
        </p:txBody>
      </p:sp>
      <p:sp>
        <p:nvSpPr>
          <p:cNvPr id="789" name="Google Shape;789;p40"/>
          <p:cNvSpPr/>
          <p:nvPr/>
        </p:nvSpPr>
        <p:spPr>
          <a:xfrm>
            <a:off x="1047902" y="7973568"/>
            <a:ext cx="16184880" cy="457200"/>
          </a:xfrm>
          <a:prstGeom prst="rect">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0" name="Google Shape;790;p40"/>
          <p:cNvSpPr txBox="1"/>
          <p:nvPr/>
        </p:nvSpPr>
        <p:spPr>
          <a:xfrm>
            <a:off x="1295339" y="8055864"/>
            <a:ext cx="329184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600"/>
              <a:buFont typeface="Arial"/>
              <a:buNone/>
            </a:pPr>
            <a:r>
              <a:rPr b="1" lang="en-US" sz="1600">
                <a:solidFill>
                  <a:srgbClr val="16212B"/>
                </a:solidFill>
                <a:latin typeface="Arial"/>
                <a:ea typeface="Arial"/>
                <a:cs typeface="Arial"/>
                <a:sym typeface="Arial"/>
              </a:rPr>
              <a:t>Entraînement continu</a:t>
            </a:r>
            <a:endParaRPr/>
          </a:p>
        </p:txBody>
      </p:sp>
      <p:sp>
        <p:nvSpPr>
          <p:cNvPr id="791" name="Google Shape;791;p40"/>
          <p:cNvSpPr txBox="1"/>
          <p:nvPr/>
        </p:nvSpPr>
        <p:spPr>
          <a:xfrm>
            <a:off x="4663440" y="8055864"/>
            <a:ext cx="941832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600"/>
              <a:buFont typeface="Arial"/>
              <a:buNone/>
            </a:pPr>
            <a:r>
              <a:rPr lang="en-US" sz="1600">
                <a:solidFill>
                  <a:srgbClr val="16212B"/>
                </a:solidFill>
                <a:latin typeface="Arial"/>
                <a:ea typeface="Arial"/>
                <a:cs typeface="Arial"/>
                <a:sym typeface="Arial"/>
              </a:rPr>
              <a:t>Seuil → versioning → job Dagster → porte de promotion</a:t>
            </a:r>
            <a:endParaRPr/>
          </a:p>
        </p:txBody>
      </p:sp>
      <p:sp>
        <p:nvSpPr>
          <p:cNvPr id="792" name="Google Shape;792;p40"/>
          <p:cNvSpPr txBox="1"/>
          <p:nvPr/>
        </p:nvSpPr>
        <p:spPr>
          <a:xfrm>
            <a:off x="14218920" y="8055864"/>
            <a:ext cx="292608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600"/>
              <a:buFont typeface="Arial"/>
              <a:buNone/>
            </a:pPr>
            <a:r>
              <a:rPr b="1" lang="en-US" sz="1600">
                <a:solidFill>
                  <a:srgbClr val="0B7A6F"/>
                </a:solidFill>
                <a:latin typeface="Arial"/>
                <a:ea typeface="Arial"/>
                <a:cs typeface="Arial"/>
                <a:sym typeface="Arial"/>
              </a:rPr>
              <a:t>FastAPI (platform-api)</a:t>
            </a:r>
            <a:endParaRPr/>
          </a:p>
        </p:txBody>
      </p:sp>
      <p:sp>
        <p:nvSpPr>
          <p:cNvPr id="793" name="Google Shape;793;p40"/>
          <p:cNvSpPr txBox="1"/>
          <p:nvPr/>
        </p:nvSpPr>
        <p:spPr>
          <a:xfrm>
            <a:off x="1295339" y="8513064"/>
            <a:ext cx="329184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600"/>
              <a:buFont typeface="Arial"/>
              <a:buNone/>
            </a:pPr>
            <a:r>
              <a:rPr b="1" lang="en-US" sz="1600">
                <a:solidFill>
                  <a:srgbClr val="16212B"/>
                </a:solidFill>
                <a:latin typeface="Arial"/>
                <a:ea typeface="Arial"/>
                <a:cs typeface="Arial"/>
                <a:sym typeface="Arial"/>
              </a:rPr>
              <a:t>Déploiement</a:t>
            </a:r>
            <a:endParaRPr/>
          </a:p>
        </p:txBody>
      </p:sp>
      <p:sp>
        <p:nvSpPr>
          <p:cNvPr id="794" name="Google Shape;794;p40"/>
          <p:cNvSpPr txBox="1"/>
          <p:nvPr/>
        </p:nvSpPr>
        <p:spPr>
          <a:xfrm>
            <a:off x="4663440" y="8513064"/>
            <a:ext cx="941832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2B"/>
              </a:buClr>
              <a:buSzPts val="1600"/>
              <a:buFont typeface="Arial"/>
              <a:buNone/>
            </a:pPr>
            <a:r>
              <a:rPr lang="en-US" sz="1600">
                <a:solidFill>
                  <a:srgbClr val="16212B"/>
                </a:solidFill>
                <a:latin typeface="Arial"/>
                <a:ea typeface="Arial"/>
                <a:cs typeface="Arial"/>
                <a:sym typeface="Arial"/>
              </a:rPr>
              <a:t>Construire et exécuter les 8 services depuis Git, gardé par la CI</a:t>
            </a:r>
            <a:endParaRPr/>
          </a:p>
        </p:txBody>
      </p:sp>
      <p:sp>
        <p:nvSpPr>
          <p:cNvPr id="795" name="Google Shape;795;p40"/>
          <p:cNvSpPr txBox="1"/>
          <p:nvPr/>
        </p:nvSpPr>
        <p:spPr>
          <a:xfrm>
            <a:off x="14218920" y="8513064"/>
            <a:ext cx="2926080" cy="29260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7A6F"/>
              </a:buClr>
              <a:buSzPts val="1600"/>
              <a:buFont typeface="Arial"/>
              <a:buNone/>
            </a:pPr>
            <a:r>
              <a:rPr b="1" lang="en-US" sz="1600">
                <a:solidFill>
                  <a:srgbClr val="0B7A6F"/>
                </a:solidFill>
                <a:latin typeface="Arial"/>
                <a:ea typeface="Arial"/>
                <a:cs typeface="Arial"/>
                <a:sym typeface="Arial"/>
              </a:rPr>
              <a:t>Komodo</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0" name="Shape 800"/>
        <p:cNvGrpSpPr/>
        <p:nvPr/>
      </p:nvGrpSpPr>
      <p:grpSpPr>
        <a:xfrm>
          <a:off x="0" y="0"/>
          <a:ext cx="0" cy="0"/>
          <a:chOff x="0" y="0"/>
          <a:chExt cx="0" cy="0"/>
        </a:xfrm>
      </p:grpSpPr>
      <p:sp>
        <p:nvSpPr>
          <p:cNvPr id="801" name="Google Shape;801;p41"/>
          <p:cNvSpPr/>
          <p:nvPr/>
        </p:nvSpPr>
        <p:spPr>
          <a:xfrm>
            <a:off x="1047750" y="914400"/>
            <a:ext cx="17811750"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1950">
                <a:solidFill>
                  <a:srgbClr val="0B7A6F"/>
                </a:solidFill>
                <a:latin typeface="Courier New"/>
                <a:ea typeface="Courier New"/>
                <a:cs typeface="Courier New"/>
                <a:sym typeface="Courier New"/>
              </a:rPr>
              <a:t>CHAPITRE 3 — MA CONTRIBUTION</a:t>
            </a:r>
            <a:endParaRPr sz="1950">
              <a:solidFill>
                <a:schemeClr val="dk1"/>
              </a:solidFill>
              <a:latin typeface="Calibri"/>
              <a:ea typeface="Calibri"/>
              <a:cs typeface="Calibri"/>
              <a:sym typeface="Calibri"/>
            </a:endParaRPr>
          </a:p>
        </p:txBody>
      </p:sp>
      <p:sp>
        <p:nvSpPr>
          <p:cNvPr id="802" name="Google Shape;802;p41"/>
          <p:cNvSpPr/>
          <p:nvPr/>
        </p:nvSpPr>
        <p:spPr>
          <a:xfrm>
            <a:off x="1047750" y="1419225"/>
            <a:ext cx="17811750" cy="5524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3450">
                <a:solidFill>
                  <a:srgbClr val="16212B"/>
                </a:solidFill>
                <a:latin typeface="Arial"/>
                <a:ea typeface="Arial"/>
                <a:cs typeface="Arial"/>
                <a:sym typeface="Arial"/>
              </a:rPr>
              <a:t>Adnane Dahbi — dbt Marts &amp; Features</a:t>
            </a:r>
            <a:endParaRPr sz="3450">
              <a:solidFill>
                <a:schemeClr val="dk1"/>
              </a:solidFill>
              <a:latin typeface="Calibri"/>
              <a:ea typeface="Calibri"/>
              <a:cs typeface="Calibri"/>
              <a:sym typeface="Calibri"/>
            </a:endParaRPr>
          </a:p>
        </p:txBody>
      </p:sp>
      <p:sp>
        <p:nvSpPr>
          <p:cNvPr id="803" name="Google Shape;803;p41"/>
          <p:cNvSpPr/>
          <p:nvPr/>
        </p:nvSpPr>
        <p:spPr>
          <a:xfrm>
            <a:off x="1047750" y="3300000"/>
            <a:ext cx="9880283" cy="38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2000">
                <a:solidFill>
                  <a:srgbClr val="0B7A6F"/>
                </a:solidFill>
                <a:latin typeface="Arial"/>
                <a:ea typeface="Arial"/>
                <a:cs typeface="Arial"/>
                <a:sym typeface="Arial"/>
              </a:rPr>
              <a:t>MA CONTRIBUTION PERSONNELLE</a:t>
            </a:r>
            <a:endParaRPr sz="2000">
              <a:solidFill>
                <a:schemeClr val="dk1"/>
              </a:solidFill>
              <a:latin typeface="Calibri"/>
              <a:ea typeface="Calibri"/>
              <a:cs typeface="Calibri"/>
              <a:sym typeface="Calibri"/>
            </a:endParaRPr>
          </a:p>
        </p:txBody>
      </p:sp>
      <p:sp>
        <p:nvSpPr>
          <p:cNvPr id="804" name="Google Shape;804;p41"/>
          <p:cNvSpPr/>
          <p:nvPr/>
        </p:nvSpPr>
        <p:spPr>
          <a:xfrm>
            <a:off x="1047750" y="3700000"/>
            <a:ext cx="9251537" cy="190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0" lang="en-US" sz="2000">
                <a:solidFill>
                  <a:srgbClr val="16212B"/>
                </a:solidFill>
                <a:latin typeface="Arial"/>
                <a:ea typeface="Arial"/>
                <a:cs typeface="Arial"/>
                <a:sym typeface="Arial"/>
              </a:rPr>
              <a:t>Tables marts dbt : fct_transactions_clean (nettoyage), fct_transactions_features (features dérivées) et agg_fraud_hourly_summary (produit analytique horaire).</a:t>
            </a:r>
            <a:endParaRPr sz="2000">
              <a:solidFill>
                <a:schemeClr val="dk1"/>
              </a:solidFill>
              <a:latin typeface="Calibri"/>
              <a:ea typeface="Calibri"/>
              <a:cs typeface="Calibri"/>
              <a:sym typeface="Calibri"/>
            </a:endParaRPr>
          </a:p>
        </p:txBody>
      </p:sp>
      <p:sp>
        <p:nvSpPr>
          <p:cNvPr id="805" name="Google Shape;805;p41"/>
          <p:cNvSpPr/>
          <p:nvPr/>
        </p:nvSpPr>
        <p:spPr>
          <a:xfrm>
            <a:off x="1047750" y="5900000"/>
            <a:ext cx="9880283" cy="38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2000">
                <a:solidFill>
                  <a:srgbClr val="0B7A6F"/>
                </a:solidFill>
                <a:latin typeface="Arial"/>
                <a:ea typeface="Arial"/>
                <a:cs typeface="Arial"/>
                <a:sym typeface="Arial"/>
              </a:rPr>
              <a:t>RÔLE DANS LE PIPELINE GLOBAL</a:t>
            </a:r>
            <a:endParaRPr sz="2000">
              <a:solidFill>
                <a:schemeClr val="dk1"/>
              </a:solidFill>
              <a:latin typeface="Calibri"/>
              <a:ea typeface="Calibri"/>
              <a:cs typeface="Calibri"/>
              <a:sym typeface="Calibri"/>
            </a:endParaRPr>
          </a:p>
        </p:txBody>
      </p:sp>
      <p:sp>
        <p:nvSpPr>
          <p:cNvPr id="806" name="Google Shape;806;p41"/>
          <p:cNvSpPr/>
          <p:nvPr/>
        </p:nvSpPr>
        <p:spPr>
          <a:xfrm>
            <a:off x="1047750" y="6300000"/>
            <a:ext cx="9251537" cy="110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0" lang="en-US" sz="2000">
                <a:solidFill>
                  <a:srgbClr val="16212B"/>
                </a:solidFill>
                <a:latin typeface="Arial"/>
                <a:ea typeface="Arial"/>
                <a:cs typeface="Arial"/>
                <a:sym typeface="Arial"/>
              </a:rPr>
              <a:t>Dernier maillon dbt avant le Machine Learning : fournit à ml/prepare_data.py une table de features prête à l'emploi, directement interrogeable en SQL par un Data Analyst.</a:t>
            </a:r>
            <a:endParaRPr sz="2000">
              <a:solidFill>
                <a:schemeClr val="dk1"/>
              </a:solidFill>
              <a:latin typeface="Calibri"/>
              <a:ea typeface="Calibri"/>
              <a:cs typeface="Calibri"/>
              <a:sym typeface="Calibri"/>
            </a:endParaRPr>
          </a:p>
        </p:txBody>
      </p:sp>
      <p:sp>
        <p:nvSpPr>
          <p:cNvPr id="807" name="Google Shape;807;p41"/>
          <p:cNvSpPr/>
          <p:nvPr/>
        </p:nvSpPr>
        <p:spPr>
          <a:xfrm>
            <a:off x="10601325" y="3300000"/>
            <a:ext cx="7302818" cy="38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2000">
                <a:solidFill>
                  <a:srgbClr val="0B7A6F"/>
                </a:solidFill>
                <a:latin typeface="Arial"/>
                <a:ea typeface="Arial"/>
                <a:cs typeface="Arial"/>
                <a:sym typeface="Arial"/>
              </a:rPr>
              <a:t>DÉCISION TECHNIQUE CLÉ</a:t>
            </a:r>
            <a:endParaRPr sz="2000">
              <a:solidFill>
                <a:schemeClr val="dk1"/>
              </a:solidFill>
              <a:latin typeface="Calibri"/>
              <a:ea typeface="Calibri"/>
              <a:cs typeface="Calibri"/>
              <a:sym typeface="Calibri"/>
            </a:endParaRPr>
          </a:p>
        </p:txBody>
      </p:sp>
      <p:sp>
        <p:nvSpPr>
          <p:cNvPr id="808" name="Google Shape;808;p41"/>
          <p:cNvSpPr/>
          <p:nvPr/>
        </p:nvSpPr>
        <p:spPr>
          <a:xfrm>
            <a:off x="10601325" y="3700000"/>
            <a:ext cx="7302818" cy="190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0" lang="en-US" sz="2000">
                <a:solidFill>
                  <a:srgbClr val="16212B"/>
                </a:solidFill>
                <a:latin typeface="Arial"/>
                <a:ea typeface="Arial"/>
                <a:cs typeface="Arial"/>
                <a:sym typeface="Arial"/>
              </a:rPr>
              <a:t>Ne pas fabriquer de variables métier fictives sur les colonnes anonymisées V1–V28 (PCA opaque par construction) : on se limite à des dérivations honnêtes des seules colonnes interprétables — log_amount, hour_of_day, amount_bucket — et on filtre les montants négatifs en amont.</a:t>
            </a:r>
            <a:endParaRPr sz="2000">
              <a:solidFill>
                <a:schemeClr val="dk1"/>
              </a:solidFill>
              <a:latin typeface="Calibri"/>
              <a:ea typeface="Calibri"/>
              <a:cs typeface="Calibri"/>
              <a:sym typeface="Calibri"/>
            </a:endParaRPr>
          </a:p>
        </p:txBody>
      </p:sp>
      <p:sp>
        <p:nvSpPr>
          <p:cNvPr id="809" name="Google Shape;809;p41"/>
          <p:cNvSpPr/>
          <p:nvPr/>
        </p:nvSpPr>
        <p:spPr>
          <a:xfrm>
            <a:off x="10601325" y="5900000"/>
            <a:ext cx="7302818" cy="38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1" lang="en-US" sz="2000">
                <a:solidFill>
                  <a:srgbClr val="0B7A6F"/>
                </a:solidFill>
                <a:latin typeface="Arial"/>
                <a:ea typeface="Arial"/>
                <a:cs typeface="Arial"/>
                <a:sym typeface="Arial"/>
              </a:rPr>
              <a:t>RÔLE AGILE</a:t>
            </a:r>
            <a:endParaRPr sz="2000">
              <a:solidFill>
                <a:schemeClr val="dk1"/>
              </a:solidFill>
              <a:latin typeface="Calibri"/>
              <a:ea typeface="Calibri"/>
              <a:cs typeface="Calibri"/>
              <a:sym typeface="Calibri"/>
            </a:endParaRPr>
          </a:p>
        </p:txBody>
      </p:sp>
      <p:sp>
        <p:nvSpPr>
          <p:cNvPr id="810" name="Google Shape;810;p41"/>
          <p:cNvSpPr/>
          <p:nvPr/>
        </p:nvSpPr>
        <p:spPr>
          <a:xfrm>
            <a:off x="10601325" y="6300000"/>
            <a:ext cx="7302818" cy="1100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0" lang="en-US" sz="2000">
                <a:solidFill>
                  <a:srgbClr val="16212B"/>
                </a:solidFill>
                <a:latin typeface="Arial"/>
                <a:ea typeface="Arial"/>
                <a:cs typeface="Arial"/>
                <a:sym typeface="Arial"/>
              </a:rPr>
              <a:t>Data Engineer — présente aussi le tableau des 10 composants technologiques du pipeline.</a:t>
            </a:r>
            <a:endParaRPr sz="2000">
              <a:solidFill>
                <a:schemeClr val="dk1"/>
              </a:solidFill>
              <a:latin typeface="Calibri"/>
              <a:ea typeface="Calibri"/>
              <a:cs typeface="Calibri"/>
              <a:sym typeface="Calibri"/>
            </a:endParaRPr>
          </a:p>
        </p:txBody>
      </p:sp>
      <p:sp>
        <p:nvSpPr>
          <p:cNvPr id="811" name="Google Shape;811;p41"/>
          <p:cNvSpPr/>
          <p:nvPr/>
        </p:nvSpPr>
        <p:spPr>
          <a:xfrm>
            <a:off x="16367760" y="9648825"/>
            <a:ext cx="914400"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None/>
            </a:pPr>
            <a:r>
              <a:rPr b="0" lang="en-US" sz="1800">
                <a:solidFill>
                  <a:srgbClr val="5B6B80"/>
                </a:solidFill>
                <a:latin typeface="Courier New"/>
                <a:ea typeface="Courier New"/>
                <a:cs typeface="Courier New"/>
                <a:sym typeface="Courier New"/>
              </a:rPr>
              <a:t>40/41</a:t>
            </a: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6" name="Shape 816"/>
        <p:cNvGrpSpPr/>
        <p:nvPr/>
      </p:nvGrpSpPr>
      <p:grpSpPr>
        <a:xfrm>
          <a:off x="0" y="0"/>
          <a:ext cx="0" cy="0"/>
          <a:chOff x="0" y="0"/>
          <a:chExt cx="0" cy="0"/>
        </a:xfrm>
      </p:grpSpPr>
      <p:sp>
        <p:nvSpPr>
          <p:cNvPr id="817" name="Google Shape;817;p42"/>
          <p:cNvSpPr/>
          <p:nvPr/>
        </p:nvSpPr>
        <p:spPr>
          <a:xfrm>
            <a:off x="1047750" y="914400"/>
            <a:ext cx="17811750"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1950"/>
              <a:buFont typeface="Courier New"/>
              <a:buNone/>
            </a:pPr>
            <a:r>
              <a:rPr b="1" lang="en-US" sz="1950">
                <a:solidFill>
                  <a:srgbClr val="0B7A6F"/>
                </a:solidFill>
                <a:latin typeface="Courier New"/>
                <a:ea typeface="Courier New"/>
                <a:cs typeface="Courier New"/>
                <a:sym typeface="Courier New"/>
              </a:rPr>
              <a:t>CHAPITRES 7–8</a:t>
            </a:r>
            <a:endParaRPr sz="1950">
              <a:solidFill>
                <a:schemeClr val="dk1"/>
              </a:solidFill>
              <a:latin typeface="Calibri"/>
              <a:ea typeface="Calibri"/>
              <a:cs typeface="Calibri"/>
              <a:sym typeface="Calibri"/>
            </a:endParaRPr>
          </a:p>
        </p:txBody>
      </p:sp>
      <p:sp>
        <p:nvSpPr>
          <p:cNvPr id="818" name="Google Shape;818;p42"/>
          <p:cNvSpPr/>
          <p:nvPr/>
        </p:nvSpPr>
        <p:spPr>
          <a:xfrm>
            <a:off x="1047750" y="1419225"/>
            <a:ext cx="17811750" cy="5524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3450"/>
              <a:buFont typeface="Arial"/>
              <a:buNone/>
            </a:pPr>
            <a:r>
              <a:rPr b="1" lang="en-US" sz="3450">
                <a:solidFill>
                  <a:srgbClr val="16212B"/>
                </a:solidFill>
                <a:latin typeface="Arial"/>
                <a:ea typeface="Arial"/>
                <a:cs typeface="Arial"/>
                <a:sym typeface="Arial"/>
              </a:rPr>
              <a:t>Retour d'expérience, limites et conclusion</a:t>
            </a:r>
            <a:endParaRPr sz="3450">
              <a:solidFill>
                <a:schemeClr val="dk1"/>
              </a:solidFill>
              <a:latin typeface="Calibri"/>
              <a:ea typeface="Calibri"/>
              <a:cs typeface="Calibri"/>
              <a:sym typeface="Calibri"/>
            </a:endParaRPr>
          </a:p>
        </p:txBody>
      </p:sp>
      <p:sp>
        <p:nvSpPr>
          <p:cNvPr id="819" name="Google Shape;819;p42"/>
          <p:cNvSpPr/>
          <p:nvPr/>
        </p:nvSpPr>
        <p:spPr>
          <a:xfrm>
            <a:off x="1047750" y="2276475"/>
            <a:ext cx="9880283"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1800"/>
              <a:buFont typeface="Arial"/>
              <a:buNone/>
            </a:pPr>
            <a:r>
              <a:rPr b="1" lang="en-US" sz="1800">
                <a:solidFill>
                  <a:srgbClr val="0B7A6F"/>
                </a:solidFill>
                <a:latin typeface="Arial"/>
                <a:ea typeface="Arial"/>
                <a:cs typeface="Arial"/>
                <a:sym typeface="Arial"/>
              </a:rPr>
              <a:t>RETOUR D'EXPÉRIENCE</a:t>
            </a:r>
            <a:endParaRPr sz="1800">
              <a:solidFill>
                <a:schemeClr val="dk1"/>
              </a:solidFill>
              <a:latin typeface="Calibri"/>
              <a:ea typeface="Calibri"/>
              <a:cs typeface="Calibri"/>
              <a:sym typeface="Calibri"/>
            </a:endParaRPr>
          </a:p>
        </p:txBody>
      </p:sp>
      <p:sp>
        <p:nvSpPr>
          <p:cNvPr id="820" name="Google Shape;820;p42"/>
          <p:cNvSpPr/>
          <p:nvPr/>
        </p:nvSpPr>
        <p:spPr>
          <a:xfrm>
            <a:off x="1047750" y="2657475"/>
            <a:ext cx="9251537" cy="1466850"/>
          </a:xfrm>
          <a:prstGeom prst="rect">
            <a:avLst/>
          </a:prstGeom>
          <a:noFill/>
          <a:ln>
            <a:noFill/>
          </a:ln>
        </p:spPr>
        <p:txBody>
          <a:bodyPr anchorCtr="0" anchor="t" bIns="25400" lIns="25400" spcFirstLastPara="1" rIns="25400" wrap="square" tIns="25400">
            <a:noAutofit/>
          </a:bodyPr>
          <a:lstStyle/>
          <a:p>
            <a:pPr indent="0" lvl="0" marL="0" marR="0" rtl="0" algn="l">
              <a:lnSpc>
                <a:spcPct val="129310"/>
              </a:lnSpc>
              <a:spcBef>
                <a:spcPts val="0"/>
              </a:spcBef>
              <a:spcAft>
                <a:spcPts val="0"/>
              </a:spcAft>
              <a:buClr>
                <a:srgbClr val="16212B"/>
              </a:buClr>
              <a:buSzPts val="1875"/>
              <a:buFont typeface="Arial"/>
              <a:buNone/>
            </a:pPr>
            <a:r>
              <a:rPr lang="en-US" sz="1875">
                <a:solidFill>
                  <a:srgbClr val="16212B"/>
                </a:solidFill>
                <a:latin typeface="Arial"/>
                <a:ea typeface="Arial"/>
                <a:cs typeface="Arial"/>
                <a:sym typeface="Arial"/>
              </a:rPr>
              <a:t>1) dlt mémorise le répertoire de travail du premier run et y résout les chemins relatifs : corrigé en chemin absolu (commit fa113a8). 2) La première exécution réelle de la boucle DVC → Dagster → MLflow a révélé 3 défauts que les mocks n’avaient pas vus.</a:t>
            </a:r>
            <a:endParaRPr/>
          </a:p>
        </p:txBody>
      </p:sp>
      <p:sp>
        <p:nvSpPr>
          <p:cNvPr id="821" name="Google Shape;821;p42"/>
          <p:cNvSpPr/>
          <p:nvPr/>
        </p:nvSpPr>
        <p:spPr>
          <a:xfrm>
            <a:off x="1047750" y="4238625"/>
            <a:ext cx="9251537" cy="1066800"/>
          </a:xfrm>
          <a:prstGeom prst="rect">
            <a:avLst/>
          </a:prstGeom>
          <a:noFill/>
          <a:ln>
            <a:noFill/>
          </a:ln>
        </p:spPr>
        <p:txBody>
          <a:bodyPr anchorCtr="0" anchor="t" bIns="25400" lIns="25400" spcFirstLastPara="1" rIns="25400" wrap="square" tIns="25400">
            <a:noAutofit/>
          </a:bodyPr>
          <a:lstStyle/>
          <a:p>
            <a:pPr indent="0" lvl="0" marL="0" marR="0" rtl="0" algn="l">
              <a:lnSpc>
                <a:spcPct val="128571"/>
              </a:lnSpc>
              <a:spcBef>
                <a:spcPts val="0"/>
              </a:spcBef>
              <a:spcAft>
                <a:spcPts val="0"/>
              </a:spcAft>
              <a:buClr>
                <a:srgbClr val="5B6B80"/>
              </a:buClr>
              <a:buSzPts val="1800"/>
              <a:buFont typeface="Arial"/>
              <a:buNone/>
            </a:pPr>
            <a:r>
              <a:rPr i="1" lang="en-US" sz="1800">
                <a:solidFill>
                  <a:srgbClr val="5B6B80"/>
                </a:solidFill>
                <a:latin typeface="Arial"/>
                <a:ea typeface="Arial"/>
                <a:cs typeface="Arial"/>
                <a:sym typeface="Arial"/>
              </a:rPr>
              <a:t>« Ça marche sur mon laptop, ça marche pas sur mon serveur — l'absence d'environnement maîtrisé est la première cause d'irreproductibilité dans les projets data/ML. »</a:t>
            </a:r>
            <a:endParaRPr sz="1800">
              <a:solidFill>
                <a:schemeClr val="dk1"/>
              </a:solidFill>
              <a:latin typeface="Calibri"/>
              <a:ea typeface="Calibri"/>
              <a:cs typeface="Calibri"/>
              <a:sym typeface="Calibri"/>
            </a:endParaRPr>
          </a:p>
        </p:txBody>
      </p:sp>
      <p:sp>
        <p:nvSpPr>
          <p:cNvPr id="822" name="Google Shape;822;p42"/>
          <p:cNvSpPr/>
          <p:nvPr/>
        </p:nvSpPr>
        <p:spPr>
          <a:xfrm>
            <a:off x="1047750" y="5553075"/>
            <a:ext cx="9880283"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C2570A"/>
              </a:buClr>
              <a:buSzPts val="1800"/>
              <a:buFont typeface="Arial"/>
              <a:buNone/>
            </a:pPr>
            <a:r>
              <a:rPr b="1" lang="en-US" sz="1800">
                <a:solidFill>
                  <a:srgbClr val="C2570A"/>
                </a:solidFill>
                <a:latin typeface="Arial"/>
                <a:ea typeface="Arial"/>
                <a:cs typeface="Arial"/>
                <a:sym typeface="Arial"/>
              </a:rPr>
              <a:t>LIMITES ASSUMÉES</a:t>
            </a:r>
            <a:endParaRPr sz="1800">
              <a:solidFill>
                <a:schemeClr val="dk1"/>
              </a:solidFill>
              <a:latin typeface="Calibri"/>
              <a:ea typeface="Calibri"/>
              <a:cs typeface="Calibri"/>
              <a:sym typeface="Calibri"/>
            </a:endParaRPr>
          </a:p>
        </p:txBody>
      </p:sp>
      <p:sp>
        <p:nvSpPr>
          <p:cNvPr id="823" name="Google Shape;823;p42"/>
          <p:cNvSpPr/>
          <p:nvPr/>
        </p:nvSpPr>
        <p:spPr>
          <a:xfrm>
            <a:off x="1047750" y="5934075"/>
            <a:ext cx="9251537" cy="2377440"/>
          </a:xfrm>
          <a:prstGeom prst="rect">
            <a:avLst/>
          </a:prstGeom>
          <a:noFill/>
          <a:ln>
            <a:noFill/>
          </a:ln>
        </p:spPr>
        <p:txBody>
          <a:bodyPr anchorCtr="0" anchor="t" bIns="25400" lIns="25400" spcFirstLastPara="1" rIns="25400" wrap="square" tIns="25400">
            <a:noAutofit/>
          </a:bodyPr>
          <a:lstStyle/>
          <a:p>
            <a:pPr indent="0" lvl="0" marL="0" marR="0" rtl="0" algn="l">
              <a:lnSpc>
                <a:spcPct val="127778"/>
              </a:lnSpc>
              <a:spcBef>
                <a:spcPts val="0"/>
              </a:spcBef>
              <a:spcAft>
                <a:spcPts val="0"/>
              </a:spcAft>
              <a:buClr>
                <a:srgbClr val="5B6B80"/>
              </a:buClr>
              <a:buSzPts val="1725"/>
              <a:buFont typeface="Arial"/>
              <a:buNone/>
            </a:pPr>
            <a:r>
              <a:rPr lang="en-US" sz="1725">
                <a:solidFill>
                  <a:srgbClr val="5B6B80"/>
                </a:solidFill>
                <a:latin typeface="Arial"/>
                <a:ea typeface="Arial"/>
                <a:cs typeface="Arial"/>
                <a:sym typeface="Arial"/>
              </a:rPr>
              <a:t>Colonnes anonymisées V1–V28 · PSI peu discriminant (~2 jours) · pas d’Alertmanager (alertes consultées dans Prometheus/Grafana) · webhook GitHub à supprimer manuellement · identifiants MinIO par défaut (rotation différée) · pas de git push automatique · dataset à récupérer par dvc pull sur Komodo · registre MLflow neuf sur le serveur vivant (le 1er ré-entraînement reste en Staging, en attente d’approbation) · dérive simulée, non réelle · authentification minimale · redéploiement après approbation non testé hors Komodo.</a:t>
            </a:r>
            <a:endParaRPr/>
          </a:p>
        </p:txBody>
      </p:sp>
      <p:sp>
        <p:nvSpPr>
          <p:cNvPr id="824" name="Google Shape;824;p42"/>
          <p:cNvSpPr/>
          <p:nvPr/>
        </p:nvSpPr>
        <p:spPr>
          <a:xfrm>
            <a:off x="10601325" y="2276475"/>
            <a:ext cx="7302818"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B7A6F"/>
              </a:buClr>
              <a:buSzPts val="1800"/>
              <a:buFont typeface="Arial"/>
              <a:buNone/>
            </a:pPr>
            <a:r>
              <a:rPr b="1" lang="en-US" sz="1800">
                <a:solidFill>
                  <a:srgbClr val="0B7A6F"/>
                </a:solidFill>
                <a:latin typeface="Arial"/>
                <a:ea typeface="Arial"/>
                <a:cs typeface="Arial"/>
                <a:sym typeface="Arial"/>
              </a:rPr>
              <a:t>PERSPECTIVES</a:t>
            </a:r>
            <a:endParaRPr sz="1800">
              <a:solidFill>
                <a:schemeClr val="dk1"/>
              </a:solidFill>
              <a:latin typeface="Calibri"/>
              <a:ea typeface="Calibri"/>
              <a:cs typeface="Calibri"/>
              <a:sym typeface="Calibri"/>
            </a:endParaRPr>
          </a:p>
        </p:txBody>
      </p:sp>
      <p:sp>
        <p:nvSpPr>
          <p:cNvPr id="825" name="Google Shape;825;p42"/>
          <p:cNvSpPr/>
          <p:nvPr/>
        </p:nvSpPr>
        <p:spPr>
          <a:xfrm>
            <a:off x="10601325" y="2657475"/>
            <a:ext cx="7302818" cy="358080"/>
          </a:xfrm>
          <a:prstGeom prst="rect">
            <a:avLst/>
          </a:prstGeom>
          <a:noFill/>
          <a:ln>
            <a:noFill/>
          </a:ln>
        </p:spPr>
        <p:txBody>
          <a:bodyPr anchorCtr="0" anchor="t" bIns="25400" lIns="25400" spcFirstLastPara="1" rIns="25400" wrap="square" tIns="25400">
            <a:noAutofit/>
          </a:bodyPr>
          <a:lstStyle/>
          <a:p>
            <a:pPr indent="0" lvl="0" marL="0" marR="0" rtl="0" algn="l">
              <a:lnSpc>
                <a:spcPct val="120000"/>
              </a:lnSpc>
              <a:spcBef>
                <a:spcPts val="0"/>
              </a:spcBef>
              <a:spcAft>
                <a:spcPts val="0"/>
              </a:spcAft>
              <a:buClr>
                <a:srgbClr val="16212B"/>
              </a:buClr>
              <a:buSzPts val="1800"/>
              <a:buFont typeface="Arial"/>
              <a:buNone/>
            </a:pPr>
            <a:r>
              <a:rPr lang="en-US" sz="1800">
                <a:solidFill>
                  <a:srgbClr val="16212B"/>
                </a:solidFill>
                <a:latin typeface="Arial"/>
                <a:ea typeface="Arial"/>
                <a:cs typeface="Arial"/>
                <a:sym typeface="Arial"/>
              </a:rPr>
              <a:t>— SMOTE pour le rééquilibrage</a:t>
            </a:r>
            <a:endParaRPr sz="1800">
              <a:solidFill>
                <a:schemeClr val="dk1"/>
              </a:solidFill>
              <a:latin typeface="Calibri"/>
              <a:ea typeface="Calibri"/>
              <a:cs typeface="Calibri"/>
              <a:sym typeface="Calibri"/>
            </a:endParaRPr>
          </a:p>
        </p:txBody>
      </p:sp>
      <p:sp>
        <p:nvSpPr>
          <p:cNvPr id="826" name="Google Shape;826;p42"/>
          <p:cNvSpPr/>
          <p:nvPr/>
        </p:nvSpPr>
        <p:spPr>
          <a:xfrm>
            <a:off x="10601325" y="3110805"/>
            <a:ext cx="7302818" cy="358080"/>
          </a:xfrm>
          <a:prstGeom prst="rect">
            <a:avLst/>
          </a:prstGeom>
          <a:noFill/>
          <a:ln>
            <a:noFill/>
          </a:ln>
        </p:spPr>
        <p:txBody>
          <a:bodyPr anchorCtr="0" anchor="t" bIns="25400" lIns="25400" spcFirstLastPara="1" rIns="25400" wrap="square" tIns="25400">
            <a:noAutofit/>
          </a:bodyPr>
          <a:lstStyle/>
          <a:p>
            <a:pPr indent="0" lvl="0" marL="0" marR="0" rtl="0" algn="l">
              <a:lnSpc>
                <a:spcPct val="120000"/>
              </a:lnSpc>
              <a:spcBef>
                <a:spcPts val="0"/>
              </a:spcBef>
              <a:spcAft>
                <a:spcPts val="0"/>
              </a:spcAft>
              <a:buClr>
                <a:srgbClr val="16212B"/>
              </a:buClr>
              <a:buSzPts val="1800"/>
              <a:buFont typeface="Arial"/>
              <a:buNone/>
            </a:pPr>
            <a:r>
              <a:rPr lang="en-US" sz="1800">
                <a:solidFill>
                  <a:srgbClr val="16212B"/>
                </a:solidFill>
                <a:latin typeface="Arial"/>
                <a:ea typeface="Arial"/>
                <a:cs typeface="Arial"/>
                <a:sym typeface="Arial"/>
              </a:rPr>
              <a:t>— Split temporel pour l'entraînement</a:t>
            </a:r>
            <a:endParaRPr sz="1800">
              <a:solidFill>
                <a:schemeClr val="dk1"/>
              </a:solidFill>
              <a:latin typeface="Calibri"/>
              <a:ea typeface="Calibri"/>
              <a:cs typeface="Calibri"/>
              <a:sym typeface="Calibri"/>
            </a:endParaRPr>
          </a:p>
        </p:txBody>
      </p:sp>
      <p:sp>
        <p:nvSpPr>
          <p:cNvPr id="827" name="Google Shape;827;p42"/>
          <p:cNvSpPr/>
          <p:nvPr/>
        </p:nvSpPr>
        <p:spPr>
          <a:xfrm>
            <a:off x="10601325" y="3564136"/>
            <a:ext cx="7302818" cy="358080"/>
          </a:xfrm>
          <a:prstGeom prst="rect">
            <a:avLst/>
          </a:prstGeom>
          <a:noFill/>
          <a:ln>
            <a:noFill/>
          </a:ln>
        </p:spPr>
        <p:txBody>
          <a:bodyPr anchorCtr="0" anchor="t" bIns="25400" lIns="25400" spcFirstLastPara="1" rIns="25400" wrap="square" tIns="25400">
            <a:noAutofit/>
          </a:bodyPr>
          <a:lstStyle/>
          <a:p>
            <a:pPr indent="0" lvl="0" marL="0" marR="0" rtl="0" algn="l">
              <a:lnSpc>
                <a:spcPct val="120000"/>
              </a:lnSpc>
              <a:spcBef>
                <a:spcPts val="0"/>
              </a:spcBef>
              <a:spcAft>
                <a:spcPts val="0"/>
              </a:spcAft>
              <a:buClr>
                <a:srgbClr val="16212B"/>
              </a:buClr>
              <a:buSzPts val="1800"/>
              <a:buFont typeface="Arial"/>
              <a:buNone/>
            </a:pPr>
            <a:r>
              <a:rPr lang="en-US" sz="1800">
                <a:solidFill>
                  <a:srgbClr val="16212B"/>
                </a:solidFill>
                <a:latin typeface="Arial"/>
                <a:ea typeface="Arial"/>
                <a:cs typeface="Arial"/>
                <a:sym typeface="Arial"/>
              </a:rPr>
              <a:t>— Séparation des environnements DataOps/ML</a:t>
            </a:r>
            <a:endParaRPr sz="1800">
              <a:solidFill>
                <a:schemeClr val="dk1"/>
              </a:solidFill>
              <a:latin typeface="Calibri"/>
              <a:ea typeface="Calibri"/>
              <a:cs typeface="Calibri"/>
              <a:sym typeface="Calibri"/>
            </a:endParaRPr>
          </a:p>
        </p:txBody>
      </p:sp>
      <p:sp>
        <p:nvSpPr>
          <p:cNvPr id="828" name="Google Shape;828;p42"/>
          <p:cNvSpPr/>
          <p:nvPr/>
        </p:nvSpPr>
        <p:spPr>
          <a:xfrm>
            <a:off x="10601325" y="4017466"/>
            <a:ext cx="7302818" cy="358080"/>
          </a:xfrm>
          <a:prstGeom prst="rect">
            <a:avLst/>
          </a:prstGeom>
          <a:noFill/>
          <a:ln>
            <a:noFill/>
          </a:ln>
        </p:spPr>
        <p:txBody>
          <a:bodyPr anchorCtr="0" anchor="t" bIns="25400" lIns="25400" spcFirstLastPara="1" rIns="25400" wrap="square" tIns="25400">
            <a:noAutofit/>
          </a:bodyPr>
          <a:lstStyle/>
          <a:p>
            <a:pPr indent="0" lvl="0" marL="0" marR="0" rtl="0" algn="l">
              <a:lnSpc>
                <a:spcPct val="120000"/>
              </a:lnSpc>
              <a:spcBef>
                <a:spcPts val="0"/>
              </a:spcBef>
              <a:spcAft>
                <a:spcPts val="0"/>
              </a:spcAft>
              <a:buClr>
                <a:srgbClr val="16212B"/>
              </a:buClr>
              <a:buSzPts val="1800"/>
              <a:buFont typeface="Arial"/>
              <a:buNone/>
            </a:pPr>
            <a:r>
              <a:rPr lang="en-US" sz="1800">
                <a:solidFill>
                  <a:srgbClr val="16212B"/>
                </a:solidFill>
                <a:latin typeface="Arial"/>
                <a:ea typeface="Arial"/>
                <a:cs typeface="Arial"/>
                <a:sym typeface="Arial"/>
              </a:rPr>
              <a:t>— Gestion des secrets (rotation MinIO)</a:t>
            </a:r>
            <a:endParaRPr/>
          </a:p>
        </p:txBody>
      </p:sp>
      <p:sp>
        <p:nvSpPr>
          <p:cNvPr id="829" name="Google Shape;829;p42"/>
          <p:cNvSpPr/>
          <p:nvPr/>
        </p:nvSpPr>
        <p:spPr>
          <a:xfrm>
            <a:off x="10601325" y="4470797"/>
            <a:ext cx="7302818" cy="358080"/>
          </a:xfrm>
          <a:prstGeom prst="rect">
            <a:avLst/>
          </a:prstGeom>
          <a:noFill/>
          <a:ln>
            <a:noFill/>
          </a:ln>
        </p:spPr>
        <p:txBody>
          <a:bodyPr anchorCtr="0" anchor="t" bIns="25400" lIns="25400" spcFirstLastPara="1" rIns="25400" wrap="square" tIns="25400">
            <a:noAutofit/>
          </a:bodyPr>
          <a:lstStyle/>
          <a:p>
            <a:pPr indent="0" lvl="0" marL="0" marR="0" rtl="0" algn="l">
              <a:lnSpc>
                <a:spcPct val="120000"/>
              </a:lnSpc>
              <a:spcBef>
                <a:spcPts val="0"/>
              </a:spcBef>
              <a:spcAft>
                <a:spcPts val="0"/>
              </a:spcAft>
              <a:buClr>
                <a:srgbClr val="16212B"/>
              </a:buClr>
              <a:buSzPts val="1800"/>
              <a:buFont typeface="Arial"/>
              <a:buNone/>
            </a:pPr>
            <a:r>
              <a:rPr lang="en-US" sz="1800">
                <a:solidFill>
                  <a:srgbClr val="16212B"/>
                </a:solidFill>
                <a:latin typeface="Arial"/>
                <a:ea typeface="Arial"/>
                <a:cs typeface="Arial"/>
                <a:sym typeface="Arial"/>
              </a:rPr>
              <a:t>— Environnements dev/staging/prod distincts</a:t>
            </a:r>
            <a:endParaRPr sz="1800">
              <a:solidFill>
                <a:schemeClr val="dk1"/>
              </a:solidFill>
              <a:latin typeface="Calibri"/>
              <a:ea typeface="Calibri"/>
              <a:cs typeface="Calibri"/>
              <a:sym typeface="Calibri"/>
            </a:endParaRPr>
          </a:p>
        </p:txBody>
      </p:sp>
      <p:sp>
        <p:nvSpPr>
          <p:cNvPr id="830" name="Google Shape;830;p42"/>
          <p:cNvSpPr/>
          <p:nvPr/>
        </p:nvSpPr>
        <p:spPr>
          <a:xfrm>
            <a:off x="10601325" y="4924127"/>
            <a:ext cx="7302818" cy="358080"/>
          </a:xfrm>
          <a:prstGeom prst="rect">
            <a:avLst/>
          </a:prstGeom>
          <a:noFill/>
          <a:ln>
            <a:noFill/>
          </a:ln>
        </p:spPr>
        <p:txBody>
          <a:bodyPr anchorCtr="0" anchor="t" bIns="25400" lIns="25400" spcFirstLastPara="1" rIns="25400" wrap="square" tIns="25400">
            <a:noAutofit/>
          </a:bodyPr>
          <a:lstStyle/>
          <a:p>
            <a:pPr indent="0" lvl="0" marL="0" marR="0" rtl="0" algn="l">
              <a:lnSpc>
                <a:spcPct val="120000"/>
              </a:lnSpc>
              <a:spcBef>
                <a:spcPts val="0"/>
              </a:spcBef>
              <a:spcAft>
                <a:spcPts val="0"/>
              </a:spcAft>
              <a:buClr>
                <a:srgbClr val="16212B"/>
              </a:buClr>
              <a:buSzPts val="1800"/>
              <a:buFont typeface="Arial"/>
              <a:buNone/>
            </a:pPr>
            <a:r>
              <a:rPr lang="en-US" sz="1800">
                <a:solidFill>
                  <a:srgbClr val="16212B"/>
                </a:solidFill>
                <a:latin typeface="Arial"/>
                <a:ea typeface="Arial"/>
                <a:cs typeface="Arial"/>
                <a:sym typeface="Arial"/>
              </a:rPr>
              <a:t>— Publication contrôlée des versions de données (PR)</a:t>
            </a:r>
            <a:endParaRPr sz="1800">
              <a:solidFill>
                <a:schemeClr val="dk1"/>
              </a:solidFill>
              <a:latin typeface="Calibri"/>
              <a:ea typeface="Calibri"/>
              <a:cs typeface="Calibri"/>
              <a:sym typeface="Calibri"/>
            </a:endParaRPr>
          </a:p>
        </p:txBody>
      </p:sp>
      <p:sp>
        <p:nvSpPr>
          <p:cNvPr id="831" name="Google Shape;831;p42"/>
          <p:cNvSpPr/>
          <p:nvPr/>
        </p:nvSpPr>
        <p:spPr>
          <a:xfrm>
            <a:off x="1047750" y="9234488"/>
            <a:ext cx="4168572" cy="466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212B"/>
              </a:buClr>
              <a:buSzPts val="3000"/>
              <a:buFont typeface="Arial"/>
              <a:buNone/>
            </a:pPr>
            <a:r>
              <a:rPr b="1" lang="en-US" sz="3000">
                <a:solidFill>
                  <a:srgbClr val="16212B"/>
                </a:solidFill>
                <a:latin typeface="Arial"/>
                <a:ea typeface="Arial"/>
                <a:cs typeface="Arial"/>
                <a:sym typeface="Arial"/>
              </a:rPr>
              <a:t>Merci — Questions ?</a:t>
            </a:r>
            <a:endParaRPr sz="3000">
              <a:solidFill>
                <a:schemeClr val="dk1"/>
              </a:solidFill>
              <a:latin typeface="Calibri"/>
              <a:ea typeface="Calibri"/>
              <a:cs typeface="Calibri"/>
              <a:sym typeface="Calibri"/>
            </a:endParaRPr>
          </a:p>
        </p:txBody>
      </p:sp>
      <p:sp>
        <p:nvSpPr>
          <p:cNvPr id="832" name="Google Shape;832;p42"/>
          <p:cNvSpPr/>
          <p:nvPr/>
        </p:nvSpPr>
        <p:spPr>
          <a:xfrm>
            <a:off x="14844564" y="9182100"/>
            <a:ext cx="1272629" cy="533400"/>
          </a:xfrm>
          <a:prstGeom prst="roundRect">
            <a:avLst>
              <a:gd fmla="val 17857"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833" name="Google Shape;833;p42"/>
          <p:cNvPicPr preferRelativeResize="0"/>
          <p:nvPr/>
        </p:nvPicPr>
        <p:blipFill rotWithShape="1">
          <a:blip r:embed="rId3">
            <a:alphaModFix/>
          </a:blip>
          <a:srcRect b="0" l="0" r="0" t="0"/>
          <a:stretch/>
        </p:blipFill>
        <p:spPr>
          <a:xfrm>
            <a:off x="14977914" y="9258300"/>
            <a:ext cx="1005929" cy="381000"/>
          </a:xfrm>
          <a:prstGeom prst="rect">
            <a:avLst/>
          </a:prstGeom>
          <a:noFill/>
          <a:ln>
            <a:noFill/>
          </a:ln>
        </p:spPr>
      </p:pic>
      <p:sp>
        <p:nvSpPr>
          <p:cNvPr id="834" name="Google Shape;834;p42"/>
          <p:cNvSpPr/>
          <p:nvPr/>
        </p:nvSpPr>
        <p:spPr>
          <a:xfrm>
            <a:off x="16288643" y="9182100"/>
            <a:ext cx="951607" cy="533400"/>
          </a:xfrm>
          <a:prstGeom prst="roundRect">
            <a:avLst>
              <a:gd fmla="val 17857" name="adj"/>
            </a:avLst>
          </a:prstGeom>
          <a:solidFill>
            <a:srgbClr val="F5F7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835" name="Google Shape;835;p42"/>
          <p:cNvPicPr preferRelativeResize="0"/>
          <p:nvPr/>
        </p:nvPicPr>
        <p:blipFill rotWithShape="1">
          <a:blip r:embed="rId4">
            <a:alphaModFix/>
          </a:blip>
          <a:srcRect b="0" l="0" r="0" t="0"/>
          <a:stretch/>
        </p:blipFill>
        <p:spPr>
          <a:xfrm>
            <a:off x="16421993" y="9258300"/>
            <a:ext cx="684907" cy="381000"/>
          </a:xfrm>
          <a:prstGeom prst="rect">
            <a:avLst/>
          </a:prstGeom>
          <a:noFill/>
          <a:ln>
            <a:noFill/>
          </a:ln>
        </p:spPr>
      </p:pic>
      <p:sp>
        <p:nvSpPr>
          <p:cNvPr id="836" name="Google Shape;836;p42"/>
          <p:cNvSpPr/>
          <p:nvPr/>
        </p:nvSpPr>
        <p:spPr>
          <a:xfrm>
            <a:off x="16367760" y="9648825"/>
            <a:ext cx="914400" cy="3333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5B6B80"/>
              </a:buClr>
              <a:buSzPts val="1800"/>
              <a:buFont typeface="Courier New"/>
              <a:buNone/>
            </a:pPr>
            <a:r>
              <a:rPr lang="en-US" sz="1800">
                <a:solidFill>
                  <a:srgbClr val="5B6B80"/>
                </a:solidFill>
                <a:latin typeface="Courier New"/>
                <a:ea typeface="Courier New"/>
                <a:cs typeface="Courier New"/>
                <a:sym typeface="Courier New"/>
              </a:rPr>
              <a:t>41/41</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